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6B6259"/>
              </a:solidFill>
            </c:spPr>
            <c:extLst>
              <c:ext xmlns:c16="http://schemas.microsoft.com/office/drawing/2014/chart" uri="{C3380CC4-5D6E-409C-BE32-E72D297353CC}">
                <c16:uniqueId val="{00000001-3C01-4955-A2D6-DB312B1610B4}"/>
              </c:ext>
            </c:extLst>
          </c:dPt>
          <c:dPt>
            <c:idx val="1"/>
            <c:invertIfNegative val="1"/>
            <c:bubble3D val="0"/>
            <c:spPr>
              <a:solidFill>
                <a:srgbClr val="6B6259"/>
              </a:solidFill>
            </c:spPr>
            <c:extLst>
              <c:ext xmlns:c16="http://schemas.microsoft.com/office/drawing/2014/chart" uri="{C3380CC4-5D6E-409C-BE32-E72D297353CC}">
                <c16:uniqueId val="{00000003-3C01-4955-A2D6-DB312B1610B4}"/>
              </c:ext>
            </c:extLst>
          </c:dPt>
          <c:dPt>
            <c:idx val="2"/>
            <c:invertIfNegative val="1"/>
            <c:bubble3D val="0"/>
            <c:spPr>
              <a:solidFill>
                <a:srgbClr val="6B6259"/>
              </a:solidFill>
            </c:spPr>
            <c:extLst>
              <c:ext xmlns:c16="http://schemas.microsoft.com/office/drawing/2014/chart" uri="{C3380CC4-5D6E-409C-BE32-E72D297353CC}">
                <c16:uniqueId val="{00000005-3C01-4955-A2D6-DB312B1610B4}"/>
              </c:ext>
            </c:extLst>
          </c:dPt>
          <c:dPt>
            <c:idx val="3"/>
            <c:invertIfNegative val="1"/>
            <c:bubble3D val="0"/>
            <c:spPr>
              <a:solidFill>
                <a:srgbClr val="F2B66D"/>
              </a:solidFill>
            </c:spPr>
            <c:extLst>
              <c:ext xmlns:c16="http://schemas.microsoft.com/office/drawing/2014/chart" uri="{C3380CC4-5D6E-409C-BE32-E72D297353CC}">
                <c16:uniqueId val="{00000007-3C01-4955-A2D6-DB312B1610B4}"/>
              </c:ext>
            </c:extLst>
          </c:dPt>
          <c:dLbls>
            <c:numFmt formatCode="0&quot;%&quot;" sourceLinked="0"/>
            <c:spPr>
              <a:noFill/>
              <a:ln>
                <a:noFill/>
              </a:ln>
              <a:effectLst/>
            </c:spPr>
            <c:txPr>
              <a:bodyPr/>
              <a:lstStyle/>
              <a:p>
                <a:pPr>
                  <a:defRPr sz="850" b="1">
                    <a:solidFill>
                      <a:srgbClr val="F5EFE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Hybrid</c:v>
                </c:pt>
                <c:pt idx="1">
                  <c:v>Rules</c:v>
                </c:pt>
                <c:pt idx="2">
                  <c:v>Full LLM</c:v>
                </c:pt>
                <c:pt idx="3">
                  <c:v>TapTrace</c:v>
                </c:pt>
              </c:strCache>
            </c:strRef>
          </c:cat>
          <c:val>
            <c:numRef>
              <c:f>Sheet1!$B$2:$B$5</c:f>
              <c:numCache>
                <c:formatCode>General</c:formatCode>
                <c:ptCount val="4"/>
                <c:pt idx="0">
                  <c:v>46</c:v>
                </c:pt>
                <c:pt idx="1">
                  <c:v>59</c:v>
                </c:pt>
                <c:pt idx="2">
                  <c:v>81</c:v>
                </c:pt>
                <c:pt idx="3">
                  <c:v>100</c:v>
                </c:pt>
              </c:numCache>
            </c:numRef>
          </c:val>
          <c:extLst>
            <c:ext xmlns:c16="http://schemas.microsoft.com/office/drawing/2014/chart" uri="{C3380CC4-5D6E-409C-BE32-E72D297353CC}">
              <c16:uniqueId val="{00000008-3C01-4955-A2D6-DB312B1610B4}"/>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5A534B"/>
            </a:solidFill>
          </a:ln>
        </c:spPr>
        <c:txPr>
          <a:bodyPr/>
          <a:lstStyle/>
          <a:p>
            <a:pPr>
              <a:defRPr sz="850">
                <a:solidFill>
                  <a:srgbClr val="D9D2C7"/>
                </a:solidFill>
              </a:defRPr>
            </a:pPr>
            <a:endParaRPr lang="en-US"/>
          </a:p>
        </c:txPr>
        <c:crossAx val="-2113994440"/>
        <c:crosses val="autoZero"/>
        <c:auto val="1"/>
        <c:lblAlgn val="ctr"/>
        <c:lblOffset val="100"/>
        <c:noMultiLvlLbl val="0"/>
      </c:catAx>
      <c:valAx>
        <c:axId val="-2113994440"/>
        <c:scaling>
          <c:orientation val="minMax"/>
          <c:max val="125"/>
          <c:min val="0"/>
        </c:scaling>
        <c:delete val="1"/>
        <c:axPos val="b"/>
        <c:numFmt formatCode="General"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850">
          <a:solidFill>
            <a:srgbClr val="D9D2C7"/>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[0:00-0:25]  Hello, I am Arnav Joshi from Thapar Institute. TapTrace is my Theme 02 engine: it turns a vague device complaint into an ordered fix plan where every Settings change is one tap away and every step comes from the official support article. In seven minutes: the problem, the architecture, how it extends to Samsung, how it scales, and a short demo.</a:t>
            </a: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[0:25-1:20]  Customers rarely speak in technical terms; they say 'my touch is laggy'. Today an agent spends about fifteen minutes turning that into steps, and the customer still hunts through Settings. The brief asks for ordered steps taken only from the article, the exact Settings screen in one tap, repeats in under 300 milliseconds and a strict JSON contract. Before writing code I audited all the data and found six caveats: 21 TV and appliance screens hidden in the phone catalog, labels that name the wrong feature, on and off phrasings that are 0.94 similar to an embedding model, 4 of 20 articles that are the wrong document, a near-miss factory-reset screen, and even the official sample breaks the 5-to-7-word rule. Each caveat became a component, shown in amber.</a:t>
            </a: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[1:20-2:20]  The architecture has five stages. Repeats never reach them: the fast path, a contrastive semantic cache, answers paraphrases in 3.5 milliseconds with no LLM call. A new complaint goes through Understand, which builds a symbolic frame of the complaint; Ground, where the relevance gate checks the article actually fits and extracts candidate steps from its own sentences; Resolve, which maps each Settings step to the exact screen in the compiled catalog; Compose, which orders actions from safe settings to manual checks to critical resets; and Guarantee, which validates against the organisers' schema and writes the cache. The two LLM calls, shown in coral, run in parallel: one paraphrases the complaint for the cache, the other selects and names the extracted steps. Neither can write a step. Result: 3.8 seconds P95 for a new complaint and zero URL leaks.</a:t>
            </a: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[2:20-3:10]  Four modules carry the design, and each has a number behind it. Evidence-locked extraction: steps come only from the article's sentences, so step accuracy against my gold annotations is 3.00 out of 3 with zero URL leaks. The catalog compiler and resolver: on a 37-case benchmark it maps every step to the exact screen, where a full-LLM mapper gets 81 percent and a hybrid retriever 46. The relevance gate catches the 4 wrong articles and answers no_match instead of inventing steps. And the contrastive cache hits 80 percent of unseen paraphrases on a frozen test set, while cutting false hits from 32 to 4.5 percent compared with a single global threshold.</a:t>
            </a: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[3:10-3:55]  Where does this fit at Samsung? Four touchpoints. Customer-care agents get an ordered plan with every step highlighted in the internal SIIS article: about fifteen minutes of triage becomes 1.3 seconds. In Samsung Members, users describe the problem and get one-tap fixes that a validation probe confirms. With Bixby, a spoken complaint becomes a plan and Bixby opens the exact screen through the same deeplink scheme the brief uses. And because the embedder is 23 megabytes and runs on CPU, known issues can be answered on the device, offline. The provided data is masked as TechCorp and Nexa, so the scheme and brand names are configuration, not code.</a:t>
            </a: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[3:55-4:40]  Scalability: a new scenario needs a knowledge article, not new code. The gate and extraction run automatically, Settings steps map to exact screens through the compiled catalog, one cold request costs about 0.03 cents, and from then on every repeat is served from cache for free. I tested this on articles the engine had never seen, battery, camera, performance and Wi-Fi: all eight Settings steps mapped to the exact screen. New screens only need the catalog compiler re-run, new vocabulary is data, ten thousand scenarios cost about 3 dollars once, and one CPU container served 495 requests per second.</a:t>
            </a: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[4:40-6:30]  (If the video is not embedded yet: click the frame, Insert &gt; Video &gt; This Device, or rebuild with --video-file.) (Play the video, under 2 minutes. While it plays, stay silent or add one line per cue.) Cue 1: a new complaint with its article, bypassing the cache: evidence highlighted, cost shown. Cue 2: one tap opens the exact screen and the validation probe confirms it. Cue 3: a paraphrase is answered from cache in milliseconds, and a near miss is refused with its reason. Cue 4: a wrong article returns no_match.</a:t>
            </a: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[6:30-6:45]  To sum up: exact screens, grounded steps, honest no-match answers, and a clear path into Galaxy support. The code and the live demo are linked here. Thank you, I am happy to take questions.</a:t>
            </a: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svg"/><Relationship Id="rId3" Type="http://schemas.openxmlformats.org/officeDocument/2006/relationships/image" Target="../media/image6.jpg"/><Relationship Id="rId7" Type="http://schemas.openxmlformats.org/officeDocument/2006/relationships/image" Target="../media/image10.svg"/><Relationship Id="rId12"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sv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svg"/><Relationship Id="rId1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6.jpg"/><Relationship Id="rId7"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6.jpg"/><Relationship Id="rId7" Type="http://schemas.openxmlformats.org/officeDocument/2006/relationships/image" Target="../media/image26.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8.png"/><Relationship Id="rId5" Type="http://schemas.openxmlformats.org/officeDocument/2006/relationships/image" Target="../media/image6.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Picture 89" descr="hero.jpg"/>
          <p:cNvPicPr>
            <a:picLocks noChangeAspect="1"/>
          </p:cNvPicPr>
          <p:nvPr/>
        </p:nvPicPr>
        <p:blipFill>
          <a:blip r:embed="rId3"/>
          <a:stretch>
            <a:fillRect/>
          </a:stretch>
        </p:blipFill>
        <p:spPr>
          <a:xfrm>
            <a:off x="0" y="0"/>
            <a:ext cx="12191695" cy="6858000"/>
          </a:xfrm>
          <a:prstGeom prst="rect">
            <a:avLst/>
          </a:prstGeom>
        </p:spPr>
      </p:pic>
      <p:sp>
        <p:nvSpPr>
          <p:cNvPr id="91" name="Oval 90"/>
          <p:cNvSpPr/>
          <p:nvPr/>
        </p:nvSpPr>
        <p:spPr>
          <a:xfrm>
            <a:off x="685800" y="566928"/>
            <a:ext cx="310896" cy="310896"/>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779068" y="660196"/>
            <a:ext cx="124358" cy="124358"/>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097280" y="530352"/>
            <a:ext cx="2286000" cy="384048"/>
          </a:xfrm>
          <a:prstGeom prst="rect">
            <a:avLst/>
          </a:prstGeom>
          <a:noFill/>
        </p:spPr>
        <p:txBody>
          <a:bodyPr wrap="square" lIns="0" tIns="0" rIns="0" bIns="0" anchor="ctr">
            <a:spAutoFit/>
          </a:bodyPr>
          <a:lstStyle/>
          <a:p>
            <a:pPr algn="l"/>
            <a:r>
              <a:rPr sz="1800" b="0" i="0">
                <a:solidFill>
                  <a:srgbClr val="FFFFFF"/>
                </a:solidFill>
                <a:latin typeface="Segoe UI Semibold"/>
              </a:rPr>
              <a:t>TapTrace</a:t>
            </a:r>
          </a:p>
        </p:txBody>
      </p:sp>
      <p:sp>
        <p:nvSpPr>
          <p:cNvPr id="94" name="Rectangle 93"/>
          <p:cNvSpPr/>
          <p:nvPr/>
        </p:nvSpPr>
        <p:spPr>
          <a:xfrm>
            <a:off x="2606040" y="717804"/>
            <a:ext cx="1097280" cy="9144"/>
          </a:xfrm>
          <a:prstGeom prst="rect">
            <a:avLst/>
          </a:prstGeom>
          <a:solidFill>
            <a:srgbClr val="8A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3840480" y="566928"/>
            <a:ext cx="3840480" cy="310896"/>
          </a:xfrm>
          <a:prstGeom prst="rect">
            <a:avLst/>
          </a:prstGeom>
          <a:noFill/>
        </p:spPr>
        <p:txBody>
          <a:bodyPr wrap="square" lIns="0" tIns="0" rIns="0" bIns="0" anchor="ctr">
            <a:spAutoFit/>
          </a:bodyPr>
          <a:lstStyle/>
          <a:p>
            <a:pPr algn="l"/>
            <a:r>
              <a:rPr sz="900" b="0" i="0" spc="300">
                <a:solidFill>
                  <a:srgbClr val="CFC6BA"/>
                </a:solidFill>
                <a:latin typeface="Segoe UI"/>
              </a:rPr>
              <a:t>SAMSUNG PRISM  ·  GENAI HACKATHON 3.0</a:t>
            </a:r>
          </a:p>
        </p:txBody>
      </p:sp>
      <p:sp>
        <p:nvSpPr>
          <p:cNvPr id="96" name="TextBox 95"/>
          <p:cNvSpPr txBox="1"/>
          <p:nvPr/>
        </p:nvSpPr>
        <p:spPr>
          <a:xfrm>
            <a:off x="685800" y="1417320"/>
            <a:ext cx="6400800" cy="2377440"/>
          </a:xfrm>
          <a:prstGeom prst="rect">
            <a:avLst/>
          </a:prstGeom>
          <a:noFill/>
        </p:spPr>
        <p:txBody>
          <a:bodyPr wrap="square" lIns="0" tIns="0" rIns="0" bIns="0" anchor="t">
            <a:spAutoFit/>
          </a:bodyPr>
          <a:lstStyle/>
          <a:p>
            <a:pPr algn="l">
              <a:lnSpc>
                <a:spcPct val="95000"/>
              </a:lnSpc>
            </a:pPr>
            <a:r>
              <a:rPr sz="4400" b="0" i="0">
                <a:solidFill>
                  <a:srgbClr val="FFFFFF"/>
                </a:solidFill>
                <a:latin typeface="Segoe UI Semibold"/>
              </a:rPr>
              <a:t>From a vague complaint</a:t>
            </a:r>
          </a:p>
          <a:p>
            <a:pPr algn="l">
              <a:lnSpc>
                <a:spcPct val="95000"/>
              </a:lnSpc>
            </a:pPr>
            <a:r>
              <a:rPr sz="4400" b="0" i="0">
                <a:solidFill>
                  <a:srgbClr val="FFFFFF"/>
                </a:solidFill>
                <a:latin typeface="Segoe UI Semibold"/>
              </a:rPr>
              <a:t>to a </a:t>
            </a:r>
            <a:r>
              <a:rPr sz="4400" b="0" i="0">
                <a:solidFill>
                  <a:srgbClr val="F2B66D"/>
                </a:solidFill>
                <a:latin typeface="Segoe UI Semibold"/>
              </a:rPr>
              <a:t>verified fix</a:t>
            </a:r>
            <a:r>
              <a:rPr sz="4400" b="0" i="0">
                <a:solidFill>
                  <a:srgbClr val="FFFFFF"/>
                </a:solidFill>
                <a:latin typeface="Segoe UI Semibold"/>
              </a:rPr>
              <a:t>,</a:t>
            </a:r>
          </a:p>
          <a:p>
            <a:pPr algn="l">
              <a:lnSpc>
                <a:spcPct val="95000"/>
              </a:lnSpc>
            </a:pPr>
            <a:r>
              <a:rPr sz="4400" b="0" i="0">
                <a:solidFill>
                  <a:srgbClr val="FFFFFF"/>
                </a:solidFill>
                <a:latin typeface="Segoe UI Semibold"/>
              </a:rPr>
              <a:t>in one tap.</a:t>
            </a:r>
          </a:p>
        </p:txBody>
      </p:sp>
      <p:sp>
        <p:nvSpPr>
          <p:cNvPr id="97" name="TextBox 96"/>
          <p:cNvSpPr txBox="1"/>
          <p:nvPr/>
        </p:nvSpPr>
        <p:spPr>
          <a:xfrm>
            <a:off x="685800" y="3840480"/>
            <a:ext cx="5669280" cy="822960"/>
          </a:xfrm>
          <a:prstGeom prst="rect">
            <a:avLst/>
          </a:prstGeom>
          <a:noFill/>
        </p:spPr>
        <p:txBody>
          <a:bodyPr wrap="square" lIns="0" tIns="0" rIns="0" bIns="0" anchor="t">
            <a:spAutoFit/>
          </a:bodyPr>
          <a:lstStyle/>
          <a:p>
            <a:pPr algn="l">
              <a:lnSpc>
                <a:spcPct val="112000"/>
              </a:lnSpc>
            </a:pPr>
            <a:r>
              <a:rPr sz="1350" b="0" i="0">
                <a:solidFill>
                  <a:srgbClr val="E6DDD1"/>
                </a:solidFill>
                <a:latin typeface="Segoe UI"/>
              </a:rPr>
              <a:t>A grounded troubleshooting engine for Samsung PRISM Theme 02: every step traced to its source, every Settings fix one exact deeplink away, every repeat answered from cache in milliseconds.</a:t>
            </a:r>
          </a:p>
        </p:txBody>
      </p:sp>
      <p:sp>
        <p:nvSpPr>
          <p:cNvPr id="99" name="TextBox 98"/>
          <p:cNvSpPr txBox="1"/>
          <p:nvPr/>
        </p:nvSpPr>
        <p:spPr>
          <a:xfrm>
            <a:off x="685800" y="5321808"/>
            <a:ext cx="1371600" cy="457200"/>
          </a:xfrm>
          <a:prstGeom prst="rect">
            <a:avLst/>
          </a:prstGeom>
          <a:noFill/>
        </p:spPr>
        <p:txBody>
          <a:bodyPr wrap="square" lIns="0" tIns="0" rIns="0" bIns="0" anchor="t">
            <a:spAutoFit/>
          </a:bodyPr>
          <a:lstStyle/>
          <a:p>
            <a:pPr algn="l"/>
            <a:r>
              <a:rPr sz="1050" b="0" i="0">
                <a:solidFill>
                  <a:srgbClr val="FFFFFF"/>
                </a:solidFill>
                <a:latin typeface="Segoe UI"/>
              </a:rPr>
              <a:t>Evidence-locked</a:t>
            </a:r>
          </a:p>
          <a:p>
            <a:pPr algn="l"/>
            <a:r>
              <a:rPr sz="1050" b="0" i="0">
                <a:solidFill>
                  <a:srgbClr val="FFFFFF"/>
                </a:solidFill>
                <a:latin typeface="Segoe UI"/>
              </a:rPr>
              <a:t>steps</a:t>
            </a:r>
          </a:p>
        </p:txBody>
      </p:sp>
      <p:sp>
        <p:nvSpPr>
          <p:cNvPr id="101" name="TextBox 100"/>
          <p:cNvSpPr txBox="1"/>
          <p:nvPr/>
        </p:nvSpPr>
        <p:spPr>
          <a:xfrm>
            <a:off x="2167128" y="5321808"/>
            <a:ext cx="1371600" cy="457200"/>
          </a:xfrm>
          <a:prstGeom prst="rect">
            <a:avLst/>
          </a:prstGeom>
          <a:noFill/>
        </p:spPr>
        <p:txBody>
          <a:bodyPr wrap="square" lIns="0" tIns="0" rIns="0" bIns="0" anchor="t">
            <a:spAutoFit/>
          </a:bodyPr>
          <a:lstStyle/>
          <a:p>
            <a:pPr algn="l"/>
            <a:r>
              <a:rPr sz="1050" b="0" i="0">
                <a:solidFill>
                  <a:srgbClr val="FFFFFF"/>
                </a:solidFill>
                <a:latin typeface="Segoe UI"/>
              </a:rPr>
              <a:t>Exact-screen</a:t>
            </a:r>
          </a:p>
          <a:p>
            <a:pPr algn="l"/>
            <a:r>
              <a:rPr sz="1050" b="0" i="0">
                <a:solidFill>
                  <a:srgbClr val="FFFFFF"/>
                </a:solidFill>
                <a:latin typeface="Segoe UI"/>
              </a:rPr>
              <a:t>deeplinks</a:t>
            </a:r>
          </a:p>
        </p:txBody>
      </p:sp>
      <p:sp>
        <p:nvSpPr>
          <p:cNvPr id="102" name="Rectangle 101"/>
          <p:cNvSpPr/>
          <p:nvPr/>
        </p:nvSpPr>
        <p:spPr>
          <a:xfrm>
            <a:off x="2039112" y="4919472"/>
            <a:ext cx="9144" cy="777240"/>
          </a:xfrm>
          <a:prstGeom prst="rect">
            <a:avLst/>
          </a:prstGeom>
          <a:solidFill>
            <a:srgbClr val="5A4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648456" y="5321808"/>
            <a:ext cx="1371600" cy="457200"/>
          </a:xfrm>
          <a:prstGeom prst="rect">
            <a:avLst/>
          </a:prstGeom>
          <a:noFill/>
        </p:spPr>
        <p:txBody>
          <a:bodyPr wrap="square" lIns="0" tIns="0" rIns="0" bIns="0" anchor="t">
            <a:spAutoFit/>
          </a:bodyPr>
          <a:lstStyle/>
          <a:p>
            <a:pPr algn="l"/>
            <a:r>
              <a:rPr sz="1050" b="0" i="0">
                <a:solidFill>
                  <a:srgbClr val="FFFFFF"/>
                </a:solidFill>
                <a:latin typeface="Segoe UI"/>
              </a:rPr>
              <a:t>Relevance</a:t>
            </a:r>
          </a:p>
          <a:p>
            <a:pPr algn="l"/>
            <a:r>
              <a:rPr sz="1050" b="0" i="0">
                <a:solidFill>
                  <a:srgbClr val="FFFFFF"/>
                </a:solidFill>
                <a:latin typeface="Segoe UI"/>
              </a:rPr>
              <a:t>gate</a:t>
            </a:r>
          </a:p>
        </p:txBody>
      </p:sp>
      <p:sp>
        <p:nvSpPr>
          <p:cNvPr id="105" name="Rectangle 104"/>
          <p:cNvSpPr/>
          <p:nvPr/>
        </p:nvSpPr>
        <p:spPr>
          <a:xfrm>
            <a:off x="3520440" y="4919472"/>
            <a:ext cx="9144" cy="777240"/>
          </a:xfrm>
          <a:prstGeom prst="rect">
            <a:avLst/>
          </a:prstGeom>
          <a:solidFill>
            <a:srgbClr val="5A4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129784" y="5321808"/>
            <a:ext cx="1371600" cy="457200"/>
          </a:xfrm>
          <a:prstGeom prst="rect">
            <a:avLst/>
          </a:prstGeom>
          <a:noFill/>
        </p:spPr>
        <p:txBody>
          <a:bodyPr wrap="square" lIns="0" tIns="0" rIns="0" bIns="0" anchor="t">
            <a:spAutoFit/>
          </a:bodyPr>
          <a:lstStyle/>
          <a:p>
            <a:pPr algn="l"/>
            <a:r>
              <a:rPr sz="1050" b="0" i="0">
                <a:solidFill>
                  <a:srgbClr val="FFFFFF"/>
                </a:solidFill>
                <a:latin typeface="Segoe UI"/>
              </a:rPr>
              <a:t>Contrastive</a:t>
            </a:r>
          </a:p>
          <a:p>
            <a:pPr algn="l"/>
            <a:r>
              <a:rPr sz="1050" b="0" i="0">
                <a:solidFill>
                  <a:srgbClr val="FFFFFF"/>
                </a:solidFill>
                <a:latin typeface="Segoe UI"/>
              </a:rPr>
              <a:t>cache</a:t>
            </a:r>
          </a:p>
        </p:txBody>
      </p:sp>
      <p:sp>
        <p:nvSpPr>
          <p:cNvPr id="108" name="Rectangle 107"/>
          <p:cNvSpPr/>
          <p:nvPr/>
        </p:nvSpPr>
        <p:spPr>
          <a:xfrm>
            <a:off x="5001768" y="4919472"/>
            <a:ext cx="9144" cy="777240"/>
          </a:xfrm>
          <a:prstGeom prst="rect">
            <a:avLst/>
          </a:prstGeom>
          <a:solidFill>
            <a:srgbClr val="5A4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685800" y="6144768"/>
            <a:ext cx="10835640" cy="9144"/>
          </a:xfrm>
          <a:prstGeom prst="rect">
            <a:avLst/>
          </a:prstGeom>
          <a:solidFill>
            <a:srgbClr val="5A4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85800" y="6217920"/>
            <a:ext cx="10835640" cy="457200"/>
          </a:xfrm>
          <a:prstGeom prst="rect">
            <a:avLst/>
          </a:prstGeom>
          <a:noFill/>
        </p:spPr>
        <p:txBody>
          <a:bodyPr wrap="square" lIns="0" tIns="0" rIns="0" bIns="0" anchor="t">
            <a:spAutoFit/>
          </a:bodyPr>
          <a:lstStyle/>
          <a:p>
            <a:pPr algn="l">
              <a:spcAft>
                <a:spcPts val="300"/>
              </a:spcAft>
            </a:pPr>
            <a:r>
              <a:rPr sz="850" b="0" i="0" spc="120">
                <a:solidFill>
                  <a:srgbClr val="CFC6BA"/>
                </a:solidFill>
                <a:latin typeface="Segoe UI"/>
              </a:rPr>
              <a:t>THEME ID 02   |   TEAM TAPTRACE   |   THAPAR INSTITUTE OF ENGINEERING &amp; TECHNOLOGY   |   ARNAV JOSHI · ajoshi4_be23@thapar.edu</a:t>
            </a:r>
          </a:p>
          <a:p>
            <a:pPr algn="l"/>
            <a:r>
              <a:rPr sz="850" b="0" i="0" spc="120">
                <a:solidFill>
                  <a:srgbClr val="F2B66D"/>
                </a:solidFill>
                <a:latin typeface="Segoe UI"/>
              </a:rPr>
              <a:t>CODE  github.com/Arnav020/Tap-Trace   |   LIVE DEMO  taptrace.onrender.com</a:t>
            </a:r>
          </a:p>
        </p:txBody>
      </p:sp>
      <p:pic>
        <p:nvPicPr>
          <p:cNvPr id="3" name="icon">
            <a:extLst>
              <a:ext uri="{FF2B5EF4-FFF2-40B4-BE49-F238E27FC236}">
                <a16:creationId xmlns:a16="http://schemas.microsoft.com/office/drawing/2014/main" id="{4F7CD0D4-2A94-9905-48CD-60BE2CF7C11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5800" y="4892040"/>
            <a:ext cx="329184" cy="329184"/>
          </a:xfrm>
          <a:prstGeom prst="rect">
            <a:avLst/>
          </a:prstGeom>
        </p:spPr>
      </p:pic>
      <p:pic>
        <p:nvPicPr>
          <p:cNvPr id="5" name="icon">
            <a:extLst>
              <a:ext uri="{FF2B5EF4-FFF2-40B4-BE49-F238E27FC236}">
                <a16:creationId xmlns:a16="http://schemas.microsoft.com/office/drawing/2014/main" id="{2C50D41C-8C12-AC39-AC98-FA67011F642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167128" y="4892040"/>
            <a:ext cx="329184" cy="329184"/>
          </a:xfrm>
          <a:prstGeom prst="rect">
            <a:avLst/>
          </a:prstGeom>
        </p:spPr>
      </p:pic>
      <p:pic>
        <p:nvPicPr>
          <p:cNvPr id="7" name="icon">
            <a:extLst>
              <a:ext uri="{FF2B5EF4-FFF2-40B4-BE49-F238E27FC236}">
                <a16:creationId xmlns:a16="http://schemas.microsoft.com/office/drawing/2014/main" id="{0F13B801-9930-9C83-C9CE-BA262E94A51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648456" y="4892040"/>
            <a:ext cx="329184" cy="329184"/>
          </a:xfrm>
          <a:prstGeom prst="rect">
            <a:avLst/>
          </a:prstGeom>
        </p:spPr>
      </p:pic>
      <p:pic>
        <p:nvPicPr>
          <p:cNvPr id="9" name="icon">
            <a:extLst>
              <a:ext uri="{FF2B5EF4-FFF2-40B4-BE49-F238E27FC236}">
                <a16:creationId xmlns:a16="http://schemas.microsoft.com/office/drawing/2014/main" id="{86ABFFEE-F681-3FF9-6990-F4F0F6E8745C}"/>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5129784" y="4892040"/>
            <a:ext cx="329184" cy="3291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Picture 100" descr="bg_slide.jpg"/>
          <p:cNvPicPr>
            <a:picLocks noChangeAspect="1"/>
          </p:cNvPicPr>
          <p:nvPr/>
        </p:nvPicPr>
        <p:blipFill>
          <a:blip r:embed="rId3"/>
          <a:stretch>
            <a:fillRect/>
          </a:stretch>
        </p:blipFill>
        <p:spPr>
          <a:xfrm>
            <a:off x="0" y="0"/>
            <a:ext cx="12191695" cy="6858000"/>
          </a:xfrm>
          <a:prstGeom prst="rect">
            <a:avLst/>
          </a:prstGeom>
        </p:spPr>
      </p:pic>
      <p:sp>
        <p:nvSpPr>
          <p:cNvPr id="102" name="Oval 101"/>
          <p:cNvSpPr/>
          <p:nvPr/>
        </p:nvSpPr>
        <p:spPr>
          <a:xfrm>
            <a:off x="566928" y="310896"/>
            <a:ext cx="237744" cy="237744"/>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638251" y="382219"/>
            <a:ext cx="95097" cy="95097"/>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96112" y="274320"/>
            <a:ext cx="1463040" cy="310896"/>
          </a:xfrm>
          <a:prstGeom prst="rect">
            <a:avLst/>
          </a:prstGeom>
          <a:noFill/>
        </p:spPr>
        <p:txBody>
          <a:bodyPr wrap="square" lIns="0" tIns="0" rIns="0" bIns="0" anchor="ctr">
            <a:spAutoFit/>
          </a:bodyPr>
          <a:lstStyle/>
          <a:p>
            <a:pPr algn="l"/>
            <a:r>
              <a:rPr sz="1300" b="0" i="0">
                <a:solidFill>
                  <a:srgbClr val="F5EFE6"/>
                </a:solidFill>
                <a:latin typeface="Segoe UI Semibold"/>
              </a:rPr>
              <a:t>TapTrace</a:t>
            </a:r>
          </a:p>
        </p:txBody>
      </p:sp>
      <p:sp>
        <p:nvSpPr>
          <p:cNvPr id="105" name="Rectangle 104"/>
          <p:cNvSpPr/>
          <p:nvPr/>
        </p:nvSpPr>
        <p:spPr>
          <a:xfrm>
            <a:off x="2048256" y="329184"/>
            <a:ext cx="10972" cy="201168"/>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2212848" y="274320"/>
            <a:ext cx="5486400" cy="310896"/>
          </a:xfrm>
          <a:prstGeom prst="rect">
            <a:avLst/>
          </a:prstGeom>
          <a:noFill/>
        </p:spPr>
        <p:txBody>
          <a:bodyPr wrap="square" lIns="0" tIns="0" rIns="0" bIns="0" anchor="ctr">
            <a:spAutoFit/>
          </a:bodyPr>
          <a:lstStyle/>
          <a:p>
            <a:pPr algn="l"/>
            <a:r>
              <a:rPr sz="900" b="0" i="0" spc="250">
                <a:solidFill>
                  <a:srgbClr val="A89F93"/>
                </a:solidFill>
                <a:latin typeface="Segoe UI"/>
              </a:rPr>
              <a:t>01  |  UNDERSTANDING THE PROBLEM &amp; CAVEATS</a:t>
            </a:r>
          </a:p>
        </p:txBody>
      </p:sp>
      <p:sp>
        <p:nvSpPr>
          <p:cNvPr id="107" name="TextBox 106"/>
          <p:cNvSpPr txBox="1"/>
          <p:nvPr/>
        </p:nvSpPr>
        <p:spPr>
          <a:xfrm>
            <a:off x="7223760" y="274320"/>
            <a:ext cx="4398264" cy="310896"/>
          </a:xfrm>
          <a:prstGeom prst="rect">
            <a:avLst/>
          </a:prstGeom>
          <a:noFill/>
        </p:spPr>
        <p:txBody>
          <a:bodyPr wrap="square" lIns="0" tIns="0" rIns="0" bIns="0" anchor="ctr">
            <a:spAutoFit/>
          </a:bodyPr>
          <a:lstStyle/>
          <a:p>
            <a:pPr algn="r"/>
            <a:r>
              <a:rPr sz="850" b="0" i="0" spc="200">
                <a:solidFill>
                  <a:srgbClr val="A89F93"/>
                </a:solidFill>
                <a:latin typeface="Segoe UI"/>
              </a:rPr>
              <a:t>SAMSUNG PRISM  ·  GENAI HACKATHON 3.0  ·  THEME 02</a:t>
            </a:r>
          </a:p>
        </p:txBody>
      </p:sp>
      <p:sp>
        <p:nvSpPr>
          <p:cNvPr id="108" name="TextBox 107"/>
          <p:cNvSpPr txBox="1"/>
          <p:nvPr/>
        </p:nvSpPr>
        <p:spPr>
          <a:xfrm>
            <a:off x="566928" y="822960"/>
            <a:ext cx="8183879" cy="1097280"/>
          </a:xfrm>
          <a:prstGeom prst="rect">
            <a:avLst/>
          </a:prstGeom>
          <a:noFill/>
        </p:spPr>
        <p:txBody>
          <a:bodyPr wrap="square" lIns="0" tIns="0" rIns="0" bIns="0" anchor="t">
            <a:spAutoFit/>
          </a:bodyPr>
          <a:lstStyle/>
          <a:p>
            <a:pPr algn="l">
              <a:lnSpc>
                <a:spcPct val="92000"/>
              </a:lnSpc>
            </a:pPr>
            <a:r>
              <a:rPr sz="2700" b="0" i="0">
                <a:solidFill>
                  <a:srgbClr val="F5EFE6"/>
                </a:solidFill>
                <a:latin typeface="Segoe UI Semibold"/>
              </a:rPr>
              <a:t>Vague complaints meet adversarial data: </a:t>
            </a:r>
            <a:r>
              <a:rPr sz="2700" b="0" i="0">
                <a:solidFill>
                  <a:srgbClr val="F2B66D"/>
                </a:solidFill>
                <a:latin typeface="Segoe UI Semibold"/>
              </a:rPr>
              <a:t>six caveats</a:t>
            </a:r>
            <a:r>
              <a:rPr sz="2700" b="0" i="0">
                <a:solidFill>
                  <a:srgbClr val="F5EFE6"/>
                </a:solidFill>
                <a:latin typeface="Segoe UI Semibold"/>
              </a:rPr>
              <a:t> shaped every design decision.</a:t>
            </a:r>
          </a:p>
        </p:txBody>
      </p:sp>
      <p:sp>
        <p:nvSpPr>
          <p:cNvPr id="109" name="TextBox 108"/>
          <p:cNvSpPr txBox="1"/>
          <p:nvPr/>
        </p:nvSpPr>
        <p:spPr>
          <a:xfrm>
            <a:off x="9006840" y="896112"/>
            <a:ext cx="2615184" cy="1005840"/>
          </a:xfrm>
          <a:prstGeom prst="rect">
            <a:avLst/>
          </a:prstGeom>
          <a:noFill/>
        </p:spPr>
        <p:txBody>
          <a:bodyPr wrap="square" lIns="0" tIns="0" rIns="0" bIns="0" anchor="t">
            <a:spAutoFit/>
          </a:bodyPr>
          <a:lstStyle/>
          <a:p>
            <a:pPr algn="l">
              <a:lnSpc>
                <a:spcPct val="105000"/>
              </a:lnSpc>
            </a:pPr>
            <a:r>
              <a:rPr sz="1100" b="0" i="0">
                <a:solidFill>
                  <a:srgbClr val="D9D2C7"/>
                </a:solidFill>
                <a:latin typeface="Segoe UI"/>
              </a:rPr>
              <a:t>Found by auditing all 578 catalog rows and 20 knowledge articles before writing any code.</a:t>
            </a:r>
          </a:p>
        </p:txBody>
      </p:sp>
      <p:sp>
        <p:nvSpPr>
          <p:cNvPr id="110" name="TextBox 109"/>
          <p:cNvSpPr txBox="1"/>
          <p:nvPr/>
        </p:nvSpPr>
        <p:spPr>
          <a:xfrm>
            <a:off x="10607040" y="6473952"/>
            <a:ext cx="1014984" cy="228600"/>
          </a:xfrm>
          <a:prstGeom prst="rect">
            <a:avLst/>
          </a:prstGeom>
          <a:noFill/>
        </p:spPr>
        <p:txBody>
          <a:bodyPr wrap="square" lIns="0" tIns="0" rIns="0" bIns="0" anchor="t">
            <a:spAutoFit/>
          </a:bodyPr>
          <a:lstStyle/>
          <a:p>
            <a:pPr algn="r"/>
            <a:r>
              <a:rPr sz="800" b="0" i="0">
                <a:solidFill>
                  <a:srgbClr val="8A8176"/>
                </a:solidFill>
                <a:latin typeface="Segoe UI"/>
              </a:rPr>
              <a:t>02 / 8</a:t>
            </a:r>
          </a:p>
        </p:txBody>
      </p:sp>
      <p:sp>
        <p:nvSpPr>
          <p:cNvPr id="111" name="TextBox 110"/>
          <p:cNvSpPr txBox="1"/>
          <p:nvPr/>
        </p:nvSpPr>
        <p:spPr>
          <a:xfrm>
            <a:off x="566928" y="6473952"/>
            <a:ext cx="5486400" cy="228600"/>
          </a:xfrm>
          <a:prstGeom prst="rect">
            <a:avLst/>
          </a:prstGeom>
          <a:noFill/>
        </p:spPr>
        <p:txBody>
          <a:bodyPr wrap="square" lIns="0" tIns="0" rIns="0" bIns="0" anchor="t">
            <a:spAutoFit/>
          </a:bodyPr>
          <a:lstStyle/>
          <a:p>
            <a:pPr algn="l"/>
            <a:r>
              <a:rPr sz="750" b="0" i="0" spc="150">
                <a:solidFill>
                  <a:srgbClr val="8A8176"/>
                </a:solidFill>
                <a:latin typeface="Segoe UI"/>
              </a:rPr>
              <a:t>TIET  ·  TAPTRACE  ·  THEME 02 SMART GUIDED TROUBLESHOOTING</a:t>
            </a:r>
          </a:p>
        </p:txBody>
      </p:sp>
      <p:sp>
        <p:nvSpPr>
          <p:cNvPr id="112" name="Rounded Rectangle 111"/>
          <p:cNvSpPr/>
          <p:nvPr/>
        </p:nvSpPr>
        <p:spPr>
          <a:xfrm>
            <a:off x="566928" y="2103120"/>
            <a:ext cx="3886200" cy="4251960"/>
          </a:xfrm>
          <a:prstGeom prst="roundRect">
            <a:avLst>
              <a:gd name="adj" fmla="val 6000"/>
            </a:avLst>
          </a:prstGeom>
          <a:solidFill>
            <a:srgbClr val="000000">
              <a:alpha val="26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95528" y="2267712"/>
            <a:ext cx="3657600" cy="228600"/>
          </a:xfrm>
          <a:prstGeom prst="rect">
            <a:avLst/>
          </a:prstGeom>
          <a:noFill/>
        </p:spPr>
        <p:txBody>
          <a:bodyPr wrap="square" lIns="0" tIns="0" rIns="0" bIns="0" anchor="t">
            <a:spAutoFit/>
          </a:bodyPr>
          <a:lstStyle/>
          <a:p>
            <a:pPr algn="l"/>
            <a:r>
              <a:rPr sz="850" b="0" i="0" spc="220">
                <a:solidFill>
                  <a:srgbClr val="A89F93"/>
                </a:solidFill>
                <a:latin typeface="Segoe UI Semibold"/>
              </a:rPr>
              <a:t>THE PROBLEM</a:t>
            </a:r>
          </a:p>
        </p:txBody>
      </p:sp>
      <p:sp>
        <p:nvSpPr>
          <p:cNvPr id="114" name="TextBox 113"/>
          <p:cNvSpPr txBox="1"/>
          <p:nvPr/>
        </p:nvSpPr>
        <p:spPr>
          <a:xfrm>
            <a:off x="795528" y="2560320"/>
            <a:ext cx="3474720" cy="868680"/>
          </a:xfrm>
          <a:prstGeom prst="rect">
            <a:avLst/>
          </a:prstGeom>
          <a:noFill/>
        </p:spPr>
        <p:txBody>
          <a:bodyPr wrap="square" lIns="0" tIns="0" rIns="0" bIns="0" anchor="t">
            <a:spAutoFit/>
          </a:bodyPr>
          <a:lstStyle/>
          <a:p>
            <a:pPr algn="l">
              <a:lnSpc>
                <a:spcPct val="108000"/>
              </a:lnSpc>
            </a:pPr>
            <a:r>
              <a:rPr sz="1300" b="0" i="1">
                <a:solidFill>
                  <a:srgbClr val="F5EFE6"/>
                </a:solidFill>
                <a:latin typeface="Segoe UI"/>
              </a:rPr>
              <a:t>“My Nexa X1 screen inputs are delayed and the touch responsiveness is laggy…”</a:t>
            </a:r>
          </a:p>
        </p:txBody>
      </p:sp>
      <p:sp>
        <p:nvSpPr>
          <p:cNvPr id="115" name="TextBox 114"/>
          <p:cNvSpPr txBox="1"/>
          <p:nvPr/>
        </p:nvSpPr>
        <p:spPr>
          <a:xfrm>
            <a:off x="795528" y="3310128"/>
            <a:ext cx="3474720" cy="777240"/>
          </a:xfrm>
          <a:prstGeom prst="rect">
            <a:avLst/>
          </a:prstGeom>
          <a:noFill/>
        </p:spPr>
        <p:txBody>
          <a:bodyPr wrap="square" lIns="0" tIns="0" rIns="0" bIns="0" anchor="t">
            <a:spAutoFit/>
          </a:bodyPr>
          <a:lstStyle/>
          <a:p>
            <a:pPr algn="l">
              <a:lnSpc>
                <a:spcPct val="105000"/>
              </a:lnSpc>
            </a:pPr>
            <a:r>
              <a:rPr sz="1000" b="0" i="0">
                <a:solidFill>
                  <a:srgbClr val="A89F93"/>
                </a:solidFill>
                <a:latin typeface="Segoe UI"/>
              </a:rPr>
              <a:t>Today an agent reads the article, picks and orders the steps by hand (about 15 minutes per case), and the customer still hunts through nested Settings menus.</a:t>
            </a:r>
          </a:p>
        </p:txBody>
      </p:sp>
      <p:sp>
        <p:nvSpPr>
          <p:cNvPr id="116" name="TextBox 115"/>
          <p:cNvSpPr txBox="1"/>
          <p:nvPr/>
        </p:nvSpPr>
        <p:spPr>
          <a:xfrm>
            <a:off x="795528" y="4315968"/>
            <a:ext cx="3657600" cy="228600"/>
          </a:xfrm>
          <a:prstGeom prst="rect">
            <a:avLst/>
          </a:prstGeom>
          <a:noFill/>
        </p:spPr>
        <p:txBody>
          <a:bodyPr wrap="square" lIns="0" tIns="0" rIns="0" bIns="0" anchor="t">
            <a:spAutoFit/>
          </a:bodyPr>
          <a:lstStyle/>
          <a:p>
            <a:pPr algn="l"/>
            <a:r>
              <a:rPr sz="850" b="0" i="0" spc="220">
                <a:solidFill>
                  <a:srgbClr val="F2B66D"/>
                </a:solidFill>
                <a:latin typeface="Segoe UI Semibold"/>
              </a:rPr>
              <a:t>WHAT THE BRIEF DEMANDS</a:t>
            </a:r>
          </a:p>
        </p:txBody>
      </p:sp>
      <p:sp>
        <p:nvSpPr>
          <p:cNvPr id="118" name="TextBox 117"/>
          <p:cNvSpPr txBox="1"/>
          <p:nvPr/>
        </p:nvSpPr>
        <p:spPr>
          <a:xfrm>
            <a:off x="1161288" y="4617720"/>
            <a:ext cx="3200400" cy="347472"/>
          </a:xfrm>
          <a:prstGeom prst="rect">
            <a:avLst/>
          </a:prstGeom>
          <a:noFill/>
        </p:spPr>
        <p:txBody>
          <a:bodyPr wrap="square" lIns="0" tIns="0" rIns="0" bIns="0" anchor="ctr">
            <a:spAutoFit/>
          </a:bodyPr>
          <a:lstStyle/>
          <a:p>
            <a:pPr algn="l"/>
            <a:r>
              <a:rPr sz="1050" b="0" i="0">
                <a:solidFill>
                  <a:srgbClr val="D9D2C7"/>
                </a:solidFill>
                <a:latin typeface="Segoe UI"/>
              </a:rPr>
              <a:t>Ordered steps, only from the article</a:t>
            </a:r>
          </a:p>
        </p:txBody>
      </p:sp>
      <p:sp>
        <p:nvSpPr>
          <p:cNvPr id="120" name="TextBox 119"/>
          <p:cNvSpPr txBox="1"/>
          <p:nvPr/>
        </p:nvSpPr>
        <p:spPr>
          <a:xfrm>
            <a:off x="1161288" y="5038344"/>
            <a:ext cx="3200400" cy="347472"/>
          </a:xfrm>
          <a:prstGeom prst="rect">
            <a:avLst/>
          </a:prstGeom>
          <a:noFill/>
        </p:spPr>
        <p:txBody>
          <a:bodyPr wrap="square" lIns="0" tIns="0" rIns="0" bIns="0" anchor="ctr">
            <a:spAutoFit/>
          </a:bodyPr>
          <a:lstStyle/>
          <a:p>
            <a:pPr algn="l"/>
            <a:r>
              <a:rPr sz="1050" b="0" i="0">
                <a:solidFill>
                  <a:srgbClr val="D9D2C7"/>
                </a:solidFill>
                <a:latin typeface="Segoe UI"/>
              </a:rPr>
              <a:t>The exact Settings screen, one tap</a:t>
            </a:r>
          </a:p>
        </p:txBody>
      </p:sp>
      <p:sp>
        <p:nvSpPr>
          <p:cNvPr id="122" name="TextBox 121"/>
          <p:cNvSpPr txBox="1"/>
          <p:nvPr/>
        </p:nvSpPr>
        <p:spPr>
          <a:xfrm>
            <a:off x="1161288" y="5458968"/>
            <a:ext cx="3200400" cy="347472"/>
          </a:xfrm>
          <a:prstGeom prst="rect">
            <a:avLst/>
          </a:prstGeom>
          <a:noFill/>
        </p:spPr>
        <p:txBody>
          <a:bodyPr wrap="square" lIns="0" tIns="0" rIns="0" bIns="0" anchor="ctr">
            <a:spAutoFit/>
          </a:bodyPr>
          <a:lstStyle/>
          <a:p>
            <a:pPr algn="l"/>
            <a:r>
              <a:rPr sz="1050" b="0" i="0">
                <a:solidFill>
                  <a:srgbClr val="D9D2C7"/>
                </a:solidFill>
                <a:latin typeface="Segoe UI"/>
              </a:rPr>
              <a:t>Repeats in ≤ 300 ms, new in ≤ 8 s</a:t>
            </a:r>
          </a:p>
        </p:txBody>
      </p:sp>
      <p:sp>
        <p:nvSpPr>
          <p:cNvPr id="124" name="TextBox 123"/>
          <p:cNvSpPr txBox="1"/>
          <p:nvPr/>
        </p:nvSpPr>
        <p:spPr>
          <a:xfrm>
            <a:off x="1161288" y="5879592"/>
            <a:ext cx="3200400" cy="347472"/>
          </a:xfrm>
          <a:prstGeom prst="rect">
            <a:avLst/>
          </a:prstGeom>
          <a:noFill/>
        </p:spPr>
        <p:txBody>
          <a:bodyPr wrap="square" lIns="0" tIns="0" rIns="0" bIns="0" anchor="ctr">
            <a:spAutoFit/>
          </a:bodyPr>
          <a:lstStyle/>
          <a:p>
            <a:pPr algn="l"/>
            <a:r>
              <a:rPr sz="1050" b="0" i="0">
                <a:solidFill>
                  <a:srgbClr val="D9D2C7"/>
                </a:solidFill>
                <a:latin typeface="Segoe UI"/>
              </a:rPr>
              <a:t>Strict JSON contract, zero URL leaks</a:t>
            </a:r>
          </a:p>
        </p:txBody>
      </p:sp>
      <p:sp>
        <p:nvSpPr>
          <p:cNvPr id="125" name="Rounded Rectangle 124"/>
          <p:cNvSpPr/>
          <p:nvPr/>
        </p:nvSpPr>
        <p:spPr>
          <a:xfrm>
            <a:off x="4599432" y="2103120"/>
            <a:ext cx="3364992" cy="1307592"/>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ounded Rectangle 125"/>
          <p:cNvSpPr/>
          <p:nvPr/>
        </p:nvSpPr>
        <p:spPr>
          <a:xfrm>
            <a:off x="4764024" y="2286000"/>
            <a:ext cx="420624" cy="420624"/>
          </a:xfrm>
          <a:prstGeom prst="roundRect">
            <a:avLst>
              <a:gd name="adj" fmla="val 28000"/>
            </a:avLst>
          </a:prstGeom>
          <a:solidFill>
            <a:srgbClr val="F08A7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5312664" y="2231136"/>
            <a:ext cx="2560320" cy="502920"/>
          </a:xfrm>
          <a:prstGeom prst="rect">
            <a:avLst/>
          </a:prstGeom>
          <a:noFill/>
        </p:spPr>
        <p:txBody>
          <a:bodyPr wrap="square" lIns="0" tIns="0" rIns="0" bIns="0" anchor="ctr">
            <a:spAutoFit/>
          </a:bodyPr>
          <a:lstStyle/>
          <a:p>
            <a:pPr algn="l"/>
            <a:r>
              <a:rPr sz="2000" b="0" i="0">
                <a:solidFill>
                  <a:srgbClr val="F5EFE6"/>
                </a:solidFill>
                <a:latin typeface="Segoe UI Semibold"/>
              </a:rPr>
              <a:t>21</a:t>
            </a:r>
          </a:p>
        </p:txBody>
      </p:sp>
      <p:sp>
        <p:nvSpPr>
          <p:cNvPr id="129" name="TextBox 128"/>
          <p:cNvSpPr txBox="1"/>
          <p:nvPr/>
        </p:nvSpPr>
        <p:spPr>
          <a:xfrm>
            <a:off x="5312664" y="2706624"/>
            <a:ext cx="2560320" cy="365760"/>
          </a:xfrm>
          <a:prstGeom prst="rect">
            <a:avLst/>
          </a:prstGeom>
          <a:noFill/>
        </p:spPr>
        <p:txBody>
          <a:bodyPr wrap="square" lIns="0" tIns="0" rIns="0" bIns="0" anchor="t">
            <a:spAutoFit/>
          </a:bodyPr>
          <a:lstStyle/>
          <a:p>
            <a:pPr algn="l">
              <a:lnSpc>
                <a:spcPct val="100000"/>
              </a:lnSpc>
            </a:pPr>
            <a:r>
              <a:rPr sz="950" b="0" i="0">
                <a:solidFill>
                  <a:srgbClr val="D9D2C7"/>
                </a:solidFill>
                <a:latin typeface="Segoe UI"/>
              </a:rPr>
              <a:t>TV and appliance screens hidden in the phone catalog</a:t>
            </a:r>
          </a:p>
        </p:txBody>
      </p:sp>
      <p:sp>
        <p:nvSpPr>
          <p:cNvPr id="131" name="TextBox 130"/>
          <p:cNvSpPr txBox="1"/>
          <p:nvPr/>
        </p:nvSpPr>
        <p:spPr>
          <a:xfrm>
            <a:off x="5532120" y="3035808"/>
            <a:ext cx="2377440" cy="292608"/>
          </a:xfrm>
          <a:prstGeom prst="rect">
            <a:avLst/>
          </a:prstGeom>
          <a:noFill/>
        </p:spPr>
        <p:txBody>
          <a:bodyPr wrap="square" lIns="0" tIns="0" rIns="0" bIns="0" anchor="ctr">
            <a:spAutoFit/>
          </a:bodyPr>
          <a:lstStyle/>
          <a:p>
            <a:pPr algn="l"/>
            <a:r>
              <a:rPr sz="950" b="0" i="0">
                <a:solidFill>
                  <a:srgbClr val="F2B66D"/>
                </a:solidFill>
                <a:latin typeface="Segoe UI Semibold"/>
              </a:rPr>
              <a:t>Catalog Compiler quarantines them</a:t>
            </a:r>
          </a:p>
        </p:txBody>
      </p:sp>
      <p:sp>
        <p:nvSpPr>
          <p:cNvPr id="132" name="Rounded Rectangle 131"/>
          <p:cNvSpPr/>
          <p:nvPr/>
        </p:nvSpPr>
        <p:spPr>
          <a:xfrm>
            <a:off x="8101583" y="2103120"/>
            <a:ext cx="3364992" cy="1307592"/>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ounded Rectangle 132"/>
          <p:cNvSpPr/>
          <p:nvPr/>
        </p:nvSpPr>
        <p:spPr>
          <a:xfrm>
            <a:off x="8266175" y="2286000"/>
            <a:ext cx="420624" cy="420624"/>
          </a:xfrm>
          <a:prstGeom prst="roundRect">
            <a:avLst>
              <a:gd name="adj" fmla="val 28000"/>
            </a:avLst>
          </a:prstGeom>
          <a:solidFill>
            <a:srgbClr val="F08A7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8814815" y="2231136"/>
            <a:ext cx="2560320" cy="502920"/>
          </a:xfrm>
          <a:prstGeom prst="rect">
            <a:avLst/>
          </a:prstGeom>
          <a:noFill/>
        </p:spPr>
        <p:txBody>
          <a:bodyPr wrap="square" lIns="0" tIns="0" rIns="0" bIns="0" anchor="ctr">
            <a:spAutoFit/>
          </a:bodyPr>
          <a:lstStyle/>
          <a:p>
            <a:pPr algn="l"/>
            <a:r>
              <a:rPr sz="2000" b="0" i="0">
                <a:solidFill>
                  <a:srgbClr val="F5EFE6"/>
                </a:solidFill>
                <a:latin typeface="Segoe UI Semibold"/>
              </a:rPr>
              <a:t>14</a:t>
            </a:r>
          </a:p>
        </p:txBody>
      </p:sp>
      <p:sp>
        <p:nvSpPr>
          <p:cNvPr id="136" name="TextBox 135"/>
          <p:cNvSpPr txBox="1"/>
          <p:nvPr/>
        </p:nvSpPr>
        <p:spPr>
          <a:xfrm>
            <a:off x="8814815" y="2706624"/>
            <a:ext cx="2560320" cy="365760"/>
          </a:xfrm>
          <a:prstGeom prst="rect">
            <a:avLst/>
          </a:prstGeom>
          <a:noFill/>
        </p:spPr>
        <p:txBody>
          <a:bodyPr wrap="square" lIns="0" tIns="0" rIns="0" bIns="0" anchor="t">
            <a:spAutoFit/>
          </a:bodyPr>
          <a:lstStyle/>
          <a:p>
            <a:pPr algn="l">
              <a:lnSpc>
                <a:spcPct val="100000"/>
              </a:lnSpc>
            </a:pPr>
            <a:r>
              <a:rPr sz="950" b="0" i="0">
                <a:solidFill>
                  <a:srgbClr val="D9D2C7"/>
                </a:solidFill>
                <a:latin typeface="Segoe UI"/>
              </a:rPr>
              <a:t>catalog labels that name the wrong feature</a:t>
            </a:r>
          </a:p>
        </p:txBody>
      </p:sp>
      <p:sp>
        <p:nvSpPr>
          <p:cNvPr id="138" name="TextBox 137"/>
          <p:cNvSpPr txBox="1"/>
          <p:nvPr/>
        </p:nvSpPr>
        <p:spPr>
          <a:xfrm>
            <a:off x="9034272" y="3035808"/>
            <a:ext cx="2377440" cy="292608"/>
          </a:xfrm>
          <a:prstGeom prst="rect">
            <a:avLst/>
          </a:prstGeom>
          <a:noFill/>
        </p:spPr>
        <p:txBody>
          <a:bodyPr wrap="square" lIns="0" tIns="0" rIns="0" bIns="0" anchor="ctr">
            <a:spAutoFit/>
          </a:bodyPr>
          <a:lstStyle/>
          <a:p>
            <a:pPr algn="l"/>
            <a:r>
              <a:rPr sz="950" b="0" i="0">
                <a:solidFill>
                  <a:srgbClr val="F2B66D"/>
                </a:solidFill>
                <a:latin typeface="Segoe UI Semibold"/>
              </a:rPr>
              <a:t>Match screens, never trust labels</a:t>
            </a:r>
          </a:p>
        </p:txBody>
      </p:sp>
      <p:sp>
        <p:nvSpPr>
          <p:cNvPr id="139" name="Rounded Rectangle 138"/>
          <p:cNvSpPr/>
          <p:nvPr/>
        </p:nvSpPr>
        <p:spPr>
          <a:xfrm>
            <a:off x="4599432" y="3575303"/>
            <a:ext cx="3364992" cy="1307592"/>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ounded Rectangle 139"/>
          <p:cNvSpPr/>
          <p:nvPr/>
        </p:nvSpPr>
        <p:spPr>
          <a:xfrm>
            <a:off x="4764024" y="3758183"/>
            <a:ext cx="420624" cy="420624"/>
          </a:xfrm>
          <a:prstGeom prst="roundRect">
            <a:avLst>
              <a:gd name="adj" fmla="val 28000"/>
            </a:avLst>
          </a:prstGeom>
          <a:solidFill>
            <a:srgbClr val="F08A7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312664" y="3703320"/>
            <a:ext cx="2560320" cy="502920"/>
          </a:xfrm>
          <a:prstGeom prst="rect">
            <a:avLst/>
          </a:prstGeom>
          <a:noFill/>
        </p:spPr>
        <p:txBody>
          <a:bodyPr wrap="square" lIns="0" tIns="0" rIns="0" bIns="0" anchor="ctr">
            <a:spAutoFit/>
          </a:bodyPr>
          <a:lstStyle/>
          <a:p>
            <a:pPr algn="l"/>
            <a:r>
              <a:rPr sz="2000" b="0" i="0">
                <a:solidFill>
                  <a:srgbClr val="F5EFE6"/>
                </a:solidFill>
                <a:latin typeface="Segoe UI Semibold"/>
              </a:rPr>
              <a:t>0.94</a:t>
            </a:r>
          </a:p>
        </p:txBody>
      </p:sp>
      <p:sp>
        <p:nvSpPr>
          <p:cNvPr id="143" name="TextBox 142"/>
          <p:cNvSpPr txBox="1"/>
          <p:nvPr/>
        </p:nvSpPr>
        <p:spPr>
          <a:xfrm>
            <a:off x="5312664" y="4178807"/>
            <a:ext cx="2560320" cy="365760"/>
          </a:xfrm>
          <a:prstGeom prst="rect">
            <a:avLst/>
          </a:prstGeom>
          <a:noFill/>
        </p:spPr>
        <p:txBody>
          <a:bodyPr wrap="square" lIns="0" tIns="0" rIns="0" bIns="0" anchor="t">
            <a:spAutoFit/>
          </a:bodyPr>
          <a:lstStyle/>
          <a:p>
            <a:pPr algn="l">
              <a:lnSpc>
                <a:spcPct val="100000"/>
              </a:lnSpc>
            </a:pPr>
            <a:r>
              <a:rPr sz="950" b="0" i="0">
                <a:solidFill>
                  <a:srgbClr val="D9D2C7"/>
                </a:solidFill>
                <a:latin typeface="Segoe UI"/>
              </a:rPr>
              <a:t>similarity of “won’t turn ON” and “won’t turn OFF”</a:t>
            </a:r>
          </a:p>
        </p:txBody>
      </p:sp>
      <p:sp>
        <p:nvSpPr>
          <p:cNvPr id="145" name="TextBox 144"/>
          <p:cNvSpPr txBox="1"/>
          <p:nvPr/>
        </p:nvSpPr>
        <p:spPr>
          <a:xfrm>
            <a:off x="5532120" y="4507992"/>
            <a:ext cx="2377440" cy="292608"/>
          </a:xfrm>
          <a:prstGeom prst="rect">
            <a:avLst/>
          </a:prstGeom>
          <a:noFill/>
        </p:spPr>
        <p:txBody>
          <a:bodyPr wrap="square" lIns="0" tIns="0" rIns="0" bIns="0" anchor="ctr">
            <a:spAutoFit/>
          </a:bodyPr>
          <a:lstStyle/>
          <a:p>
            <a:pPr algn="l"/>
            <a:r>
              <a:rPr sz="950" b="0" i="0">
                <a:solidFill>
                  <a:srgbClr val="F2B66D"/>
                </a:solidFill>
                <a:latin typeface="Segoe UI Semibold"/>
              </a:rPr>
              <a:t>Polarity-aware resolver and cache</a:t>
            </a:r>
          </a:p>
        </p:txBody>
      </p:sp>
      <p:sp>
        <p:nvSpPr>
          <p:cNvPr id="146" name="Rounded Rectangle 145"/>
          <p:cNvSpPr/>
          <p:nvPr/>
        </p:nvSpPr>
        <p:spPr>
          <a:xfrm>
            <a:off x="8101583" y="3575303"/>
            <a:ext cx="3364992" cy="1307592"/>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ounded Rectangle 146"/>
          <p:cNvSpPr/>
          <p:nvPr/>
        </p:nvSpPr>
        <p:spPr>
          <a:xfrm>
            <a:off x="8266175" y="3758183"/>
            <a:ext cx="420624" cy="420624"/>
          </a:xfrm>
          <a:prstGeom prst="roundRect">
            <a:avLst>
              <a:gd name="adj" fmla="val 28000"/>
            </a:avLst>
          </a:prstGeom>
          <a:solidFill>
            <a:srgbClr val="F08A7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8814815" y="3703320"/>
            <a:ext cx="2560320" cy="502920"/>
          </a:xfrm>
          <a:prstGeom prst="rect">
            <a:avLst/>
          </a:prstGeom>
          <a:noFill/>
        </p:spPr>
        <p:txBody>
          <a:bodyPr wrap="square" lIns="0" tIns="0" rIns="0" bIns="0" anchor="ctr">
            <a:spAutoFit/>
          </a:bodyPr>
          <a:lstStyle/>
          <a:p>
            <a:pPr algn="l"/>
            <a:r>
              <a:rPr sz="2000" b="0" i="0">
                <a:solidFill>
                  <a:srgbClr val="F5EFE6"/>
                </a:solidFill>
                <a:latin typeface="Segoe UI Semibold"/>
              </a:rPr>
              <a:t>4 / 20</a:t>
            </a:r>
          </a:p>
        </p:txBody>
      </p:sp>
      <p:sp>
        <p:nvSpPr>
          <p:cNvPr id="150" name="TextBox 149"/>
          <p:cNvSpPr txBox="1"/>
          <p:nvPr/>
        </p:nvSpPr>
        <p:spPr>
          <a:xfrm>
            <a:off x="8814815" y="4178807"/>
            <a:ext cx="2560320" cy="365760"/>
          </a:xfrm>
          <a:prstGeom prst="rect">
            <a:avLst/>
          </a:prstGeom>
          <a:noFill/>
        </p:spPr>
        <p:txBody>
          <a:bodyPr wrap="square" lIns="0" tIns="0" rIns="0" bIns="0" anchor="t">
            <a:spAutoFit/>
          </a:bodyPr>
          <a:lstStyle/>
          <a:p>
            <a:pPr algn="l">
              <a:lnSpc>
                <a:spcPct val="100000"/>
              </a:lnSpc>
            </a:pPr>
            <a:r>
              <a:rPr sz="950" b="0" i="0">
                <a:solidFill>
                  <a:srgbClr val="D9D2C7"/>
                </a:solidFill>
                <a:latin typeface="Segoe UI"/>
              </a:rPr>
              <a:t>knowledge articles are the wrong document</a:t>
            </a:r>
          </a:p>
        </p:txBody>
      </p:sp>
      <p:sp>
        <p:nvSpPr>
          <p:cNvPr id="152" name="TextBox 151"/>
          <p:cNvSpPr txBox="1"/>
          <p:nvPr/>
        </p:nvSpPr>
        <p:spPr>
          <a:xfrm>
            <a:off x="9034272" y="4507992"/>
            <a:ext cx="2377440" cy="292608"/>
          </a:xfrm>
          <a:prstGeom prst="rect">
            <a:avLst/>
          </a:prstGeom>
          <a:noFill/>
        </p:spPr>
        <p:txBody>
          <a:bodyPr wrap="square" lIns="0" tIns="0" rIns="0" bIns="0" anchor="ctr">
            <a:spAutoFit/>
          </a:bodyPr>
          <a:lstStyle/>
          <a:p>
            <a:pPr algn="l"/>
            <a:r>
              <a:rPr sz="950" b="0" i="0">
                <a:solidFill>
                  <a:srgbClr val="F2B66D"/>
                </a:solidFill>
                <a:latin typeface="Segoe UI Semibold"/>
              </a:rPr>
              <a:t>Relevance gate returns no_match</a:t>
            </a:r>
          </a:p>
        </p:txBody>
      </p:sp>
      <p:sp>
        <p:nvSpPr>
          <p:cNvPr id="153" name="Rounded Rectangle 152"/>
          <p:cNvSpPr/>
          <p:nvPr/>
        </p:nvSpPr>
        <p:spPr>
          <a:xfrm>
            <a:off x="4599432" y="5047488"/>
            <a:ext cx="3364992" cy="1307592"/>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153"/>
          <p:cNvSpPr/>
          <p:nvPr/>
        </p:nvSpPr>
        <p:spPr>
          <a:xfrm>
            <a:off x="4764024" y="5230368"/>
            <a:ext cx="420624" cy="420624"/>
          </a:xfrm>
          <a:prstGeom prst="roundRect">
            <a:avLst>
              <a:gd name="adj" fmla="val 28000"/>
            </a:avLst>
          </a:prstGeom>
          <a:solidFill>
            <a:srgbClr val="F08A7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5312664" y="5175503"/>
            <a:ext cx="2560320" cy="502920"/>
          </a:xfrm>
          <a:prstGeom prst="rect">
            <a:avLst/>
          </a:prstGeom>
          <a:noFill/>
        </p:spPr>
        <p:txBody>
          <a:bodyPr wrap="square" lIns="0" tIns="0" rIns="0" bIns="0" anchor="ctr">
            <a:spAutoFit/>
          </a:bodyPr>
          <a:lstStyle/>
          <a:p>
            <a:pPr algn="l"/>
            <a:r>
              <a:rPr sz="2000" b="0" i="0">
                <a:solidFill>
                  <a:srgbClr val="F5EFE6"/>
                </a:solidFill>
                <a:latin typeface="Segoe UI Semibold"/>
              </a:rPr>
              <a:t>DL-0022</a:t>
            </a:r>
          </a:p>
        </p:txBody>
      </p:sp>
      <p:sp>
        <p:nvSpPr>
          <p:cNvPr id="157" name="TextBox 156"/>
          <p:cNvSpPr txBox="1"/>
          <p:nvPr/>
        </p:nvSpPr>
        <p:spPr>
          <a:xfrm>
            <a:off x="5312664" y="5650992"/>
            <a:ext cx="2560320" cy="365760"/>
          </a:xfrm>
          <a:prstGeom prst="rect">
            <a:avLst/>
          </a:prstGeom>
          <a:noFill/>
        </p:spPr>
        <p:txBody>
          <a:bodyPr wrap="square" lIns="0" tIns="0" rIns="0" bIns="0" anchor="t">
            <a:spAutoFit/>
          </a:bodyPr>
          <a:lstStyle/>
          <a:p>
            <a:pPr algn="l">
              <a:lnSpc>
                <a:spcPct val="100000"/>
              </a:lnSpc>
            </a:pPr>
            <a:r>
              <a:rPr sz="950" b="0" i="0">
                <a:solidFill>
                  <a:srgbClr val="D9D2C7"/>
                </a:solidFill>
                <a:latin typeface="Segoe UI"/>
              </a:rPr>
              <a:t>is nearest to “factory reset”, but a different screen</a:t>
            </a:r>
          </a:p>
        </p:txBody>
      </p:sp>
      <p:sp>
        <p:nvSpPr>
          <p:cNvPr id="159" name="TextBox 158"/>
          <p:cNvSpPr txBox="1"/>
          <p:nvPr/>
        </p:nvSpPr>
        <p:spPr>
          <a:xfrm>
            <a:off x="5532120" y="5980175"/>
            <a:ext cx="2377440" cy="292608"/>
          </a:xfrm>
          <a:prstGeom prst="rect">
            <a:avLst/>
          </a:prstGeom>
          <a:noFill/>
        </p:spPr>
        <p:txBody>
          <a:bodyPr wrap="square" lIns="0" tIns="0" rIns="0" bIns="0" anchor="ctr">
            <a:spAutoFit/>
          </a:bodyPr>
          <a:lstStyle/>
          <a:p>
            <a:pPr algn="l"/>
            <a:r>
              <a:rPr sz="950" b="0" i="0">
                <a:solidFill>
                  <a:srgbClr val="F2B66D"/>
                </a:solidFill>
                <a:latin typeface="Segoe UI Semibold"/>
              </a:rPr>
              <a:t>Abstain instead of guessing</a:t>
            </a:r>
          </a:p>
        </p:txBody>
      </p:sp>
      <p:sp>
        <p:nvSpPr>
          <p:cNvPr id="160" name="Rounded Rectangle 159"/>
          <p:cNvSpPr/>
          <p:nvPr/>
        </p:nvSpPr>
        <p:spPr>
          <a:xfrm>
            <a:off x="8101583" y="5047488"/>
            <a:ext cx="3364992" cy="1307592"/>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ounded Rectangle 160"/>
          <p:cNvSpPr/>
          <p:nvPr/>
        </p:nvSpPr>
        <p:spPr>
          <a:xfrm>
            <a:off x="8266175" y="5230368"/>
            <a:ext cx="420624" cy="420624"/>
          </a:xfrm>
          <a:prstGeom prst="roundRect">
            <a:avLst>
              <a:gd name="adj" fmla="val 28000"/>
            </a:avLst>
          </a:prstGeom>
          <a:solidFill>
            <a:srgbClr val="F08A7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8814815" y="5175503"/>
            <a:ext cx="2560320" cy="502920"/>
          </a:xfrm>
          <a:prstGeom prst="rect">
            <a:avLst/>
          </a:prstGeom>
          <a:noFill/>
        </p:spPr>
        <p:txBody>
          <a:bodyPr wrap="square" lIns="0" tIns="0" rIns="0" bIns="0" anchor="ctr">
            <a:spAutoFit/>
          </a:bodyPr>
          <a:lstStyle/>
          <a:p>
            <a:pPr algn="l"/>
            <a:r>
              <a:rPr sz="2000" b="0" i="0">
                <a:solidFill>
                  <a:srgbClr val="F5EFE6"/>
                </a:solidFill>
                <a:latin typeface="Segoe UI Semibold"/>
              </a:rPr>
              <a:t>12 words</a:t>
            </a:r>
          </a:p>
        </p:txBody>
      </p:sp>
      <p:sp>
        <p:nvSpPr>
          <p:cNvPr id="164" name="TextBox 163"/>
          <p:cNvSpPr txBox="1"/>
          <p:nvPr/>
        </p:nvSpPr>
        <p:spPr>
          <a:xfrm>
            <a:off x="8814815" y="5650992"/>
            <a:ext cx="2560320" cy="365760"/>
          </a:xfrm>
          <a:prstGeom prst="rect">
            <a:avLst/>
          </a:prstGeom>
          <a:noFill/>
        </p:spPr>
        <p:txBody>
          <a:bodyPr wrap="square" lIns="0" tIns="0" rIns="0" bIns="0" anchor="t">
            <a:spAutoFit/>
          </a:bodyPr>
          <a:lstStyle/>
          <a:p>
            <a:pPr algn="l">
              <a:lnSpc>
                <a:spcPct val="100000"/>
              </a:lnSpc>
            </a:pPr>
            <a:r>
              <a:rPr sz="950" b="0" i="0">
                <a:solidFill>
                  <a:srgbClr val="D9D2C7"/>
                </a:solidFill>
                <a:latin typeface="Segoe UI"/>
              </a:rPr>
              <a:t>in the official sample’s description (5–7 allowed)</a:t>
            </a:r>
          </a:p>
        </p:txBody>
      </p:sp>
      <p:sp>
        <p:nvSpPr>
          <p:cNvPr id="166" name="TextBox 165"/>
          <p:cNvSpPr txBox="1"/>
          <p:nvPr/>
        </p:nvSpPr>
        <p:spPr>
          <a:xfrm>
            <a:off x="9034272" y="5980175"/>
            <a:ext cx="2377440" cy="292608"/>
          </a:xfrm>
          <a:prstGeom prst="rect">
            <a:avLst/>
          </a:prstGeom>
          <a:noFill/>
        </p:spPr>
        <p:txBody>
          <a:bodyPr wrap="square" lIns="0" tIns="0" rIns="0" bIns="0" anchor="ctr">
            <a:spAutoFit/>
          </a:bodyPr>
          <a:lstStyle/>
          <a:p>
            <a:pPr algn="l"/>
            <a:r>
              <a:rPr sz="950" b="0" i="0">
                <a:solidFill>
                  <a:srgbClr val="F2B66D"/>
                </a:solidFill>
                <a:latin typeface="Segoe UI Semibold"/>
              </a:rPr>
              <a:t>Every field rule enforced in code</a:t>
            </a:r>
          </a:p>
        </p:txBody>
      </p:sp>
      <p:pic>
        <p:nvPicPr>
          <p:cNvPr id="3" name="icon">
            <a:extLst>
              <a:ext uri="{FF2B5EF4-FFF2-40B4-BE49-F238E27FC236}">
                <a16:creationId xmlns:a16="http://schemas.microsoft.com/office/drawing/2014/main" id="{30CF8265-81A1-9F50-1B68-C0C661D2BC1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13816" y="4672583"/>
            <a:ext cx="219456" cy="219456"/>
          </a:xfrm>
          <a:prstGeom prst="rect">
            <a:avLst/>
          </a:prstGeom>
        </p:spPr>
      </p:pic>
      <p:pic>
        <p:nvPicPr>
          <p:cNvPr id="5" name="icon">
            <a:extLst>
              <a:ext uri="{FF2B5EF4-FFF2-40B4-BE49-F238E27FC236}">
                <a16:creationId xmlns:a16="http://schemas.microsoft.com/office/drawing/2014/main" id="{7DC17A58-FE5B-4741-A3C9-DE7612ABE72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13816" y="5093207"/>
            <a:ext cx="219456" cy="219456"/>
          </a:xfrm>
          <a:prstGeom prst="rect">
            <a:avLst/>
          </a:prstGeom>
        </p:spPr>
      </p:pic>
      <p:pic>
        <p:nvPicPr>
          <p:cNvPr id="7" name="icon">
            <a:extLst>
              <a:ext uri="{FF2B5EF4-FFF2-40B4-BE49-F238E27FC236}">
                <a16:creationId xmlns:a16="http://schemas.microsoft.com/office/drawing/2014/main" id="{707CFE3F-2513-7ACF-C868-B6CAE9894BAB}"/>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3816" y="5513831"/>
            <a:ext cx="219456" cy="219456"/>
          </a:xfrm>
          <a:prstGeom prst="rect">
            <a:avLst/>
          </a:prstGeom>
        </p:spPr>
      </p:pic>
      <p:pic>
        <p:nvPicPr>
          <p:cNvPr id="9" name="icon">
            <a:extLst>
              <a:ext uri="{FF2B5EF4-FFF2-40B4-BE49-F238E27FC236}">
                <a16:creationId xmlns:a16="http://schemas.microsoft.com/office/drawing/2014/main" id="{09E6D2A7-506A-0096-C959-50049203620F}"/>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813816" y="5934455"/>
            <a:ext cx="219456" cy="219456"/>
          </a:xfrm>
          <a:prstGeom prst="rect">
            <a:avLst/>
          </a:prstGeom>
        </p:spPr>
      </p:pic>
      <p:pic>
        <p:nvPicPr>
          <p:cNvPr id="11" name="icon">
            <a:extLst>
              <a:ext uri="{FF2B5EF4-FFF2-40B4-BE49-F238E27FC236}">
                <a16:creationId xmlns:a16="http://schemas.microsoft.com/office/drawing/2014/main" id="{F96E37ED-6E24-478E-BDAD-F47860B4A18E}"/>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4864973" y="2386949"/>
            <a:ext cx="218724" cy="218724"/>
          </a:xfrm>
          <a:prstGeom prst="rect">
            <a:avLst/>
          </a:prstGeom>
        </p:spPr>
      </p:pic>
      <p:pic>
        <p:nvPicPr>
          <p:cNvPr id="13" name="icon">
            <a:extLst>
              <a:ext uri="{FF2B5EF4-FFF2-40B4-BE49-F238E27FC236}">
                <a16:creationId xmlns:a16="http://schemas.microsoft.com/office/drawing/2014/main" id="{1FF8A67F-9296-21BE-ADD7-E79389126E66}"/>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5312664" y="3108960"/>
            <a:ext cx="164592" cy="164592"/>
          </a:xfrm>
          <a:prstGeom prst="rect">
            <a:avLst/>
          </a:prstGeom>
        </p:spPr>
      </p:pic>
      <p:pic>
        <p:nvPicPr>
          <p:cNvPr id="15" name="icon">
            <a:extLst>
              <a:ext uri="{FF2B5EF4-FFF2-40B4-BE49-F238E27FC236}">
                <a16:creationId xmlns:a16="http://schemas.microsoft.com/office/drawing/2014/main" id="{5F1CA398-6606-2A4E-2448-BBB1D0D9E9AC}"/>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8367125" y="2386949"/>
            <a:ext cx="218724" cy="218724"/>
          </a:xfrm>
          <a:prstGeom prst="rect">
            <a:avLst/>
          </a:prstGeom>
        </p:spPr>
      </p:pic>
      <p:pic>
        <p:nvPicPr>
          <p:cNvPr id="17" name="icon">
            <a:extLst>
              <a:ext uri="{FF2B5EF4-FFF2-40B4-BE49-F238E27FC236}">
                <a16:creationId xmlns:a16="http://schemas.microsoft.com/office/drawing/2014/main" id="{0ABBA32D-D8A1-FCE1-9DB3-B1863A658A5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814815" y="3108960"/>
            <a:ext cx="164592" cy="164592"/>
          </a:xfrm>
          <a:prstGeom prst="rect">
            <a:avLst/>
          </a:prstGeom>
        </p:spPr>
      </p:pic>
      <p:pic>
        <p:nvPicPr>
          <p:cNvPr id="19" name="icon">
            <a:extLst>
              <a:ext uri="{FF2B5EF4-FFF2-40B4-BE49-F238E27FC236}">
                <a16:creationId xmlns:a16="http://schemas.microsoft.com/office/drawing/2014/main" id="{71796436-B506-CFF7-65D4-4DF86E319734}"/>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4864973" y="3859133"/>
            <a:ext cx="218724" cy="218724"/>
          </a:xfrm>
          <a:prstGeom prst="rect">
            <a:avLst/>
          </a:prstGeom>
        </p:spPr>
      </p:pic>
      <p:pic>
        <p:nvPicPr>
          <p:cNvPr id="21" name="icon">
            <a:extLst>
              <a:ext uri="{FF2B5EF4-FFF2-40B4-BE49-F238E27FC236}">
                <a16:creationId xmlns:a16="http://schemas.microsoft.com/office/drawing/2014/main" id="{0737E897-A1B3-B91A-641D-A6079EDE4CB3}"/>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5312664" y="4581144"/>
            <a:ext cx="164592" cy="164592"/>
          </a:xfrm>
          <a:prstGeom prst="rect">
            <a:avLst/>
          </a:prstGeom>
        </p:spPr>
      </p:pic>
      <p:pic>
        <p:nvPicPr>
          <p:cNvPr id="23" name="icon">
            <a:extLst>
              <a:ext uri="{FF2B5EF4-FFF2-40B4-BE49-F238E27FC236}">
                <a16:creationId xmlns:a16="http://schemas.microsoft.com/office/drawing/2014/main" id="{F3DD2EF0-722D-E418-A2CF-B235CEE49761}"/>
              </a:ext>
            </a:extLst>
          </p:cNvPr>
          <p:cNvPicPr>
            <a:picLocks/>
          </p:cNvPicPr>
          <p:nvPr/>
        </p:nvPicPr>
        <p:blipFill>
          <a:blip>
            <a:extLst>
              <a:ext uri="{96DAC541-7B7A-43D3-8B79-37D633B846F1}">
                <asvg:svgBlip xmlns:asvg="http://schemas.microsoft.com/office/drawing/2016/SVG/main" r:embed="rId12"/>
              </a:ext>
            </a:extLst>
          </a:blip>
          <a:stretch>
            <a:fillRect/>
          </a:stretch>
        </p:blipFill>
        <p:spPr>
          <a:xfrm>
            <a:off x="8367125" y="3859133"/>
            <a:ext cx="218724" cy="218724"/>
          </a:xfrm>
          <a:prstGeom prst="rect">
            <a:avLst/>
          </a:prstGeom>
        </p:spPr>
      </p:pic>
      <p:pic>
        <p:nvPicPr>
          <p:cNvPr id="25" name="icon">
            <a:extLst>
              <a:ext uri="{FF2B5EF4-FFF2-40B4-BE49-F238E27FC236}">
                <a16:creationId xmlns:a16="http://schemas.microsoft.com/office/drawing/2014/main" id="{84D119B4-38F3-6297-0EEC-C9592D940DFE}"/>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814815" y="4581144"/>
            <a:ext cx="164592" cy="164592"/>
          </a:xfrm>
          <a:prstGeom prst="rect">
            <a:avLst/>
          </a:prstGeom>
        </p:spPr>
      </p:pic>
      <p:pic>
        <p:nvPicPr>
          <p:cNvPr id="27" name="icon">
            <a:extLst>
              <a:ext uri="{FF2B5EF4-FFF2-40B4-BE49-F238E27FC236}">
                <a16:creationId xmlns:a16="http://schemas.microsoft.com/office/drawing/2014/main" id="{5E64A46D-1F40-5493-6A1A-702CE2C86647}"/>
              </a:ext>
            </a:extLst>
          </p:cNvPr>
          <p:cNvPicPr>
            <a:picLocks/>
          </p:cNvPicPr>
          <p:nvPr/>
        </p:nvPicPr>
        <p:blipFill>
          <a:blip>
            <a:extLst>
              <a:ext uri="{96DAC541-7B7A-43D3-8B79-37D633B846F1}">
                <asvg:svgBlip xmlns:asvg="http://schemas.microsoft.com/office/drawing/2016/SVG/main" r:embed="rId13"/>
              </a:ext>
            </a:extLst>
          </a:blip>
          <a:stretch>
            <a:fillRect/>
          </a:stretch>
        </p:blipFill>
        <p:spPr>
          <a:xfrm>
            <a:off x="4864973" y="5331317"/>
            <a:ext cx="218724" cy="218724"/>
          </a:xfrm>
          <a:prstGeom prst="rect">
            <a:avLst/>
          </a:prstGeom>
        </p:spPr>
      </p:pic>
      <p:pic>
        <p:nvPicPr>
          <p:cNvPr id="29" name="icon">
            <a:extLst>
              <a:ext uri="{FF2B5EF4-FFF2-40B4-BE49-F238E27FC236}">
                <a16:creationId xmlns:a16="http://schemas.microsoft.com/office/drawing/2014/main" id="{D006A3C7-5944-F888-B67A-93DB97E0C9D0}"/>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5312664" y="6053327"/>
            <a:ext cx="164592" cy="164592"/>
          </a:xfrm>
          <a:prstGeom prst="rect">
            <a:avLst/>
          </a:prstGeom>
        </p:spPr>
      </p:pic>
      <p:pic>
        <p:nvPicPr>
          <p:cNvPr id="31" name="icon">
            <a:extLst>
              <a:ext uri="{FF2B5EF4-FFF2-40B4-BE49-F238E27FC236}">
                <a16:creationId xmlns:a16="http://schemas.microsoft.com/office/drawing/2014/main" id="{A38D7B0A-3876-365F-D9FC-0BD14A67FF33}"/>
              </a:ext>
            </a:extLst>
          </p:cNvPr>
          <p:cNvPicPr>
            <a:picLocks/>
          </p:cNvPicPr>
          <p:nvPr/>
        </p:nvPicPr>
        <p:blipFill>
          <a:blip>
            <a:extLst>
              <a:ext uri="{96DAC541-7B7A-43D3-8B79-37D633B846F1}">
                <asvg:svgBlip xmlns:asvg="http://schemas.microsoft.com/office/drawing/2016/SVG/main" r:embed="rId14"/>
              </a:ext>
            </a:extLst>
          </a:blip>
          <a:stretch>
            <a:fillRect/>
          </a:stretch>
        </p:blipFill>
        <p:spPr>
          <a:xfrm>
            <a:off x="8367125" y="5331317"/>
            <a:ext cx="218724" cy="218724"/>
          </a:xfrm>
          <a:prstGeom prst="rect">
            <a:avLst/>
          </a:prstGeom>
        </p:spPr>
      </p:pic>
      <p:pic>
        <p:nvPicPr>
          <p:cNvPr id="33" name="icon">
            <a:extLst>
              <a:ext uri="{FF2B5EF4-FFF2-40B4-BE49-F238E27FC236}">
                <a16:creationId xmlns:a16="http://schemas.microsoft.com/office/drawing/2014/main" id="{127069DE-43D5-3C4D-A17E-E73CD94AF88C}"/>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814815" y="6053327"/>
            <a:ext cx="164592" cy="1645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Picture 106" descr="bg_slide.jpg"/>
          <p:cNvPicPr>
            <a:picLocks noChangeAspect="1"/>
          </p:cNvPicPr>
          <p:nvPr/>
        </p:nvPicPr>
        <p:blipFill>
          <a:blip r:embed="rId3"/>
          <a:stretch>
            <a:fillRect/>
          </a:stretch>
        </p:blipFill>
        <p:spPr>
          <a:xfrm>
            <a:off x="0" y="0"/>
            <a:ext cx="12191695" cy="6858000"/>
          </a:xfrm>
          <a:prstGeom prst="rect">
            <a:avLst/>
          </a:prstGeom>
        </p:spPr>
      </p:pic>
      <p:sp>
        <p:nvSpPr>
          <p:cNvPr id="108" name="Oval 107"/>
          <p:cNvSpPr/>
          <p:nvPr/>
        </p:nvSpPr>
        <p:spPr>
          <a:xfrm>
            <a:off x="566928" y="310896"/>
            <a:ext cx="237744" cy="237744"/>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638251" y="382219"/>
            <a:ext cx="95097" cy="95097"/>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896112" y="274320"/>
            <a:ext cx="1463040" cy="310896"/>
          </a:xfrm>
          <a:prstGeom prst="rect">
            <a:avLst/>
          </a:prstGeom>
          <a:noFill/>
        </p:spPr>
        <p:txBody>
          <a:bodyPr wrap="square" lIns="0" tIns="0" rIns="0" bIns="0" anchor="ctr">
            <a:spAutoFit/>
          </a:bodyPr>
          <a:lstStyle/>
          <a:p>
            <a:pPr algn="l"/>
            <a:r>
              <a:rPr sz="1300" b="0" i="0">
                <a:solidFill>
                  <a:srgbClr val="F5EFE6"/>
                </a:solidFill>
                <a:latin typeface="Segoe UI Semibold"/>
              </a:rPr>
              <a:t>TapTrace</a:t>
            </a:r>
          </a:p>
        </p:txBody>
      </p:sp>
      <p:sp>
        <p:nvSpPr>
          <p:cNvPr id="111" name="Rectangle 110"/>
          <p:cNvSpPr/>
          <p:nvPr/>
        </p:nvSpPr>
        <p:spPr>
          <a:xfrm>
            <a:off x="2048256" y="329184"/>
            <a:ext cx="10972" cy="201168"/>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212848" y="274320"/>
            <a:ext cx="5486400" cy="310896"/>
          </a:xfrm>
          <a:prstGeom prst="rect">
            <a:avLst/>
          </a:prstGeom>
          <a:noFill/>
        </p:spPr>
        <p:txBody>
          <a:bodyPr wrap="square" lIns="0" tIns="0" rIns="0" bIns="0" anchor="ctr">
            <a:spAutoFit/>
          </a:bodyPr>
          <a:lstStyle/>
          <a:p>
            <a:pPr algn="l"/>
            <a:r>
              <a:rPr sz="900" b="0" i="0" spc="250">
                <a:solidFill>
                  <a:srgbClr val="A89F93"/>
                </a:solidFill>
                <a:latin typeface="Segoe UI"/>
              </a:rPr>
              <a:t>02  |  CORE ARCHITECTURE</a:t>
            </a:r>
          </a:p>
        </p:txBody>
      </p:sp>
      <p:sp>
        <p:nvSpPr>
          <p:cNvPr id="113" name="TextBox 112"/>
          <p:cNvSpPr txBox="1"/>
          <p:nvPr/>
        </p:nvSpPr>
        <p:spPr>
          <a:xfrm>
            <a:off x="7223760" y="274320"/>
            <a:ext cx="4398264" cy="310896"/>
          </a:xfrm>
          <a:prstGeom prst="rect">
            <a:avLst/>
          </a:prstGeom>
          <a:noFill/>
        </p:spPr>
        <p:txBody>
          <a:bodyPr wrap="square" lIns="0" tIns="0" rIns="0" bIns="0" anchor="ctr">
            <a:spAutoFit/>
          </a:bodyPr>
          <a:lstStyle/>
          <a:p>
            <a:pPr algn="r"/>
            <a:r>
              <a:rPr sz="850" b="0" i="0" spc="200">
                <a:solidFill>
                  <a:srgbClr val="A89F93"/>
                </a:solidFill>
                <a:latin typeface="Segoe UI"/>
              </a:rPr>
              <a:t>SAMSUNG PRISM  ·  GENAI HACKATHON 3.0  ·  THEME 02</a:t>
            </a:r>
          </a:p>
        </p:txBody>
      </p:sp>
      <p:sp>
        <p:nvSpPr>
          <p:cNvPr id="114" name="TextBox 113"/>
          <p:cNvSpPr txBox="1"/>
          <p:nvPr/>
        </p:nvSpPr>
        <p:spPr>
          <a:xfrm>
            <a:off x="566928" y="822960"/>
            <a:ext cx="8183879" cy="1097280"/>
          </a:xfrm>
          <a:prstGeom prst="rect">
            <a:avLst/>
          </a:prstGeom>
          <a:noFill/>
        </p:spPr>
        <p:txBody>
          <a:bodyPr wrap="square" lIns="0" tIns="0" rIns="0" bIns="0" anchor="t">
            <a:spAutoFit/>
          </a:bodyPr>
          <a:lstStyle/>
          <a:p>
            <a:pPr algn="l">
              <a:lnSpc>
                <a:spcPct val="92000"/>
              </a:lnSpc>
            </a:pPr>
            <a:r>
              <a:rPr sz="2700" b="0" i="0">
                <a:solidFill>
                  <a:srgbClr val="F5EFE6"/>
                </a:solidFill>
                <a:latin typeface="Segoe UI Semibold"/>
              </a:rPr>
              <a:t>Five stages: the LLM may select and name steps, but it </a:t>
            </a:r>
            <a:r>
              <a:rPr sz="2700" b="0" i="0">
                <a:solidFill>
                  <a:srgbClr val="F2B66D"/>
                </a:solidFill>
                <a:latin typeface="Segoe UI Semibold"/>
              </a:rPr>
              <a:t>never writes one</a:t>
            </a:r>
            <a:r>
              <a:rPr sz="2700" b="0" i="0">
                <a:solidFill>
                  <a:srgbClr val="F5EFE6"/>
                </a:solidFill>
                <a:latin typeface="Segoe UI Semibold"/>
              </a:rPr>
              <a:t>.</a:t>
            </a:r>
          </a:p>
        </p:txBody>
      </p:sp>
      <p:sp>
        <p:nvSpPr>
          <p:cNvPr id="115" name="TextBox 114"/>
          <p:cNvSpPr txBox="1"/>
          <p:nvPr/>
        </p:nvSpPr>
        <p:spPr>
          <a:xfrm>
            <a:off x="9006840" y="896112"/>
            <a:ext cx="2615184" cy="1005840"/>
          </a:xfrm>
          <a:prstGeom prst="rect">
            <a:avLst/>
          </a:prstGeom>
          <a:noFill/>
        </p:spPr>
        <p:txBody>
          <a:bodyPr wrap="square" lIns="0" tIns="0" rIns="0" bIns="0" anchor="t">
            <a:spAutoFit/>
          </a:bodyPr>
          <a:lstStyle/>
          <a:p>
            <a:pPr algn="l">
              <a:lnSpc>
                <a:spcPct val="105000"/>
              </a:lnSpc>
            </a:pPr>
            <a:r>
              <a:rPr sz="1100" b="0" i="0">
                <a:solidFill>
                  <a:srgbClr val="D9D2C7"/>
                </a:solidFill>
                <a:latin typeface="Segoe UI"/>
              </a:rPr>
              <a:t>Everything except the two LLM calls is deterministic, tested code (27 automated tests).</a:t>
            </a:r>
          </a:p>
        </p:txBody>
      </p:sp>
      <p:sp>
        <p:nvSpPr>
          <p:cNvPr id="116" name="TextBox 115"/>
          <p:cNvSpPr txBox="1"/>
          <p:nvPr/>
        </p:nvSpPr>
        <p:spPr>
          <a:xfrm>
            <a:off x="10607040" y="6473952"/>
            <a:ext cx="1014984" cy="228600"/>
          </a:xfrm>
          <a:prstGeom prst="rect">
            <a:avLst/>
          </a:prstGeom>
          <a:noFill/>
        </p:spPr>
        <p:txBody>
          <a:bodyPr wrap="square" lIns="0" tIns="0" rIns="0" bIns="0" anchor="t">
            <a:spAutoFit/>
          </a:bodyPr>
          <a:lstStyle/>
          <a:p>
            <a:pPr algn="r"/>
            <a:r>
              <a:rPr sz="800" b="0" i="0">
                <a:solidFill>
                  <a:srgbClr val="8A8176"/>
                </a:solidFill>
                <a:latin typeface="Segoe UI"/>
              </a:rPr>
              <a:t>03 / 8</a:t>
            </a:r>
          </a:p>
        </p:txBody>
      </p:sp>
      <p:sp>
        <p:nvSpPr>
          <p:cNvPr id="117" name="TextBox 116"/>
          <p:cNvSpPr txBox="1"/>
          <p:nvPr/>
        </p:nvSpPr>
        <p:spPr>
          <a:xfrm>
            <a:off x="566928" y="6473952"/>
            <a:ext cx="5486400" cy="228600"/>
          </a:xfrm>
          <a:prstGeom prst="rect">
            <a:avLst/>
          </a:prstGeom>
          <a:noFill/>
        </p:spPr>
        <p:txBody>
          <a:bodyPr wrap="square" lIns="0" tIns="0" rIns="0" bIns="0" anchor="t">
            <a:spAutoFit/>
          </a:bodyPr>
          <a:lstStyle/>
          <a:p>
            <a:pPr algn="l"/>
            <a:r>
              <a:rPr sz="750" b="0" i="0" spc="150">
                <a:solidFill>
                  <a:srgbClr val="8A8176"/>
                </a:solidFill>
                <a:latin typeface="Segoe UI"/>
              </a:rPr>
              <a:t>TIET  ·  TAPTRACE  ·  THEME 02 SMART GUIDED TROUBLESHOOTING</a:t>
            </a:r>
          </a:p>
        </p:txBody>
      </p:sp>
      <p:sp>
        <p:nvSpPr>
          <p:cNvPr id="118" name="Rounded Rectangle 117"/>
          <p:cNvSpPr/>
          <p:nvPr/>
        </p:nvSpPr>
        <p:spPr>
          <a:xfrm>
            <a:off x="566928" y="3154680"/>
            <a:ext cx="1417320" cy="1600200"/>
          </a:xfrm>
          <a:prstGeom prst="roundRect">
            <a:avLst>
              <a:gd name="adj" fmla="val 6000"/>
            </a:avLst>
          </a:prstGeom>
          <a:solidFill>
            <a:srgbClr val="FFFFFF">
              <a:alpha val="11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0" i="0">
                <a:solidFill>
                  <a:srgbClr val="F5EFE6"/>
                </a:solidFill>
                <a:latin typeface="Segoe UI Semibold"/>
              </a:rPr>
              <a:t>Complaint</a:t>
            </a:r>
          </a:p>
          <a:p>
            <a:pPr algn="ctr"/>
            <a:r>
              <a:rPr sz="850" b="0" i="0">
                <a:solidFill>
                  <a:srgbClr val="A89F93"/>
                </a:solidFill>
                <a:latin typeface="Segoe UI"/>
              </a:rPr>
              <a:t>+ optional</a:t>
            </a:r>
          </a:p>
          <a:p>
            <a:pPr algn="ctr"/>
            <a:r>
              <a:rPr sz="850" b="0" i="0">
                <a:solidFill>
                  <a:srgbClr val="A89F93"/>
                </a:solidFill>
                <a:latin typeface="Segoe UI"/>
              </a:rPr>
              <a:t>support article</a:t>
            </a:r>
          </a:p>
        </p:txBody>
      </p:sp>
      <p:sp>
        <p:nvSpPr>
          <p:cNvPr id="119" name="Rounded Rectangle 118"/>
          <p:cNvSpPr/>
          <p:nvPr/>
        </p:nvSpPr>
        <p:spPr>
          <a:xfrm>
            <a:off x="2240280" y="2121408"/>
            <a:ext cx="9381744" cy="566928"/>
          </a:xfrm>
          <a:prstGeom prst="roundRect">
            <a:avLst>
              <a:gd name="adj" fmla="val 30000"/>
            </a:avLst>
          </a:prstGeom>
          <a:solidFill>
            <a:srgbClr val="F2B66D">
              <a:alpha val="14000"/>
            </a:srgbClr>
          </a:solidFill>
          <a:ln w="13970">
            <a:solidFill>
              <a:srgbClr val="F2B66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788920" y="2121408"/>
            <a:ext cx="8686800" cy="566928"/>
          </a:xfrm>
          <a:prstGeom prst="rect">
            <a:avLst/>
          </a:prstGeom>
          <a:noFill/>
        </p:spPr>
        <p:txBody>
          <a:bodyPr wrap="square" lIns="0" tIns="0" rIns="0" bIns="0" anchor="ctr">
            <a:spAutoFit/>
          </a:bodyPr>
          <a:lstStyle/>
          <a:p>
            <a:pPr algn="l"/>
            <a:r>
              <a:rPr sz="1050" b="0" i="0">
                <a:solidFill>
                  <a:srgbClr val="F2B66D"/>
                </a:solidFill>
                <a:latin typeface="Segoe UI Semibold"/>
              </a:rPr>
              <a:t>Fast path  </a:t>
            </a:r>
            <a:r>
              <a:rPr sz="1050" b="0" i="0">
                <a:solidFill>
                  <a:srgbClr val="D9D2C7"/>
                </a:solidFill>
                <a:latin typeface="Segoe UI"/>
              </a:rPr>
              <a:t>contrastive semantic cache answers repeats and paraphrases in </a:t>
            </a:r>
            <a:r>
              <a:rPr sz="1050" b="0" i="0">
                <a:solidFill>
                  <a:srgbClr val="F5EFE6"/>
                </a:solidFill>
                <a:latin typeface="Segoe UI Semibold"/>
              </a:rPr>
              <a:t>3.5 ms (P95), $0, no LLM call</a:t>
            </a:r>
          </a:p>
        </p:txBody>
      </p:sp>
      <p:cxnSp>
        <p:nvCxnSpPr>
          <p:cNvPr id="122" name="Connector 121"/>
          <p:cNvCxnSpPr/>
          <p:nvPr/>
        </p:nvCxnSpPr>
        <p:spPr>
          <a:xfrm flipV="1">
            <a:off x="1280160" y="2404872"/>
            <a:ext cx="0" cy="749808"/>
          </a:xfrm>
          <a:prstGeom prst="line">
            <a:avLst/>
          </a:prstGeom>
          <a:ln w="15875">
            <a:solidFill>
              <a:srgbClr val="F2B66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280160" y="2404872"/>
            <a:ext cx="960120" cy="0"/>
          </a:xfrm>
          <a:prstGeom prst="line">
            <a:avLst/>
          </a:prstGeom>
          <a:ln w="15875">
            <a:solidFill>
              <a:srgbClr val="F2B66D"/>
            </a:solidFill>
            <a:tailEnd type="triangle" w="sm" len="sm"/>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2240280" y="3017520"/>
            <a:ext cx="1700784" cy="1874519"/>
          </a:xfrm>
          <a:prstGeom prst="roundRect">
            <a:avLst>
              <a:gd name="adj" fmla="val 6000"/>
            </a:avLst>
          </a:prstGeom>
          <a:solidFill>
            <a:srgbClr val="9DBFE3">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2377440" y="3154680"/>
            <a:ext cx="347472" cy="347472"/>
          </a:xfrm>
          <a:prstGeom prst="ellipse">
            <a:avLst/>
          </a:prstGeom>
          <a:solidFill>
            <a:srgbClr val="9DBFE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1</a:t>
            </a:r>
          </a:p>
        </p:txBody>
      </p:sp>
      <p:sp>
        <p:nvSpPr>
          <p:cNvPr id="126" name="TextBox 125"/>
          <p:cNvSpPr txBox="1"/>
          <p:nvPr/>
        </p:nvSpPr>
        <p:spPr>
          <a:xfrm>
            <a:off x="2807208" y="3154680"/>
            <a:ext cx="1097280" cy="347472"/>
          </a:xfrm>
          <a:prstGeom prst="rect">
            <a:avLst/>
          </a:prstGeom>
          <a:noFill/>
        </p:spPr>
        <p:txBody>
          <a:bodyPr wrap="square" lIns="0" tIns="0" rIns="0" bIns="0" anchor="ctr">
            <a:spAutoFit/>
          </a:bodyPr>
          <a:lstStyle/>
          <a:p>
            <a:pPr algn="l"/>
            <a:r>
              <a:rPr sz="1250" b="0" i="0">
                <a:solidFill>
                  <a:srgbClr val="F5EFE6"/>
                </a:solidFill>
                <a:latin typeface="Segoe UI Semibold"/>
              </a:rPr>
              <a:t>Understand</a:t>
            </a:r>
          </a:p>
        </p:txBody>
      </p:sp>
      <p:sp>
        <p:nvSpPr>
          <p:cNvPr id="127" name="Rounded Rectangle 126"/>
          <p:cNvSpPr/>
          <p:nvPr/>
        </p:nvSpPr>
        <p:spPr>
          <a:xfrm>
            <a:off x="2359152" y="3703320"/>
            <a:ext cx="1463040" cy="1005840"/>
          </a:xfrm>
          <a:prstGeom prst="roundRect">
            <a:avLst>
              <a:gd name="adj" fmla="val 6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00" b="0" i="0">
                <a:solidFill>
                  <a:srgbClr val="F5EFE6"/>
                </a:solidFill>
                <a:latin typeface="Segoe UI Semibold"/>
              </a:rPr>
              <a:t>Facet frame</a:t>
            </a:r>
          </a:p>
          <a:p>
            <a:pPr algn="ctr"/>
            <a:r>
              <a:rPr sz="850" b="0" i="0">
                <a:solidFill>
                  <a:srgbClr val="A89F93"/>
                </a:solidFill>
                <a:latin typeface="Segoe UI"/>
              </a:rPr>
              <a:t>symptom · part · on/off</a:t>
            </a:r>
          </a:p>
        </p:txBody>
      </p:sp>
      <p:cxnSp>
        <p:nvCxnSpPr>
          <p:cNvPr id="128" name="Connector 127"/>
          <p:cNvCxnSpPr/>
          <p:nvPr/>
        </p:nvCxnSpPr>
        <p:spPr>
          <a:xfrm>
            <a:off x="3950208" y="3950208"/>
            <a:ext cx="201168" cy="0"/>
          </a:xfrm>
          <a:prstGeom prst="line">
            <a:avLst/>
          </a:prstGeom>
          <a:ln w="15875">
            <a:solidFill>
              <a:srgbClr val="A89F93"/>
            </a:solidFill>
            <a:tailEnd type="triangle" w="sm" len="sm"/>
          </a:ln>
        </p:spPr>
        <p:style>
          <a:lnRef idx="2">
            <a:schemeClr val="accent1"/>
          </a:lnRef>
          <a:fillRef idx="0">
            <a:schemeClr val="accent1"/>
          </a:fillRef>
          <a:effectRef idx="1">
            <a:schemeClr val="accent1"/>
          </a:effectRef>
          <a:fontRef idx="minor">
            <a:schemeClr val="tx1"/>
          </a:fontRef>
        </p:style>
      </p:cxnSp>
      <p:sp>
        <p:nvSpPr>
          <p:cNvPr id="129" name="Rounded Rectangle 128"/>
          <p:cNvSpPr/>
          <p:nvPr/>
        </p:nvSpPr>
        <p:spPr>
          <a:xfrm>
            <a:off x="4160520" y="3017520"/>
            <a:ext cx="1700784" cy="1874519"/>
          </a:xfrm>
          <a:prstGeom prst="roundRect">
            <a:avLst>
              <a:gd name="adj" fmla="val 6000"/>
            </a:avLst>
          </a:prstGeom>
          <a:solidFill>
            <a:srgbClr val="F2B66D">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4297680" y="3154680"/>
            <a:ext cx="347472" cy="347472"/>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2</a:t>
            </a:r>
          </a:p>
        </p:txBody>
      </p:sp>
      <p:sp>
        <p:nvSpPr>
          <p:cNvPr id="131" name="TextBox 130"/>
          <p:cNvSpPr txBox="1"/>
          <p:nvPr/>
        </p:nvSpPr>
        <p:spPr>
          <a:xfrm>
            <a:off x="4727448" y="3154680"/>
            <a:ext cx="1097280" cy="347472"/>
          </a:xfrm>
          <a:prstGeom prst="rect">
            <a:avLst/>
          </a:prstGeom>
          <a:noFill/>
        </p:spPr>
        <p:txBody>
          <a:bodyPr wrap="square" lIns="0" tIns="0" rIns="0" bIns="0" anchor="ctr">
            <a:spAutoFit/>
          </a:bodyPr>
          <a:lstStyle/>
          <a:p>
            <a:pPr algn="l"/>
            <a:r>
              <a:rPr sz="1250" b="0" i="0">
                <a:solidFill>
                  <a:srgbClr val="F5EFE6"/>
                </a:solidFill>
                <a:latin typeface="Segoe UI Semibold"/>
              </a:rPr>
              <a:t>Ground</a:t>
            </a:r>
          </a:p>
        </p:txBody>
      </p:sp>
      <p:sp>
        <p:nvSpPr>
          <p:cNvPr id="132" name="Rounded Rectangle 131"/>
          <p:cNvSpPr/>
          <p:nvPr/>
        </p:nvSpPr>
        <p:spPr>
          <a:xfrm>
            <a:off x="4279392" y="3703320"/>
            <a:ext cx="1463040" cy="1005840"/>
          </a:xfrm>
          <a:prstGeom prst="roundRect">
            <a:avLst>
              <a:gd name="adj" fmla="val 6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00" b="0" i="0">
                <a:solidFill>
                  <a:srgbClr val="F5EFE6"/>
                </a:solidFill>
                <a:latin typeface="Segoe UI Semibold"/>
              </a:rPr>
              <a:t>Relevance gate</a:t>
            </a:r>
          </a:p>
          <a:p>
            <a:pPr algn="ctr"/>
            <a:r>
              <a:rPr sz="850" b="0" i="0">
                <a:solidFill>
                  <a:srgbClr val="A89F93"/>
                </a:solidFill>
                <a:latin typeface="Segoe UI"/>
              </a:rPr>
              <a:t>+ evidence-locked units</a:t>
            </a:r>
          </a:p>
        </p:txBody>
      </p:sp>
      <p:cxnSp>
        <p:nvCxnSpPr>
          <p:cNvPr id="133" name="Connector 132"/>
          <p:cNvCxnSpPr/>
          <p:nvPr/>
        </p:nvCxnSpPr>
        <p:spPr>
          <a:xfrm>
            <a:off x="5870448" y="3950208"/>
            <a:ext cx="201168" cy="0"/>
          </a:xfrm>
          <a:prstGeom prst="line">
            <a:avLst/>
          </a:prstGeom>
          <a:ln w="15875">
            <a:solidFill>
              <a:srgbClr val="A89F93"/>
            </a:solidFill>
            <a:tailEnd type="triangle" w="sm" len="sm"/>
          </a:ln>
        </p:spPr>
        <p:style>
          <a:lnRef idx="2">
            <a:schemeClr val="accent1"/>
          </a:lnRef>
          <a:fillRef idx="0">
            <a:schemeClr val="accent1"/>
          </a:fillRef>
          <a:effectRef idx="1">
            <a:schemeClr val="accent1"/>
          </a:effectRef>
          <a:fontRef idx="minor">
            <a:schemeClr val="tx1"/>
          </a:fontRef>
        </p:style>
      </p:cxnSp>
      <p:sp>
        <p:nvSpPr>
          <p:cNvPr id="134" name="Rounded Rectangle 133"/>
          <p:cNvSpPr/>
          <p:nvPr/>
        </p:nvSpPr>
        <p:spPr>
          <a:xfrm>
            <a:off x="6080760" y="3017520"/>
            <a:ext cx="1700784" cy="1874519"/>
          </a:xfrm>
          <a:prstGeom prst="roundRect">
            <a:avLst>
              <a:gd name="adj" fmla="val 6000"/>
            </a:avLst>
          </a:prstGeom>
          <a:solidFill>
            <a:srgbClr val="93CDB9">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6217920" y="3154680"/>
            <a:ext cx="347472" cy="347472"/>
          </a:xfrm>
          <a:prstGeom prst="ellipse">
            <a:avLst/>
          </a:prstGeom>
          <a:solidFill>
            <a:srgbClr val="93CDB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3</a:t>
            </a:r>
          </a:p>
        </p:txBody>
      </p:sp>
      <p:sp>
        <p:nvSpPr>
          <p:cNvPr id="136" name="TextBox 135"/>
          <p:cNvSpPr txBox="1"/>
          <p:nvPr/>
        </p:nvSpPr>
        <p:spPr>
          <a:xfrm>
            <a:off x="6647688" y="3154680"/>
            <a:ext cx="1097280" cy="347472"/>
          </a:xfrm>
          <a:prstGeom prst="rect">
            <a:avLst/>
          </a:prstGeom>
          <a:noFill/>
        </p:spPr>
        <p:txBody>
          <a:bodyPr wrap="square" lIns="0" tIns="0" rIns="0" bIns="0" anchor="ctr">
            <a:spAutoFit/>
          </a:bodyPr>
          <a:lstStyle/>
          <a:p>
            <a:pPr algn="l"/>
            <a:r>
              <a:rPr sz="1250" b="0" i="0">
                <a:solidFill>
                  <a:srgbClr val="F5EFE6"/>
                </a:solidFill>
                <a:latin typeface="Segoe UI Semibold"/>
              </a:rPr>
              <a:t>Resolve</a:t>
            </a:r>
          </a:p>
        </p:txBody>
      </p:sp>
      <p:sp>
        <p:nvSpPr>
          <p:cNvPr id="137" name="Rounded Rectangle 136"/>
          <p:cNvSpPr/>
          <p:nvPr/>
        </p:nvSpPr>
        <p:spPr>
          <a:xfrm>
            <a:off x="6199632" y="3703320"/>
            <a:ext cx="1463040" cy="1005840"/>
          </a:xfrm>
          <a:prstGeom prst="roundRect">
            <a:avLst>
              <a:gd name="adj" fmla="val 6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00" b="0" i="0">
                <a:solidFill>
                  <a:srgbClr val="F5EFE6"/>
                </a:solidFill>
                <a:latin typeface="Segoe UI Semibold"/>
              </a:rPr>
              <a:t>Catalog compiler</a:t>
            </a:r>
          </a:p>
          <a:p>
            <a:pPr algn="ctr"/>
            <a:r>
              <a:rPr sz="850" b="0" i="0">
                <a:solidFill>
                  <a:srgbClr val="A89F93"/>
                </a:solidFill>
                <a:latin typeface="Segoe UI"/>
              </a:rPr>
              <a:t>+ exact-screen resolver</a:t>
            </a:r>
          </a:p>
        </p:txBody>
      </p:sp>
      <p:cxnSp>
        <p:nvCxnSpPr>
          <p:cNvPr id="138" name="Connector 137"/>
          <p:cNvCxnSpPr/>
          <p:nvPr/>
        </p:nvCxnSpPr>
        <p:spPr>
          <a:xfrm>
            <a:off x="7790688" y="3950208"/>
            <a:ext cx="201168" cy="0"/>
          </a:xfrm>
          <a:prstGeom prst="line">
            <a:avLst/>
          </a:prstGeom>
          <a:ln w="15875">
            <a:solidFill>
              <a:srgbClr val="A89F93"/>
            </a:solidFill>
            <a:tailEnd type="triangle" w="sm" len="sm"/>
          </a:ln>
        </p:spPr>
        <p:style>
          <a:lnRef idx="2">
            <a:schemeClr val="accent1"/>
          </a:lnRef>
          <a:fillRef idx="0">
            <a:schemeClr val="accent1"/>
          </a:fillRef>
          <a:effectRef idx="1">
            <a:schemeClr val="accent1"/>
          </a:effectRef>
          <a:fontRef idx="minor">
            <a:schemeClr val="tx1"/>
          </a:fontRef>
        </p:style>
      </p:cxnSp>
      <p:sp>
        <p:nvSpPr>
          <p:cNvPr id="139" name="Rounded Rectangle 138"/>
          <p:cNvSpPr/>
          <p:nvPr/>
        </p:nvSpPr>
        <p:spPr>
          <a:xfrm>
            <a:off x="8001000" y="3017520"/>
            <a:ext cx="1700784" cy="1874519"/>
          </a:xfrm>
          <a:prstGeom prst="roundRect">
            <a:avLst>
              <a:gd name="adj" fmla="val 6000"/>
            </a:avLst>
          </a:prstGeom>
          <a:solidFill>
            <a:srgbClr val="EE9A7E">
              <a:alpha val="1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8138160" y="3154680"/>
            <a:ext cx="347472" cy="347472"/>
          </a:xfrm>
          <a:prstGeom prst="ellipse">
            <a:avLst/>
          </a:prstGeom>
          <a:solidFill>
            <a:srgbClr val="EE9A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4</a:t>
            </a:r>
          </a:p>
        </p:txBody>
      </p:sp>
      <p:sp>
        <p:nvSpPr>
          <p:cNvPr id="141" name="TextBox 140"/>
          <p:cNvSpPr txBox="1"/>
          <p:nvPr/>
        </p:nvSpPr>
        <p:spPr>
          <a:xfrm>
            <a:off x="8567928" y="3154680"/>
            <a:ext cx="1097280" cy="347472"/>
          </a:xfrm>
          <a:prstGeom prst="rect">
            <a:avLst/>
          </a:prstGeom>
          <a:noFill/>
        </p:spPr>
        <p:txBody>
          <a:bodyPr wrap="square" lIns="0" tIns="0" rIns="0" bIns="0" anchor="ctr">
            <a:spAutoFit/>
          </a:bodyPr>
          <a:lstStyle/>
          <a:p>
            <a:pPr algn="l"/>
            <a:r>
              <a:rPr sz="1250" b="0" i="0">
                <a:solidFill>
                  <a:srgbClr val="F5EFE6"/>
                </a:solidFill>
                <a:latin typeface="Segoe UI Semibold"/>
              </a:rPr>
              <a:t>Compose</a:t>
            </a:r>
          </a:p>
        </p:txBody>
      </p:sp>
      <p:sp>
        <p:nvSpPr>
          <p:cNvPr id="142" name="Rounded Rectangle 141"/>
          <p:cNvSpPr/>
          <p:nvPr/>
        </p:nvSpPr>
        <p:spPr>
          <a:xfrm>
            <a:off x="8119872" y="3703320"/>
            <a:ext cx="1463040" cy="1005840"/>
          </a:xfrm>
          <a:prstGeom prst="roundRect">
            <a:avLst>
              <a:gd name="adj" fmla="val 6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00" b="0" i="0">
                <a:solidFill>
                  <a:srgbClr val="F5EFE6"/>
                </a:solidFill>
                <a:latin typeface="Segoe UI Semibold"/>
              </a:rPr>
              <a:t>Plan composer</a:t>
            </a:r>
          </a:p>
          <a:p>
            <a:pPr algn="ctr"/>
            <a:r>
              <a:rPr sz="850" b="0" i="0">
                <a:solidFill>
                  <a:srgbClr val="A89F93"/>
                </a:solidFill>
                <a:latin typeface="Segoe UI"/>
              </a:rPr>
              <a:t>auto → manual → critical</a:t>
            </a:r>
          </a:p>
        </p:txBody>
      </p:sp>
      <p:cxnSp>
        <p:nvCxnSpPr>
          <p:cNvPr id="143" name="Connector 142"/>
          <p:cNvCxnSpPr/>
          <p:nvPr/>
        </p:nvCxnSpPr>
        <p:spPr>
          <a:xfrm>
            <a:off x="9710928" y="3950208"/>
            <a:ext cx="201168" cy="0"/>
          </a:xfrm>
          <a:prstGeom prst="line">
            <a:avLst/>
          </a:prstGeom>
          <a:ln w="15875">
            <a:solidFill>
              <a:srgbClr val="A89F93"/>
            </a:solidFill>
            <a:tailEnd type="triangle" w="sm" len="sm"/>
          </a:ln>
        </p:spPr>
        <p:style>
          <a:lnRef idx="2">
            <a:schemeClr val="accent1"/>
          </a:lnRef>
          <a:fillRef idx="0">
            <a:schemeClr val="accent1"/>
          </a:fillRef>
          <a:effectRef idx="1">
            <a:schemeClr val="accent1"/>
          </a:effectRef>
          <a:fontRef idx="minor">
            <a:schemeClr val="tx1"/>
          </a:fontRef>
        </p:style>
      </p:cxnSp>
      <p:sp>
        <p:nvSpPr>
          <p:cNvPr id="144" name="Rounded Rectangle 143"/>
          <p:cNvSpPr/>
          <p:nvPr/>
        </p:nvSpPr>
        <p:spPr>
          <a:xfrm>
            <a:off x="9921240" y="3017520"/>
            <a:ext cx="1700784" cy="1874519"/>
          </a:xfrm>
          <a:prstGeom prst="roundRect">
            <a:avLst>
              <a:gd name="adj" fmla="val 6000"/>
            </a:avLst>
          </a:prstGeom>
          <a:solidFill>
            <a:srgbClr val="C9C1B6">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0058400" y="3154680"/>
            <a:ext cx="347472" cy="347472"/>
          </a:xfrm>
          <a:prstGeom prst="ellipse">
            <a:avLst/>
          </a:prstGeom>
          <a:solidFill>
            <a:srgbClr val="C9C1B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5</a:t>
            </a:r>
          </a:p>
        </p:txBody>
      </p:sp>
      <p:sp>
        <p:nvSpPr>
          <p:cNvPr id="146" name="TextBox 145"/>
          <p:cNvSpPr txBox="1"/>
          <p:nvPr/>
        </p:nvSpPr>
        <p:spPr>
          <a:xfrm>
            <a:off x="10488168" y="3154680"/>
            <a:ext cx="1097280" cy="347472"/>
          </a:xfrm>
          <a:prstGeom prst="rect">
            <a:avLst/>
          </a:prstGeom>
          <a:noFill/>
        </p:spPr>
        <p:txBody>
          <a:bodyPr wrap="square" lIns="0" tIns="0" rIns="0" bIns="0" anchor="ctr">
            <a:spAutoFit/>
          </a:bodyPr>
          <a:lstStyle/>
          <a:p>
            <a:pPr algn="l"/>
            <a:r>
              <a:rPr sz="1250" b="0" i="0">
                <a:solidFill>
                  <a:srgbClr val="F5EFE6"/>
                </a:solidFill>
                <a:latin typeface="Segoe UI Semibold"/>
              </a:rPr>
              <a:t>Guarantee</a:t>
            </a:r>
          </a:p>
        </p:txBody>
      </p:sp>
      <p:sp>
        <p:nvSpPr>
          <p:cNvPr id="147" name="Rounded Rectangle 146"/>
          <p:cNvSpPr/>
          <p:nvPr/>
        </p:nvSpPr>
        <p:spPr>
          <a:xfrm>
            <a:off x="10040112" y="3703320"/>
            <a:ext cx="1463040" cy="1005840"/>
          </a:xfrm>
          <a:prstGeom prst="roundRect">
            <a:avLst>
              <a:gd name="adj" fmla="val 6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000" b="0" i="0">
                <a:solidFill>
                  <a:srgbClr val="F5EFE6"/>
                </a:solidFill>
                <a:latin typeface="Segoe UI Semibold"/>
              </a:rPr>
              <a:t>Output gate</a:t>
            </a:r>
          </a:p>
          <a:p>
            <a:pPr algn="ctr"/>
            <a:r>
              <a:rPr sz="850" b="0" i="0">
                <a:solidFill>
                  <a:srgbClr val="A89F93"/>
                </a:solidFill>
                <a:latin typeface="Segoe UI"/>
              </a:rPr>
              <a:t>schema · 0 leaks · cache</a:t>
            </a:r>
          </a:p>
        </p:txBody>
      </p:sp>
      <p:cxnSp>
        <p:nvCxnSpPr>
          <p:cNvPr id="148" name="Connector 147"/>
          <p:cNvCxnSpPr/>
          <p:nvPr/>
        </p:nvCxnSpPr>
        <p:spPr>
          <a:xfrm>
            <a:off x="1984248" y="3950208"/>
            <a:ext cx="246888" cy="0"/>
          </a:xfrm>
          <a:prstGeom prst="line">
            <a:avLst/>
          </a:prstGeom>
          <a:ln w="15875">
            <a:solidFill>
              <a:srgbClr val="A89F9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3090672" y="4901184"/>
            <a:ext cx="0" cy="173736"/>
          </a:xfrm>
          <a:prstGeom prst="line">
            <a:avLst/>
          </a:prstGeom>
          <a:ln w="12700">
            <a:solidFill>
              <a:srgbClr val="EE9A7E"/>
            </a:solidFill>
            <a:prstDash val="dash"/>
          </a:ln>
        </p:spPr>
        <p:style>
          <a:lnRef idx="2">
            <a:schemeClr val="accent1"/>
          </a:lnRef>
          <a:fillRef idx="0">
            <a:schemeClr val="accent1"/>
          </a:fillRef>
          <a:effectRef idx="1">
            <a:schemeClr val="accent1"/>
          </a:effectRef>
          <a:fontRef idx="minor">
            <a:schemeClr val="tx1"/>
          </a:fontRef>
        </p:style>
      </p:cxnSp>
      <p:sp>
        <p:nvSpPr>
          <p:cNvPr id="150" name="Rounded Rectangle 149"/>
          <p:cNvSpPr/>
          <p:nvPr/>
        </p:nvSpPr>
        <p:spPr>
          <a:xfrm>
            <a:off x="2240280" y="5074920"/>
            <a:ext cx="2203704" cy="566928"/>
          </a:xfrm>
          <a:prstGeom prst="roundRect">
            <a:avLst>
              <a:gd name="adj" fmla="val 6000"/>
            </a:avLst>
          </a:prstGeom>
          <a:solidFill>
            <a:srgbClr val="EE9A7E">
              <a:alpha val="13000"/>
            </a:srgbClr>
          </a:solidFill>
          <a:ln w="12700">
            <a:solidFill>
              <a:srgbClr val="EE9A7E"/>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950" b="0" i="0">
                <a:solidFill>
                  <a:srgbClr val="EE9A7E"/>
                </a:solidFill>
                <a:latin typeface="Segoe UI Semibold"/>
              </a:rPr>
              <a:t>Stage A LLM</a:t>
            </a:r>
          </a:p>
          <a:p>
            <a:pPr algn="ctr"/>
            <a:r>
              <a:rPr sz="750" b="0" i="0">
                <a:solidFill>
                  <a:srgbClr val="D9D2C7"/>
                </a:solidFill>
                <a:latin typeface="Segoe UI"/>
              </a:rPr>
              <a:t>canonical query, 10 paraphrases, near misses</a:t>
            </a:r>
          </a:p>
        </p:txBody>
      </p:sp>
      <p:cxnSp>
        <p:nvCxnSpPr>
          <p:cNvPr id="151" name="Connector 150"/>
          <p:cNvCxnSpPr/>
          <p:nvPr/>
        </p:nvCxnSpPr>
        <p:spPr>
          <a:xfrm>
            <a:off x="8851392" y="4901184"/>
            <a:ext cx="0" cy="173736"/>
          </a:xfrm>
          <a:prstGeom prst="line">
            <a:avLst/>
          </a:prstGeom>
          <a:ln w="12700">
            <a:solidFill>
              <a:srgbClr val="EE9A7E"/>
            </a:solidFill>
            <a:prstDash val="dash"/>
          </a:ln>
        </p:spPr>
        <p:style>
          <a:lnRef idx="2">
            <a:schemeClr val="accent1"/>
          </a:lnRef>
          <a:fillRef idx="0">
            <a:schemeClr val="accent1"/>
          </a:fillRef>
          <a:effectRef idx="1">
            <a:schemeClr val="accent1"/>
          </a:effectRef>
          <a:fontRef idx="minor">
            <a:schemeClr val="tx1"/>
          </a:fontRef>
        </p:style>
      </p:cxnSp>
      <p:sp>
        <p:nvSpPr>
          <p:cNvPr id="152" name="Rounded Rectangle 151"/>
          <p:cNvSpPr/>
          <p:nvPr/>
        </p:nvSpPr>
        <p:spPr>
          <a:xfrm>
            <a:off x="7498079" y="5074920"/>
            <a:ext cx="2203704" cy="566928"/>
          </a:xfrm>
          <a:prstGeom prst="roundRect">
            <a:avLst>
              <a:gd name="adj" fmla="val 6000"/>
            </a:avLst>
          </a:prstGeom>
          <a:solidFill>
            <a:srgbClr val="EE9A7E">
              <a:alpha val="13000"/>
            </a:srgbClr>
          </a:solidFill>
          <a:ln w="12700">
            <a:solidFill>
              <a:srgbClr val="EE9A7E"/>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950" b="0" i="0">
                <a:solidFill>
                  <a:srgbClr val="EE9A7E"/>
                </a:solidFill>
                <a:latin typeface="Segoe UI Semibold"/>
              </a:rPr>
              <a:t>Stage B LLM</a:t>
            </a:r>
          </a:p>
          <a:p>
            <a:pPr algn="ctr"/>
            <a:r>
              <a:rPr sz="750" b="0" i="0">
                <a:solidFill>
                  <a:srgbClr val="D9D2C7"/>
                </a:solidFill>
                <a:latin typeface="Segoe UI"/>
              </a:rPr>
              <a:t>select, group and name; no step text</a:t>
            </a:r>
          </a:p>
        </p:txBody>
      </p:sp>
      <p:sp>
        <p:nvSpPr>
          <p:cNvPr id="153" name="TextBox 152"/>
          <p:cNvSpPr txBox="1"/>
          <p:nvPr/>
        </p:nvSpPr>
        <p:spPr>
          <a:xfrm>
            <a:off x="4800600" y="5175504"/>
            <a:ext cx="2377440" cy="365760"/>
          </a:xfrm>
          <a:prstGeom prst="rect">
            <a:avLst/>
          </a:prstGeom>
          <a:noFill/>
        </p:spPr>
        <p:txBody>
          <a:bodyPr wrap="square" lIns="0" tIns="0" rIns="0" bIns="0" anchor="ctr">
            <a:spAutoFit/>
          </a:bodyPr>
          <a:lstStyle/>
          <a:p>
            <a:pPr algn="ctr"/>
            <a:r>
              <a:rPr sz="850" b="0" i="1">
                <a:solidFill>
                  <a:srgbClr val="A89F93"/>
                </a:solidFill>
                <a:latin typeface="Segoe UI"/>
              </a:rPr>
              <a:t>both LLM calls run in parallel</a:t>
            </a:r>
          </a:p>
        </p:txBody>
      </p:sp>
      <p:sp>
        <p:nvSpPr>
          <p:cNvPr id="154" name="Rounded Rectangle 153"/>
          <p:cNvSpPr/>
          <p:nvPr/>
        </p:nvSpPr>
        <p:spPr>
          <a:xfrm>
            <a:off x="566928" y="5806440"/>
            <a:ext cx="2688336" cy="54864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731520" y="5806440"/>
            <a:ext cx="2468880" cy="548640"/>
          </a:xfrm>
          <a:prstGeom prst="rect">
            <a:avLst/>
          </a:prstGeom>
          <a:noFill/>
        </p:spPr>
        <p:txBody>
          <a:bodyPr wrap="square" lIns="0" tIns="0" rIns="0" bIns="0" anchor="ctr">
            <a:spAutoFit/>
          </a:bodyPr>
          <a:lstStyle/>
          <a:p>
            <a:pPr algn="l"/>
            <a:r>
              <a:rPr sz="1300" b="0" i="0">
                <a:solidFill>
                  <a:srgbClr val="F2B66D"/>
                </a:solidFill>
                <a:latin typeface="Segoe UI Semibold"/>
              </a:rPr>
              <a:t>3.8 s  </a:t>
            </a:r>
            <a:r>
              <a:rPr sz="850" b="0" i="0">
                <a:solidFill>
                  <a:srgbClr val="A89F93"/>
                </a:solidFill>
                <a:latin typeface="Segoe UI"/>
              </a:rPr>
              <a:t>new complaint, P95 (target 8 s)</a:t>
            </a:r>
          </a:p>
        </p:txBody>
      </p:sp>
      <p:sp>
        <p:nvSpPr>
          <p:cNvPr id="156" name="Rounded Rectangle 155"/>
          <p:cNvSpPr/>
          <p:nvPr/>
        </p:nvSpPr>
        <p:spPr>
          <a:xfrm>
            <a:off x="3364992" y="5806440"/>
            <a:ext cx="2688336" cy="54864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3529584" y="5806440"/>
            <a:ext cx="2468880" cy="548640"/>
          </a:xfrm>
          <a:prstGeom prst="rect">
            <a:avLst/>
          </a:prstGeom>
          <a:noFill/>
        </p:spPr>
        <p:txBody>
          <a:bodyPr wrap="square" lIns="0" tIns="0" rIns="0" bIns="0" anchor="ctr">
            <a:spAutoFit/>
          </a:bodyPr>
          <a:lstStyle/>
          <a:p>
            <a:pPr algn="l"/>
            <a:r>
              <a:rPr sz="1300" b="0" i="0">
                <a:solidFill>
                  <a:srgbClr val="F2B66D"/>
                </a:solidFill>
                <a:latin typeface="Segoe UI Semibold"/>
              </a:rPr>
              <a:t>3.5 ms  </a:t>
            </a:r>
            <a:r>
              <a:rPr sz="850" b="0" i="0">
                <a:solidFill>
                  <a:srgbClr val="A89F93"/>
                </a:solidFill>
                <a:latin typeface="Segoe UI"/>
              </a:rPr>
              <a:t>repeat, P95 (target 300 ms)</a:t>
            </a:r>
          </a:p>
        </p:txBody>
      </p:sp>
      <p:sp>
        <p:nvSpPr>
          <p:cNvPr id="158" name="Rounded Rectangle 157"/>
          <p:cNvSpPr/>
          <p:nvPr/>
        </p:nvSpPr>
        <p:spPr>
          <a:xfrm>
            <a:off x="6163056" y="5806440"/>
            <a:ext cx="2688336" cy="54864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6327648" y="5806440"/>
            <a:ext cx="2468880" cy="548640"/>
          </a:xfrm>
          <a:prstGeom prst="rect">
            <a:avLst/>
          </a:prstGeom>
          <a:noFill/>
        </p:spPr>
        <p:txBody>
          <a:bodyPr wrap="square" lIns="0" tIns="0" rIns="0" bIns="0" anchor="ctr">
            <a:spAutoFit/>
          </a:bodyPr>
          <a:lstStyle/>
          <a:p>
            <a:pPr algn="l"/>
            <a:r>
              <a:rPr sz="1300" b="0" i="0">
                <a:solidFill>
                  <a:srgbClr val="F2B66D"/>
                </a:solidFill>
                <a:latin typeface="Segoe UI Semibold"/>
              </a:rPr>
              <a:t>$0.0003  </a:t>
            </a:r>
            <a:r>
              <a:rPr sz="850" b="0" i="0">
                <a:solidFill>
                  <a:srgbClr val="A89F93"/>
                </a:solidFill>
                <a:latin typeface="Segoe UI"/>
              </a:rPr>
              <a:t>per new complaint; repeats $0</a:t>
            </a:r>
          </a:p>
        </p:txBody>
      </p:sp>
      <p:sp>
        <p:nvSpPr>
          <p:cNvPr id="160" name="Rounded Rectangle 159"/>
          <p:cNvSpPr/>
          <p:nvPr/>
        </p:nvSpPr>
        <p:spPr>
          <a:xfrm>
            <a:off x="8961119" y="5806440"/>
            <a:ext cx="2688336" cy="54864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9125711" y="5806440"/>
            <a:ext cx="2468880" cy="548640"/>
          </a:xfrm>
          <a:prstGeom prst="rect">
            <a:avLst/>
          </a:prstGeom>
          <a:noFill/>
        </p:spPr>
        <p:txBody>
          <a:bodyPr wrap="square" lIns="0" tIns="0" rIns="0" bIns="0" anchor="ctr">
            <a:spAutoFit/>
          </a:bodyPr>
          <a:lstStyle/>
          <a:p>
            <a:pPr algn="l"/>
            <a:r>
              <a:rPr sz="1300" b="0" i="0">
                <a:solidFill>
                  <a:srgbClr val="F2B66D"/>
                </a:solidFill>
                <a:latin typeface="Segoe UI Semibold"/>
              </a:rPr>
              <a:t>100% · 0  </a:t>
            </a:r>
            <a:r>
              <a:rPr sz="850" b="0" i="0">
                <a:solidFill>
                  <a:srgbClr val="A89F93"/>
                </a:solidFill>
                <a:latin typeface="Segoe UI"/>
              </a:rPr>
              <a:t>schema-valid · URL leaks</a:t>
            </a:r>
          </a:p>
        </p:txBody>
      </p:sp>
      <p:pic>
        <p:nvPicPr>
          <p:cNvPr id="3" name="icon">
            <a:extLst>
              <a:ext uri="{FF2B5EF4-FFF2-40B4-BE49-F238E27FC236}">
                <a16:creationId xmlns:a16="http://schemas.microsoft.com/office/drawing/2014/main" id="{F4477745-309D-2B80-E13C-596A6E01B8E7}"/>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2423160" y="2286000"/>
            <a:ext cx="237744" cy="2377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pic>
        <p:nvPicPr>
          <p:cNvPr id="113" name="Picture 112" descr="bg_slide.jpg"/>
          <p:cNvPicPr>
            <a:picLocks noChangeAspect="1"/>
          </p:cNvPicPr>
          <p:nvPr/>
        </p:nvPicPr>
        <p:blipFill>
          <a:blip r:embed="rId3"/>
          <a:stretch>
            <a:fillRect/>
          </a:stretch>
        </p:blipFill>
        <p:spPr>
          <a:xfrm>
            <a:off x="0" y="0"/>
            <a:ext cx="12191695" cy="6858000"/>
          </a:xfrm>
          <a:prstGeom prst="rect">
            <a:avLst/>
          </a:prstGeom>
        </p:spPr>
      </p:pic>
      <p:sp>
        <p:nvSpPr>
          <p:cNvPr id="114" name="Oval 113"/>
          <p:cNvSpPr/>
          <p:nvPr/>
        </p:nvSpPr>
        <p:spPr>
          <a:xfrm>
            <a:off x="566928" y="310896"/>
            <a:ext cx="237744" cy="237744"/>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638251" y="382219"/>
            <a:ext cx="95097" cy="95097"/>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896112" y="274320"/>
            <a:ext cx="1463040" cy="310896"/>
          </a:xfrm>
          <a:prstGeom prst="rect">
            <a:avLst/>
          </a:prstGeom>
          <a:noFill/>
        </p:spPr>
        <p:txBody>
          <a:bodyPr wrap="square" lIns="0" tIns="0" rIns="0" bIns="0" anchor="ctr">
            <a:spAutoFit/>
          </a:bodyPr>
          <a:lstStyle/>
          <a:p>
            <a:pPr algn="l"/>
            <a:r>
              <a:rPr sz="1300" b="0" i="0">
                <a:solidFill>
                  <a:srgbClr val="F5EFE6"/>
                </a:solidFill>
                <a:latin typeface="Segoe UI Semibold"/>
              </a:rPr>
              <a:t>TapTrace</a:t>
            </a:r>
          </a:p>
        </p:txBody>
      </p:sp>
      <p:sp>
        <p:nvSpPr>
          <p:cNvPr id="117" name="Rectangle 116"/>
          <p:cNvSpPr/>
          <p:nvPr/>
        </p:nvSpPr>
        <p:spPr>
          <a:xfrm>
            <a:off x="2048256" y="329184"/>
            <a:ext cx="10972" cy="201168"/>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2212848" y="274320"/>
            <a:ext cx="5486400" cy="310896"/>
          </a:xfrm>
          <a:prstGeom prst="rect">
            <a:avLst/>
          </a:prstGeom>
          <a:noFill/>
        </p:spPr>
        <p:txBody>
          <a:bodyPr wrap="square" lIns="0" tIns="0" rIns="0" bIns="0" anchor="ctr">
            <a:spAutoFit/>
          </a:bodyPr>
          <a:lstStyle/>
          <a:p>
            <a:pPr algn="l"/>
            <a:r>
              <a:rPr sz="900" b="0" i="0" spc="250">
                <a:solidFill>
                  <a:srgbClr val="A89F93"/>
                </a:solidFill>
                <a:latin typeface="Segoe UI"/>
              </a:rPr>
              <a:t>03  |  CORE TECHNOLOGY MODULES</a:t>
            </a:r>
          </a:p>
        </p:txBody>
      </p:sp>
      <p:sp>
        <p:nvSpPr>
          <p:cNvPr id="119" name="TextBox 118"/>
          <p:cNvSpPr txBox="1"/>
          <p:nvPr/>
        </p:nvSpPr>
        <p:spPr>
          <a:xfrm>
            <a:off x="7223760" y="274320"/>
            <a:ext cx="4398264" cy="310896"/>
          </a:xfrm>
          <a:prstGeom prst="rect">
            <a:avLst/>
          </a:prstGeom>
          <a:noFill/>
        </p:spPr>
        <p:txBody>
          <a:bodyPr wrap="square" lIns="0" tIns="0" rIns="0" bIns="0" anchor="ctr">
            <a:spAutoFit/>
          </a:bodyPr>
          <a:lstStyle/>
          <a:p>
            <a:pPr algn="r"/>
            <a:r>
              <a:rPr sz="850" b="0" i="0" spc="200">
                <a:solidFill>
                  <a:srgbClr val="A89F93"/>
                </a:solidFill>
                <a:latin typeface="Segoe UI"/>
              </a:rPr>
              <a:t>SAMSUNG PRISM  ·  GENAI HACKATHON 3.0  ·  THEME 02</a:t>
            </a:r>
          </a:p>
        </p:txBody>
      </p:sp>
      <p:sp>
        <p:nvSpPr>
          <p:cNvPr id="120" name="TextBox 119"/>
          <p:cNvSpPr txBox="1"/>
          <p:nvPr/>
        </p:nvSpPr>
        <p:spPr>
          <a:xfrm>
            <a:off x="566928" y="822960"/>
            <a:ext cx="8183879" cy="1097280"/>
          </a:xfrm>
          <a:prstGeom prst="rect">
            <a:avLst/>
          </a:prstGeom>
          <a:noFill/>
        </p:spPr>
        <p:txBody>
          <a:bodyPr wrap="square" lIns="0" tIns="0" rIns="0" bIns="0" anchor="t">
            <a:spAutoFit/>
          </a:bodyPr>
          <a:lstStyle/>
          <a:p>
            <a:pPr algn="l">
              <a:lnSpc>
                <a:spcPct val="92000"/>
              </a:lnSpc>
            </a:pPr>
            <a:r>
              <a:rPr sz="2700" b="0" i="0">
                <a:solidFill>
                  <a:srgbClr val="F5EFE6"/>
                </a:solidFill>
                <a:latin typeface="Segoe UI Semibold"/>
              </a:rPr>
              <a:t>Four modules carry the weight, and each one is </a:t>
            </a:r>
            <a:r>
              <a:rPr sz="2700" b="0" i="0">
                <a:solidFill>
                  <a:srgbClr val="F2B66D"/>
                </a:solidFill>
                <a:latin typeface="Segoe UI Semibold"/>
              </a:rPr>
              <a:t>proven by a measurement</a:t>
            </a:r>
            <a:r>
              <a:rPr sz="2700" b="0" i="0">
                <a:solidFill>
                  <a:srgbClr val="F5EFE6"/>
                </a:solidFill>
                <a:latin typeface="Segoe UI Semibold"/>
              </a:rPr>
              <a:t>.</a:t>
            </a:r>
          </a:p>
        </p:txBody>
      </p:sp>
      <p:sp>
        <p:nvSpPr>
          <p:cNvPr id="121" name="TextBox 120"/>
          <p:cNvSpPr txBox="1"/>
          <p:nvPr/>
        </p:nvSpPr>
        <p:spPr>
          <a:xfrm>
            <a:off x="9006840" y="896112"/>
            <a:ext cx="2615184" cy="1005840"/>
          </a:xfrm>
          <a:prstGeom prst="rect">
            <a:avLst/>
          </a:prstGeom>
          <a:noFill/>
        </p:spPr>
        <p:txBody>
          <a:bodyPr wrap="square" lIns="0" tIns="0" rIns="0" bIns="0" anchor="t">
            <a:spAutoFit/>
          </a:bodyPr>
          <a:lstStyle/>
          <a:p>
            <a:pPr algn="l">
              <a:lnSpc>
                <a:spcPct val="105000"/>
              </a:lnSpc>
            </a:pPr>
            <a:r>
              <a:rPr sz="1100" b="0" i="0">
                <a:solidFill>
                  <a:srgbClr val="D9D2C7"/>
                </a:solidFill>
                <a:latin typeface="Segoe UI"/>
              </a:rPr>
              <a:t>Measured by scripts/evaluate.py on the 20 provided scenarios and a frozen, never-tuned test set.</a:t>
            </a:r>
          </a:p>
        </p:txBody>
      </p:sp>
      <p:sp>
        <p:nvSpPr>
          <p:cNvPr id="122" name="TextBox 121"/>
          <p:cNvSpPr txBox="1"/>
          <p:nvPr/>
        </p:nvSpPr>
        <p:spPr>
          <a:xfrm>
            <a:off x="10607040" y="6473952"/>
            <a:ext cx="1014984" cy="228600"/>
          </a:xfrm>
          <a:prstGeom prst="rect">
            <a:avLst/>
          </a:prstGeom>
          <a:noFill/>
        </p:spPr>
        <p:txBody>
          <a:bodyPr wrap="square" lIns="0" tIns="0" rIns="0" bIns="0" anchor="t">
            <a:spAutoFit/>
          </a:bodyPr>
          <a:lstStyle/>
          <a:p>
            <a:pPr algn="r"/>
            <a:r>
              <a:rPr sz="800" b="0" i="0">
                <a:solidFill>
                  <a:srgbClr val="8A8176"/>
                </a:solidFill>
                <a:latin typeface="Segoe UI"/>
              </a:rPr>
              <a:t>04 / 8</a:t>
            </a:r>
          </a:p>
        </p:txBody>
      </p:sp>
      <p:sp>
        <p:nvSpPr>
          <p:cNvPr id="123" name="TextBox 122"/>
          <p:cNvSpPr txBox="1"/>
          <p:nvPr/>
        </p:nvSpPr>
        <p:spPr>
          <a:xfrm>
            <a:off x="566928" y="6473952"/>
            <a:ext cx="5486400" cy="228600"/>
          </a:xfrm>
          <a:prstGeom prst="rect">
            <a:avLst/>
          </a:prstGeom>
          <a:noFill/>
        </p:spPr>
        <p:txBody>
          <a:bodyPr wrap="square" lIns="0" tIns="0" rIns="0" bIns="0" anchor="t">
            <a:spAutoFit/>
          </a:bodyPr>
          <a:lstStyle/>
          <a:p>
            <a:pPr algn="l"/>
            <a:r>
              <a:rPr sz="750" b="0" i="0" spc="150">
                <a:solidFill>
                  <a:srgbClr val="8A8176"/>
                </a:solidFill>
                <a:latin typeface="Segoe UI"/>
              </a:rPr>
              <a:t>TIET  ·  TAPTRACE  ·  THEME 02 SMART GUIDED TROUBLESHOOTING</a:t>
            </a:r>
          </a:p>
        </p:txBody>
      </p:sp>
      <p:sp>
        <p:nvSpPr>
          <p:cNvPr id="124" name="Rounded Rectangle 123"/>
          <p:cNvSpPr/>
          <p:nvPr/>
        </p:nvSpPr>
        <p:spPr>
          <a:xfrm>
            <a:off x="566928" y="2103120"/>
            <a:ext cx="5458968" cy="2048256"/>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ounded Rectangle 124"/>
          <p:cNvSpPr/>
          <p:nvPr/>
        </p:nvSpPr>
        <p:spPr>
          <a:xfrm>
            <a:off x="749808" y="2286000"/>
            <a:ext cx="457200" cy="457200"/>
          </a:xfrm>
          <a:prstGeom prst="roundRect">
            <a:avLst>
              <a:gd name="adj" fmla="val 28000"/>
            </a:avLst>
          </a:prstGeom>
          <a:solidFill>
            <a:srgbClr val="F2B66D">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1344168" y="2286000"/>
            <a:ext cx="2423160" cy="457200"/>
          </a:xfrm>
          <a:prstGeom prst="rect">
            <a:avLst/>
          </a:prstGeom>
          <a:noFill/>
        </p:spPr>
        <p:txBody>
          <a:bodyPr wrap="square" lIns="0" tIns="0" rIns="0" bIns="0" anchor="ctr">
            <a:spAutoFit/>
          </a:bodyPr>
          <a:lstStyle/>
          <a:p>
            <a:pPr algn="l"/>
            <a:r>
              <a:rPr sz="1300" b="0" i="0">
                <a:solidFill>
                  <a:srgbClr val="F5EFE6"/>
                </a:solidFill>
                <a:latin typeface="Segoe UI Semibold"/>
              </a:rPr>
              <a:t>Evidence-locked extraction</a:t>
            </a:r>
          </a:p>
        </p:txBody>
      </p:sp>
      <p:sp>
        <p:nvSpPr>
          <p:cNvPr id="128" name="TextBox 127"/>
          <p:cNvSpPr txBox="1"/>
          <p:nvPr/>
        </p:nvSpPr>
        <p:spPr>
          <a:xfrm>
            <a:off x="749808" y="2880360"/>
            <a:ext cx="2697480" cy="1188720"/>
          </a:xfrm>
          <a:prstGeom prst="rect">
            <a:avLst/>
          </a:prstGeom>
          <a:noFill/>
        </p:spPr>
        <p:txBody>
          <a:bodyPr wrap="square" lIns="0" tIns="0" rIns="0" bIns="0" anchor="t">
            <a:spAutoFit/>
          </a:bodyPr>
          <a:lstStyle/>
          <a:p>
            <a:pPr algn="l">
              <a:lnSpc>
                <a:spcPct val="108000"/>
              </a:lnSpc>
            </a:pPr>
            <a:r>
              <a:rPr sz="950" b="0" i="0">
                <a:solidFill>
                  <a:srgbClr val="A89F93"/>
                </a:solidFill>
                <a:latin typeface="Segoe UI"/>
              </a:rPr>
              <a:t>Steps are cut from the article’s own sentences and keep their source id. The LLM only selects and names them.</a:t>
            </a:r>
          </a:p>
        </p:txBody>
      </p:sp>
      <p:sp>
        <p:nvSpPr>
          <p:cNvPr id="129" name="Rectangle 128"/>
          <p:cNvSpPr/>
          <p:nvPr/>
        </p:nvSpPr>
        <p:spPr>
          <a:xfrm>
            <a:off x="3584448" y="2331720"/>
            <a:ext cx="10972" cy="1591056"/>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p:cNvSpPr/>
          <p:nvPr/>
        </p:nvSpPr>
        <p:spPr>
          <a:xfrm>
            <a:off x="6163056" y="2103120"/>
            <a:ext cx="5458968" cy="2048256"/>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ounded Rectangle 130"/>
          <p:cNvSpPr/>
          <p:nvPr/>
        </p:nvSpPr>
        <p:spPr>
          <a:xfrm>
            <a:off x="6345936" y="2286000"/>
            <a:ext cx="457200" cy="457200"/>
          </a:xfrm>
          <a:prstGeom prst="roundRect">
            <a:avLst>
              <a:gd name="adj" fmla="val 28000"/>
            </a:avLst>
          </a:prstGeom>
          <a:solidFill>
            <a:srgbClr val="93CDB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6940296" y="2286000"/>
            <a:ext cx="2423160" cy="457200"/>
          </a:xfrm>
          <a:prstGeom prst="rect">
            <a:avLst/>
          </a:prstGeom>
          <a:noFill/>
        </p:spPr>
        <p:txBody>
          <a:bodyPr wrap="square" lIns="0" tIns="0" rIns="0" bIns="0" anchor="ctr">
            <a:spAutoFit/>
          </a:bodyPr>
          <a:lstStyle/>
          <a:p>
            <a:pPr algn="l"/>
            <a:r>
              <a:rPr sz="1300" b="0" i="0">
                <a:solidFill>
                  <a:srgbClr val="F5EFE6"/>
                </a:solidFill>
                <a:latin typeface="Segoe UI Semibold"/>
              </a:rPr>
              <a:t>Catalog compiler + resolver</a:t>
            </a:r>
          </a:p>
        </p:txBody>
      </p:sp>
      <p:sp>
        <p:nvSpPr>
          <p:cNvPr id="134" name="TextBox 133"/>
          <p:cNvSpPr txBox="1"/>
          <p:nvPr/>
        </p:nvSpPr>
        <p:spPr>
          <a:xfrm>
            <a:off x="6345936" y="2880360"/>
            <a:ext cx="2697480" cy="1188720"/>
          </a:xfrm>
          <a:prstGeom prst="rect">
            <a:avLst/>
          </a:prstGeom>
          <a:noFill/>
        </p:spPr>
        <p:txBody>
          <a:bodyPr wrap="square" lIns="0" tIns="0" rIns="0" bIns="0" anchor="t">
            <a:spAutoFit/>
          </a:bodyPr>
          <a:lstStyle/>
          <a:p>
            <a:pPr algn="l">
              <a:lnSpc>
                <a:spcPct val="108000"/>
              </a:lnSpc>
            </a:pPr>
            <a:r>
              <a:rPr sz="950" b="0" i="0">
                <a:solidFill>
                  <a:srgbClr val="A89F93"/>
                </a:solidFill>
                <a:latin typeface="Segoe UI"/>
              </a:rPr>
              <a:t>578 noisy rows become 397 screens × on/off/open/set. Exact leaf label, then fuzzy with a margin, else abstain.</a:t>
            </a:r>
          </a:p>
        </p:txBody>
      </p:sp>
      <p:sp>
        <p:nvSpPr>
          <p:cNvPr id="135" name="Rectangle 134"/>
          <p:cNvSpPr/>
          <p:nvPr/>
        </p:nvSpPr>
        <p:spPr>
          <a:xfrm>
            <a:off x="9180576" y="2331720"/>
            <a:ext cx="10972" cy="1591056"/>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ounded Rectangle 135"/>
          <p:cNvSpPr/>
          <p:nvPr/>
        </p:nvSpPr>
        <p:spPr>
          <a:xfrm>
            <a:off x="566928" y="4306824"/>
            <a:ext cx="5458968" cy="2048256"/>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ounded Rectangle 136"/>
          <p:cNvSpPr/>
          <p:nvPr/>
        </p:nvSpPr>
        <p:spPr>
          <a:xfrm>
            <a:off x="749808" y="4489704"/>
            <a:ext cx="457200" cy="457200"/>
          </a:xfrm>
          <a:prstGeom prst="roundRect">
            <a:avLst>
              <a:gd name="adj" fmla="val 28000"/>
            </a:avLst>
          </a:prstGeom>
          <a:solidFill>
            <a:srgbClr val="9DBFE3">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1344168" y="4489704"/>
            <a:ext cx="2423160" cy="457200"/>
          </a:xfrm>
          <a:prstGeom prst="rect">
            <a:avLst/>
          </a:prstGeom>
          <a:noFill/>
        </p:spPr>
        <p:txBody>
          <a:bodyPr wrap="square" lIns="0" tIns="0" rIns="0" bIns="0" anchor="ctr">
            <a:spAutoFit/>
          </a:bodyPr>
          <a:lstStyle/>
          <a:p>
            <a:pPr algn="l"/>
            <a:r>
              <a:rPr sz="1300" b="0" i="0">
                <a:solidFill>
                  <a:srgbClr val="F5EFE6"/>
                </a:solidFill>
                <a:latin typeface="Segoe UI Semibold"/>
              </a:rPr>
              <a:t>Relevance gate</a:t>
            </a:r>
          </a:p>
        </p:txBody>
      </p:sp>
      <p:sp>
        <p:nvSpPr>
          <p:cNvPr id="140" name="TextBox 139"/>
          <p:cNvSpPr txBox="1"/>
          <p:nvPr/>
        </p:nvSpPr>
        <p:spPr>
          <a:xfrm>
            <a:off x="749808" y="5084064"/>
            <a:ext cx="2697480" cy="1188720"/>
          </a:xfrm>
          <a:prstGeom prst="rect">
            <a:avLst/>
          </a:prstGeom>
          <a:noFill/>
        </p:spPr>
        <p:txBody>
          <a:bodyPr wrap="square" lIns="0" tIns="0" rIns="0" bIns="0" anchor="t">
            <a:spAutoFit/>
          </a:bodyPr>
          <a:lstStyle/>
          <a:p>
            <a:pPr algn="l">
              <a:lnSpc>
                <a:spcPct val="108000"/>
              </a:lnSpc>
            </a:pPr>
            <a:r>
              <a:rPr sz="950" b="0" i="0">
                <a:solidFill>
                  <a:srgbClr val="A89F93"/>
                </a:solidFill>
                <a:latin typeface="Segoe UI"/>
              </a:rPr>
              <a:t>Compares the complaint’s symptom and context with the article before extracting anything.</a:t>
            </a:r>
          </a:p>
        </p:txBody>
      </p:sp>
      <p:sp>
        <p:nvSpPr>
          <p:cNvPr id="141" name="Rectangle 140"/>
          <p:cNvSpPr/>
          <p:nvPr/>
        </p:nvSpPr>
        <p:spPr>
          <a:xfrm>
            <a:off x="3584448" y="4535424"/>
            <a:ext cx="10972" cy="1591056"/>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ounded Rectangle 141"/>
          <p:cNvSpPr/>
          <p:nvPr/>
        </p:nvSpPr>
        <p:spPr>
          <a:xfrm>
            <a:off x="6163056" y="4306824"/>
            <a:ext cx="5458968" cy="2048256"/>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ounded Rectangle 142"/>
          <p:cNvSpPr/>
          <p:nvPr/>
        </p:nvSpPr>
        <p:spPr>
          <a:xfrm>
            <a:off x="6345936" y="4489704"/>
            <a:ext cx="457200" cy="457200"/>
          </a:xfrm>
          <a:prstGeom prst="roundRect">
            <a:avLst>
              <a:gd name="adj" fmla="val 28000"/>
            </a:avLst>
          </a:prstGeom>
          <a:solidFill>
            <a:srgbClr val="EE9A7E">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6940296" y="4489704"/>
            <a:ext cx="2423160" cy="457200"/>
          </a:xfrm>
          <a:prstGeom prst="rect">
            <a:avLst/>
          </a:prstGeom>
          <a:noFill/>
        </p:spPr>
        <p:txBody>
          <a:bodyPr wrap="square" lIns="0" tIns="0" rIns="0" bIns="0" anchor="ctr">
            <a:spAutoFit/>
          </a:bodyPr>
          <a:lstStyle/>
          <a:p>
            <a:pPr algn="l"/>
            <a:r>
              <a:rPr sz="1300" b="0" i="0">
                <a:solidFill>
                  <a:srgbClr val="F5EFE6"/>
                </a:solidFill>
                <a:latin typeface="Segoe UI Semibold"/>
              </a:rPr>
              <a:t>Contrastive semantic cache</a:t>
            </a:r>
          </a:p>
        </p:txBody>
      </p:sp>
      <p:sp>
        <p:nvSpPr>
          <p:cNvPr id="146" name="TextBox 145"/>
          <p:cNvSpPr txBox="1"/>
          <p:nvPr/>
        </p:nvSpPr>
        <p:spPr>
          <a:xfrm>
            <a:off x="6345936" y="5084064"/>
            <a:ext cx="2697480" cy="1188720"/>
          </a:xfrm>
          <a:prstGeom prst="rect">
            <a:avLst/>
          </a:prstGeom>
          <a:noFill/>
        </p:spPr>
        <p:txBody>
          <a:bodyPr wrap="square" lIns="0" tIns="0" rIns="0" bIns="0" anchor="t">
            <a:spAutoFit/>
          </a:bodyPr>
          <a:lstStyle/>
          <a:p>
            <a:pPr algn="l">
              <a:lnSpc>
                <a:spcPct val="108000"/>
              </a:lnSpc>
            </a:pPr>
            <a:r>
              <a:rPr sz="950" b="0" i="0">
                <a:solidFill>
                  <a:srgbClr val="A89F93"/>
                </a:solidFill>
                <a:latin typeface="Segoe UI"/>
              </a:rPr>
              <a:t>Each entry learns its own threshold from paraphrases and near misses; a symbolic guard blocks on/off flips.</a:t>
            </a:r>
          </a:p>
        </p:txBody>
      </p:sp>
      <p:sp>
        <p:nvSpPr>
          <p:cNvPr id="147" name="Rectangle 146"/>
          <p:cNvSpPr/>
          <p:nvPr/>
        </p:nvSpPr>
        <p:spPr>
          <a:xfrm>
            <a:off x="9180576" y="4535424"/>
            <a:ext cx="10972" cy="1591056"/>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3767328" y="2240280"/>
            <a:ext cx="2286000" cy="502920"/>
          </a:xfrm>
          <a:prstGeom prst="rect">
            <a:avLst/>
          </a:prstGeom>
          <a:noFill/>
        </p:spPr>
        <p:txBody>
          <a:bodyPr wrap="square" lIns="0" tIns="0" rIns="0" bIns="0" anchor="ctr">
            <a:spAutoFit/>
          </a:bodyPr>
          <a:lstStyle/>
          <a:p>
            <a:pPr algn="l"/>
            <a:r>
              <a:rPr sz="2400" b="0" i="0">
                <a:solidFill>
                  <a:srgbClr val="F2B66D"/>
                </a:solidFill>
                <a:latin typeface="Segoe UI Semibold"/>
              </a:rPr>
              <a:t>3.00 / 3</a:t>
            </a:r>
          </a:p>
        </p:txBody>
      </p:sp>
      <p:sp>
        <p:nvSpPr>
          <p:cNvPr id="149" name="TextBox 148"/>
          <p:cNvSpPr txBox="1"/>
          <p:nvPr/>
        </p:nvSpPr>
        <p:spPr>
          <a:xfrm>
            <a:off x="3767328" y="2743200"/>
            <a:ext cx="2286000" cy="365760"/>
          </a:xfrm>
          <a:prstGeom prst="rect">
            <a:avLst/>
          </a:prstGeom>
          <a:noFill/>
        </p:spPr>
        <p:txBody>
          <a:bodyPr wrap="square" lIns="0" tIns="0" rIns="0" bIns="0" anchor="t">
            <a:spAutoFit/>
          </a:bodyPr>
          <a:lstStyle/>
          <a:p>
            <a:pPr algn="l">
              <a:lnSpc>
                <a:spcPct val="100000"/>
              </a:lnSpc>
            </a:pPr>
            <a:r>
              <a:rPr sz="850" b="0" i="0">
                <a:solidFill>
                  <a:srgbClr val="A89F93"/>
                </a:solidFill>
                <a:latin typeface="Segoe UI"/>
              </a:rPr>
              <a:t>step accuracy vs hand-annotated gold</a:t>
            </a:r>
          </a:p>
        </p:txBody>
      </p:sp>
      <p:sp>
        <p:nvSpPr>
          <p:cNvPr id="150" name="TextBox 149"/>
          <p:cNvSpPr txBox="1"/>
          <p:nvPr/>
        </p:nvSpPr>
        <p:spPr>
          <a:xfrm>
            <a:off x="3767328" y="3154680"/>
            <a:ext cx="2286000" cy="502920"/>
          </a:xfrm>
          <a:prstGeom prst="rect">
            <a:avLst/>
          </a:prstGeom>
          <a:noFill/>
        </p:spPr>
        <p:txBody>
          <a:bodyPr wrap="square" lIns="0" tIns="0" rIns="0" bIns="0" anchor="ctr">
            <a:spAutoFit/>
          </a:bodyPr>
          <a:lstStyle/>
          <a:p>
            <a:pPr algn="l"/>
            <a:r>
              <a:rPr sz="2400" b="0" i="0">
                <a:solidFill>
                  <a:srgbClr val="F2B66D"/>
                </a:solidFill>
                <a:latin typeface="Segoe UI Semibold"/>
              </a:rPr>
              <a:t>0</a:t>
            </a:r>
          </a:p>
        </p:txBody>
      </p:sp>
      <p:sp>
        <p:nvSpPr>
          <p:cNvPr id="151" name="TextBox 150"/>
          <p:cNvSpPr txBox="1"/>
          <p:nvPr/>
        </p:nvSpPr>
        <p:spPr>
          <a:xfrm>
            <a:off x="3767328" y="3657600"/>
            <a:ext cx="2286000" cy="365760"/>
          </a:xfrm>
          <a:prstGeom prst="rect">
            <a:avLst/>
          </a:prstGeom>
          <a:noFill/>
        </p:spPr>
        <p:txBody>
          <a:bodyPr wrap="square" lIns="0" tIns="0" rIns="0" bIns="0" anchor="t">
            <a:spAutoFit/>
          </a:bodyPr>
          <a:lstStyle/>
          <a:p>
            <a:pPr algn="l">
              <a:lnSpc>
                <a:spcPct val="100000"/>
              </a:lnSpc>
            </a:pPr>
            <a:r>
              <a:rPr sz="850" b="0" i="0">
                <a:solidFill>
                  <a:srgbClr val="A89F93"/>
                </a:solidFill>
                <a:latin typeface="Segoe UI"/>
              </a:rPr>
              <a:t>URL leaks across all outputs</a:t>
            </a:r>
          </a:p>
        </p:txBody>
      </p:sp>
      <p:graphicFrame>
        <p:nvGraphicFramePr>
          <p:cNvPr id="152" name="Chart 151"/>
          <p:cNvGraphicFramePr>
            <a:graphicFrameLocks noGrp="1"/>
          </p:cNvGraphicFramePr>
          <p:nvPr/>
        </p:nvGraphicFramePr>
        <p:xfrm>
          <a:off x="9272016" y="2212848"/>
          <a:ext cx="237744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53" name="TextBox 152"/>
          <p:cNvSpPr txBox="1"/>
          <p:nvPr/>
        </p:nvSpPr>
        <p:spPr>
          <a:xfrm>
            <a:off x="9363456" y="3767328"/>
            <a:ext cx="2286000" cy="274320"/>
          </a:xfrm>
          <a:prstGeom prst="rect">
            <a:avLst/>
          </a:prstGeom>
          <a:noFill/>
        </p:spPr>
        <p:txBody>
          <a:bodyPr wrap="square" lIns="0" tIns="0" rIns="0" bIns="0" anchor="t">
            <a:spAutoFit/>
          </a:bodyPr>
          <a:lstStyle/>
          <a:p>
            <a:pPr algn="l"/>
            <a:r>
              <a:rPr sz="850" b="0" i="0">
                <a:solidFill>
                  <a:srgbClr val="A89F93"/>
                </a:solidFill>
                <a:latin typeface="Segoe UI"/>
              </a:rPr>
              <a:t>exact deeplinks, 37-case benchmark</a:t>
            </a:r>
          </a:p>
        </p:txBody>
      </p:sp>
      <p:sp>
        <p:nvSpPr>
          <p:cNvPr id="154" name="TextBox 153"/>
          <p:cNvSpPr txBox="1"/>
          <p:nvPr/>
        </p:nvSpPr>
        <p:spPr>
          <a:xfrm>
            <a:off x="3767328" y="4443984"/>
            <a:ext cx="2286000" cy="502920"/>
          </a:xfrm>
          <a:prstGeom prst="rect">
            <a:avLst/>
          </a:prstGeom>
          <a:noFill/>
        </p:spPr>
        <p:txBody>
          <a:bodyPr wrap="square" lIns="0" tIns="0" rIns="0" bIns="0" anchor="ctr">
            <a:spAutoFit/>
          </a:bodyPr>
          <a:lstStyle/>
          <a:p>
            <a:pPr algn="l"/>
            <a:r>
              <a:rPr sz="2400" b="0" i="0">
                <a:solidFill>
                  <a:srgbClr val="F2B66D"/>
                </a:solidFill>
                <a:latin typeface="Segoe UI Semibold"/>
              </a:rPr>
              <a:t>4 / 20</a:t>
            </a:r>
          </a:p>
        </p:txBody>
      </p:sp>
      <p:sp>
        <p:nvSpPr>
          <p:cNvPr id="155" name="TextBox 154"/>
          <p:cNvSpPr txBox="1"/>
          <p:nvPr/>
        </p:nvSpPr>
        <p:spPr>
          <a:xfrm>
            <a:off x="3767328" y="4946904"/>
            <a:ext cx="2286000" cy="365760"/>
          </a:xfrm>
          <a:prstGeom prst="rect">
            <a:avLst/>
          </a:prstGeom>
          <a:noFill/>
        </p:spPr>
        <p:txBody>
          <a:bodyPr wrap="square" lIns="0" tIns="0" rIns="0" bIns="0" anchor="t">
            <a:spAutoFit/>
          </a:bodyPr>
          <a:lstStyle/>
          <a:p>
            <a:pPr algn="l">
              <a:lnSpc>
                <a:spcPct val="100000"/>
              </a:lnSpc>
            </a:pPr>
            <a:r>
              <a:rPr sz="850" b="0" i="0">
                <a:solidFill>
                  <a:srgbClr val="A89F93"/>
                </a:solidFill>
                <a:latin typeface="Segoe UI"/>
              </a:rPr>
              <a:t>wrong articles answered with no_match</a:t>
            </a:r>
          </a:p>
        </p:txBody>
      </p:sp>
      <p:sp>
        <p:nvSpPr>
          <p:cNvPr id="156" name="TextBox 155"/>
          <p:cNvSpPr txBox="1"/>
          <p:nvPr/>
        </p:nvSpPr>
        <p:spPr>
          <a:xfrm>
            <a:off x="3767328" y="5358383"/>
            <a:ext cx="2286000" cy="502920"/>
          </a:xfrm>
          <a:prstGeom prst="rect">
            <a:avLst/>
          </a:prstGeom>
          <a:noFill/>
        </p:spPr>
        <p:txBody>
          <a:bodyPr wrap="square" lIns="0" tIns="0" rIns="0" bIns="0" anchor="ctr">
            <a:spAutoFit/>
          </a:bodyPr>
          <a:lstStyle/>
          <a:p>
            <a:pPr algn="l"/>
            <a:r>
              <a:rPr sz="2400" b="0" i="0">
                <a:solidFill>
                  <a:srgbClr val="F2B66D"/>
                </a:solidFill>
                <a:latin typeface="Segoe UI Semibold"/>
              </a:rPr>
              <a:t>100%</a:t>
            </a:r>
          </a:p>
        </p:txBody>
      </p:sp>
      <p:sp>
        <p:nvSpPr>
          <p:cNvPr id="157" name="TextBox 156"/>
          <p:cNvSpPr txBox="1"/>
          <p:nvPr/>
        </p:nvSpPr>
        <p:spPr>
          <a:xfrm>
            <a:off x="3767328" y="5861303"/>
            <a:ext cx="2286000" cy="365760"/>
          </a:xfrm>
          <a:prstGeom prst="rect">
            <a:avLst/>
          </a:prstGeom>
          <a:noFill/>
        </p:spPr>
        <p:txBody>
          <a:bodyPr wrap="square" lIns="0" tIns="0" rIns="0" bIns="0" anchor="t">
            <a:spAutoFit/>
          </a:bodyPr>
          <a:lstStyle/>
          <a:p>
            <a:pPr algn="l">
              <a:lnSpc>
                <a:spcPct val="100000"/>
              </a:lnSpc>
            </a:pPr>
            <a:r>
              <a:rPr sz="850" b="0" i="0">
                <a:solidFill>
                  <a:srgbClr val="A89F93"/>
                </a:solidFill>
                <a:latin typeface="Segoe UI"/>
              </a:rPr>
              <a:t>fit decisions match gold</a:t>
            </a:r>
          </a:p>
        </p:txBody>
      </p:sp>
      <p:sp>
        <p:nvSpPr>
          <p:cNvPr id="158" name="TextBox 157"/>
          <p:cNvSpPr txBox="1"/>
          <p:nvPr/>
        </p:nvSpPr>
        <p:spPr>
          <a:xfrm>
            <a:off x="9363456" y="4443984"/>
            <a:ext cx="2286000" cy="502920"/>
          </a:xfrm>
          <a:prstGeom prst="rect">
            <a:avLst/>
          </a:prstGeom>
          <a:noFill/>
        </p:spPr>
        <p:txBody>
          <a:bodyPr wrap="square" lIns="0" tIns="0" rIns="0" bIns="0" anchor="ctr">
            <a:spAutoFit/>
          </a:bodyPr>
          <a:lstStyle/>
          <a:p>
            <a:pPr algn="l"/>
            <a:r>
              <a:rPr sz="2400" b="0" i="0">
                <a:solidFill>
                  <a:srgbClr val="F2B66D"/>
                </a:solidFill>
                <a:latin typeface="Segoe UI Semibold"/>
              </a:rPr>
              <a:t>80%</a:t>
            </a:r>
          </a:p>
        </p:txBody>
      </p:sp>
      <p:sp>
        <p:nvSpPr>
          <p:cNvPr id="159" name="TextBox 158"/>
          <p:cNvSpPr txBox="1"/>
          <p:nvPr/>
        </p:nvSpPr>
        <p:spPr>
          <a:xfrm>
            <a:off x="9363456" y="4946904"/>
            <a:ext cx="2286000" cy="365760"/>
          </a:xfrm>
          <a:prstGeom prst="rect">
            <a:avLst/>
          </a:prstGeom>
          <a:noFill/>
        </p:spPr>
        <p:txBody>
          <a:bodyPr wrap="square" lIns="0" tIns="0" rIns="0" bIns="0" anchor="t">
            <a:spAutoFit/>
          </a:bodyPr>
          <a:lstStyle/>
          <a:p>
            <a:pPr algn="l">
              <a:lnSpc>
                <a:spcPct val="100000"/>
              </a:lnSpc>
            </a:pPr>
            <a:r>
              <a:rPr sz="850" b="0" i="0">
                <a:solidFill>
                  <a:srgbClr val="A89F93"/>
                </a:solidFill>
                <a:latin typeface="Segoe UI"/>
              </a:rPr>
              <a:t>unseen paraphrases hit (frozen test)</a:t>
            </a:r>
          </a:p>
        </p:txBody>
      </p:sp>
      <p:sp>
        <p:nvSpPr>
          <p:cNvPr id="160" name="TextBox 159"/>
          <p:cNvSpPr txBox="1"/>
          <p:nvPr/>
        </p:nvSpPr>
        <p:spPr>
          <a:xfrm>
            <a:off x="9363456" y="5358383"/>
            <a:ext cx="2286000" cy="502920"/>
          </a:xfrm>
          <a:prstGeom prst="rect">
            <a:avLst/>
          </a:prstGeom>
          <a:noFill/>
        </p:spPr>
        <p:txBody>
          <a:bodyPr wrap="square" lIns="0" tIns="0" rIns="0" bIns="0" anchor="ctr">
            <a:spAutoFit/>
          </a:bodyPr>
          <a:lstStyle/>
          <a:p>
            <a:pPr algn="l"/>
            <a:r>
              <a:rPr sz="2400" b="0" i="0">
                <a:solidFill>
                  <a:srgbClr val="F2B66D"/>
                </a:solidFill>
                <a:latin typeface="Segoe UI Semibold"/>
              </a:rPr>
              <a:t>32% → 4.5%</a:t>
            </a:r>
          </a:p>
        </p:txBody>
      </p:sp>
      <p:sp>
        <p:nvSpPr>
          <p:cNvPr id="161" name="TextBox 160"/>
          <p:cNvSpPr txBox="1"/>
          <p:nvPr/>
        </p:nvSpPr>
        <p:spPr>
          <a:xfrm>
            <a:off x="9363456" y="5861303"/>
            <a:ext cx="2286000" cy="365760"/>
          </a:xfrm>
          <a:prstGeom prst="rect">
            <a:avLst/>
          </a:prstGeom>
          <a:noFill/>
        </p:spPr>
        <p:txBody>
          <a:bodyPr wrap="square" lIns="0" tIns="0" rIns="0" bIns="0" anchor="t">
            <a:spAutoFit/>
          </a:bodyPr>
          <a:lstStyle/>
          <a:p>
            <a:pPr algn="l">
              <a:lnSpc>
                <a:spcPct val="100000"/>
              </a:lnSpc>
            </a:pPr>
            <a:r>
              <a:rPr sz="850" b="0" i="0">
                <a:solidFill>
                  <a:srgbClr val="A89F93"/>
                </a:solidFill>
                <a:latin typeface="Segoe UI"/>
              </a:rPr>
              <a:t>false hits vs one global threshold (dev)</a:t>
            </a:r>
          </a:p>
        </p:txBody>
      </p:sp>
      <p:pic>
        <p:nvPicPr>
          <p:cNvPr id="3" name="icon">
            <a:extLst>
              <a:ext uri="{FF2B5EF4-FFF2-40B4-BE49-F238E27FC236}">
                <a16:creationId xmlns:a16="http://schemas.microsoft.com/office/drawing/2014/main" id="{3F1EC3DC-4C71-DBD0-A647-00037E9A6A2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59536" y="2395728"/>
            <a:ext cx="237744" cy="237744"/>
          </a:xfrm>
          <a:prstGeom prst="rect">
            <a:avLst/>
          </a:prstGeom>
        </p:spPr>
      </p:pic>
      <p:pic>
        <p:nvPicPr>
          <p:cNvPr id="5" name="icon">
            <a:extLst>
              <a:ext uri="{FF2B5EF4-FFF2-40B4-BE49-F238E27FC236}">
                <a16:creationId xmlns:a16="http://schemas.microsoft.com/office/drawing/2014/main" id="{27249598-82E8-D074-5C65-7A1FA71E150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5664" y="2395728"/>
            <a:ext cx="237744" cy="237744"/>
          </a:xfrm>
          <a:prstGeom prst="rect">
            <a:avLst/>
          </a:prstGeom>
        </p:spPr>
      </p:pic>
      <p:pic>
        <p:nvPicPr>
          <p:cNvPr id="7" name="icon">
            <a:extLst>
              <a:ext uri="{FF2B5EF4-FFF2-40B4-BE49-F238E27FC236}">
                <a16:creationId xmlns:a16="http://schemas.microsoft.com/office/drawing/2014/main" id="{C0219F65-0DDD-177B-BF18-860724C6582F}"/>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859536" y="4599432"/>
            <a:ext cx="237744" cy="237744"/>
          </a:xfrm>
          <a:prstGeom prst="rect">
            <a:avLst/>
          </a:prstGeom>
        </p:spPr>
      </p:pic>
      <p:pic>
        <p:nvPicPr>
          <p:cNvPr id="9" name="icon">
            <a:extLst>
              <a:ext uri="{FF2B5EF4-FFF2-40B4-BE49-F238E27FC236}">
                <a16:creationId xmlns:a16="http://schemas.microsoft.com/office/drawing/2014/main" id="{790807CB-1FA6-E5FE-A4D8-27DA825AB6CA}"/>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6455664" y="4599432"/>
            <a:ext cx="237744" cy="2377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Picture 118" descr="bg_slide.jpg"/>
          <p:cNvPicPr>
            <a:picLocks noChangeAspect="1"/>
          </p:cNvPicPr>
          <p:nvPr/>
        </p:nvPicPr>
        <p:blipFill>
          <a:blip r:embed="rId3"/>
          <a:stretch>
            <a:fillRect/>
          </a:stretch>
        </p:blipFill>
        <p:spPr>
          <a:xfrm>
            <a:off x="0" y="0"/>
            <a:ext cx="12191695" cy="6858000"/>
          </a:xfrm>
          <a:prstGeom prst="rect">
            <a:avLst/>
          </a:prstGeom>
        </p:spPr>
      </p:pic>
      <p:sp>
        <p:nvSpPr>
          <p:cNvPr id="120" name="Oval 119"/>
          <p:cNvSpPr/>
          <p:nvPr/>
        </p:nvSpPr>
        <p:spPr>
          <a:xfrm>
            <a:off x="566928" y="310896"/>
            <a:ext cx="237744" cy="237744"/>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638251" y="382219"/>
            <a:ext cx="95097" cy="95097"/>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896112" y="274320"/>
            <a:ext cx="1463040" cy="310896"/>
          </a:xfrm>
          <a:prstGeom prst="rect">
            <a:avLst/>
          </a:prstGeom>
          <a:noFill/>
        </p:spPr>
        <p:txBody>
          <a:bodyPr wrap="square" lIns="0" tIns="0" rIns="0" bIns="0" anchor="ctr">
            <a:spAutoFit/>
          </a:bodyPr>
          <a:lstStyle/>
          <a:p>
            <a:pPr algn="l"/>
            <a:r>
              <a:rPr sz="1300" b="0" i="0">
                <a:solidFill>
                  <a:srgbClr val="F5EFE6"/>
                </a:solidFill>
                <a:latin typeface="Segoe UI Semibold"/>
              </a:rPr>
              <a:t>TapTrace</a:t>
            </a:r>
          </a:p>
        </p:txBody>
      </p:sp>
      <p:sp>
        <p:nvSpPr>
          <p:cNvPr id="123" name="Rectangle 122"/>
          <p:cNvSpPr/>
          <p:nvPr/>
        </p:nvSpPr>
        <p:spPr>
          <a:xfrm>
            <a:off x="2048256" y="329184"/>
            <a:ext cx="10972" cy="201168"/>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212848" y="274320"/>
            <a:ext cx="5486400" cy="310896"/>
          </a:xfrm>
          <a:prstGeom prst="rect">
            <a:avLst/>
          </a:prstGeom>
          <a:noFill/>
        </p:spPr>
        <p:txBody>
          <a:bodyPr wrap="square" lIns="0" tIns="0" rIns="0" bIns="0" anchor="ctr">
            <a:spAutoFit/>
          </a:bodyPr>
          <a:lstStyle/>
          <a:p>
            <a:pPr algn="l"/>
            <a:r>
              <a:rPr sz="900" b="0" i="0" spc="250">
                <a:solidFill>
                  <a:srgbClr val="A89F93"/>
                </a:solidFill>
                <a:latin typeface="Segoe UI"/>
              </a:rPr>
              <a:t>04  |  EXTENSION IN RELEVANCE TO SAMSUNG</a:t>
            </a:r>
          </a:p>
        </p:txBody>
      </p:sp>
      <p:sp>
        <p:nvSpPr>
          <p:cNvPr id="125" name="TextBox 124"/>
          <p:cNvSpPr txBox="1"/>
          <p:nvPr/>
        </p:nvSpPr>
        <p:spPr>
          <a:xfrm>
            <a:off x="7223760" y="274320"/>
            <a:ext cx="4398264" cy="310896"/>
          </a:xfrm>
          <a:prstGeom prst="rect">
            <a:avLst/>
          </a:prstGeom>
          <a:noFill/>
        </p:spPr>
        <p:txBody>
          <a:bodyPr wrap="square" lIns="0" tIns="0" rIns="0" bIns="0" anchor="ctr">
            <a:spAutoFit/>
          </a:bodyPr>
          <a:lstStyle/>
          <a:p>
            <a:pPr algn="r"/>
            <a:r>
              <a:rPr sz="850" b="0" i="0" spc="200">
                <a:solidFill>
                  <a:srgbClr val="A89F93"/>
                </a:solidFill>
                <a:latin typeface="Segoe UI"/>
              </a:rPr>
              <a:t>SAMSUNG PRISM  ·  GENAI HACKATHON 3.0  ·  THEME 02</a:t>
            </a:r>
          </a:p>
        </p:txBody>
      </p:sp>
      <p:sp>
        <p:nvSpPr>
          <p:cNvPr id="126" name="TextBox 125"/>
          <p:cNvSpPr txBox="1"/>
          <p:nvPr/>
        </p:nvSpPr>
        <p:spPr>
          <a:xfrm>
            <a:off x="566928" y="822960"/>
            <a:ext cx="8183879" cy="1097280"/>
          </a:xfrm>
          <a:prstGeom prst="rect">
            <a:avLst/>
          </a:prstGeom>
          <a:noFill/>
        </p:spPr>
        <p:txBody>
          <a:bodyPr wrap="square" lIns="0" tIns="0" rIns="0" bIns="0" anchor="t">
            <a:spAutoFit/>
          </a:bodyPr>
          <a:lstStyle/>
          <a:p>
            <a:pPr algn="l">
              <a:lnSpc>
                <a:spcPct val="92000"/>
              </a:lnSpc>
            </a:pPr>
            <a:r>
              <a:rPr sz="2700" b="0" i="0">
                <a:solidFill>
                  <a:srgbClr val="F5EFE6"/>
                </a:solidFill>
                <a:latin typeface="Segoe UI Semibold"/>
              </a:rPr>
              <a:t>The same engine fits </a:t>
            </a:r>
            <a:r>
              <a:rPr sz="2700" b="0" i="0">
                <a:solidFill>
                  <a:srgbClr val="F2B66D"/>
                </a:solidFill>
                <a:latin typeface="Segoe UI Semibold"/>
              </a:rPr>
              <a:t>four Galaxy support touchpoints</a:t>
            </a:r>
            <a:r>
              <a:rPr sz="2700" b="0" i="0">
                <a:solidFill>
                  <a:srgbClr val="F5EFE6"/>
                </a:solidFill>
                <a:latin typeface="Segoe UI Semibold"/>
              </a:rPr>
              <a:t>, from call centre to device.</a:t>
            </a:r>
          </a:p>
        </p:txBody>
      </p:sp>
      <p:sp>
        <p:nvSpPr>
          <p:cNvPr id="127" name="TextBox 126"/>
          <p:cNvSpPr txBox="1"/>
          <p:nvPr/>
        </p:nvSpPr>
        <p:spPr>
          <a:xfrm>
            <a:off x="9006840" y="896112"/>
            <a:ext cx="2615184" cy="1005840"/>
          </a:xfrm>
          <a:prstGeom prst="rect">
            <a:avLst/>
          </a:prstGeom>
          <a:noFill/>
        </p:spPr>
        <p:txBody>
          <a:bodyPr wrap="square" lIns="0" tIns="0" rIns="0" bIns="0" anchor="t">
            <a:spAutoFit/>
          </a:bodyPr>
          <a:lstStyle/>
          <a:p>
            <a:pPr algn="l">
              <a:lnSpc>
                <a:spcPct val="105000"/>
              </a:lnSpc>
            </a:pPr>
            <a:r>
              <a:rPr sz="1100" b="0" i="0">
                <a:solidFill>
                  <a:srgbClr val="D9D2C7"/>
                </a:solidFill>
                <a:latin typeface="Segoe UI"/>
              </a:rPr>
              <a:t>Mapped from the brief’s own inputs: SIIS articles, bixby:// Settings deeplinks and validation probes.</a:t>
            </a:r>
          </a:p>
        </p:txBody>
      </p:sp>
      <p:sp>
        <p:nvSpPr>
          <p:cNvPr id="128" name="TextBox 127"/>
          <p:cNvSpPr txBox="1"/>
          <p:nvPr/>
        </p:nvSpPr>
        <p:spPr>
          <a:xfrm>
            <a:off x="10607040" y="6473952"/>
            <a:ext cx="1014984" cy="228600"/>
          </a:xfrm>
          <a:prstGeom prst="rect">
            <a:avLst/>
          </a:prstGeom>
          <a:noFill/>
        </p:spPr>
        <p:txBody>
          <a:bodyPr wrap="square" lIns="0" tIns="0" rIns="0" bIns="0" anchor="t">
            <a:spAutoFit/>
          </a:bodyPr>
          <a:lstStyle/>
          <a:p>
            <a:pPr algn="r"/>
            <a:r>
              <a:rPr sz="800" b="0" i="0">
                <a:solidFill>
                  <a:srgbClr val="8A8176"/>
                </a:solidFill>
                <a:latin typeface="Segoe UI"/>
              </a:rPr>
              <a:t>05 / 8</a:t>
            </a:r>
          </a:p>
        </p:txBody>
      </p:sp>
      <p:sp>
        <p:nvSpPr>
          <p:cNvPr id="129" name="TextBox 128"/>
          <p:cNvSpPr txBox="1"/>
          <p:nvPr/>
        </p:nvSpPr>
        <p:spPr>
          <a:xfrm>
            <a:off x="566928" y="6473952"/>
            <a:ext cx="5486400" cy="228600"/>
          </a:xfrm>
          <a:prstGeom prst="rect">
            <a:avLst/>
          </a:prstGeom>
          <a:noFill/>
        </p:spPr>
        <p:txBody>
          <a:bodyPr wrap="square" lIns="0" tIns="0" rIns="0" bIns="0" anchor="t">
            <a:spAutoFit/>
          </a:bodyPr>
          <a:lstStyle/>
          <a:p>
            <a:pPr algn="l"/>
            <a:r>
              <a:rPr sz="750" b="0" i="0" spc="150">
                <a:solidFill>
                  <a:srgbClr val="8A8176"/>
                </a:solidFill>
                <a:latin typeface="Segoe UI"/>
              </a:rPr>
              <a:t>TIET  ·  TAPTRACE  ·  THEME 02 SMART GUIDED TROUBLESHOOTING</a:t>
            </a:r>
          </a:p>
        </p:txBody>
      </p:sp>
      <p:sp>
        <p:nvSpPr>
          <p:cNvPr id="130" name="Rounded Rectangle 129"/>
          <p:cNvSpPr/>
          <p:nvPr/>
        </p:nvSpPr>
        <p:spPr>
          <a:xfrm>
            <a:off x="566928" y="2103120"/>
            <a:ext cx="2660904" cy="324612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ounded Rectangle 130"/>
          <p:cNvSpPr/>
          <p:nvPr/>
        </p:nvSpPr>
        <p:spPr>
          <a:xfrm>
            <a:off x="749808" y="2286000"/>
            <a:ext cx="512064" cy="512064"/>
          </a:xfrm>
          <a:prstGeom prst="roundRect">
            <a:avLst>
              <a:gd name="adj" fmla="val 28000"/>
            </a:avLst>
          </a:prstGeom>
          <a:solidFill>
            <a:srgbClr val="9DBFE3">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749808" y="2926080"/>
            <a:ext cx="2295144" cy="566928"/>
          </a:xfrm>
          <a:prstGeom prst="rect">
            <a:avLst/>
          </a:prstGeom>
          <a:noFill/>
        </p:spPr>
        <p:txBody>
          <a:bodyPr wrap="square" lIns="0" tIns="0" rIns="0" bIns="0" anchor="t">
            <a:spAutoFit/>
          </a:bodyPr>
          <a:lstStyle/>
          <a:p>
            <a:pPr algn="l"/>
            <a:r>
              <a:rPr sz="1350" b="0" i="0">
                <a:solidFill>
                  <a:srgbClr val="F5EFE6"/>
                </a:solidFill>
                <a:latin typeface="Segoe UI Semibold"/>
              </a:rPr>
              <a:t>Customer-care agents</a:t>
            </a:r>
          </a:p>
          <a:p>
            <a:pPr algn="l"/>
            <a:r>
              <a:rPr sz="900" b="0" i="0">
                <a:solidFill>
                  <a:srgbClr val="9DBFE3"/>
                </a:solidFill>
                <a:latin typeface="Segoe UI"/>
              </a:rPr>
              <a:t>SIIS knowledge base</a:t>
            </a:r>
          </a:p>
        </p:txBody>
      </p:sp>
      <p:sp>
        <p:nvSpPr>
          <p:cNvPr id="134" name="TextBox 133"/>
          <p:cNvSpPr txBox="1"/>
          <p:nvPr/>
        </p:nvSpPr>
        <p:spPr>
          <a:xfrm>
            <a:off x="749808" y="3584448"/>
            <a:ext cx="2295144" cy="822960"/>
          </a:xfrm>
          <a:prstGeom prst="rect">
            <a:avLst/>
          </a:prstGeom>
          <a:noFill/>
        </p:spPr>
        <p:txBody>
          <a:bodyPr wrap="square" lIns="0" tIns="0" rIns="0" bIns="0" anchor="t">
            <a:spAutoFit/>
          </a:bodyPr>
          <a:lstStyle/>
          <a:p>
            <a:pPr algn="l">
              <a:lnSpc>
                <a:spcPct val="108000"/>
              </a:lnSpc>
            </a:pPr>
            <a:r>
              <a:rPr sz="950" b="0" i="0">
                <a:solidFill>
                  <a:srgbClr val="D9D2C7"/>
                </a:solidFill>
                <a:latin typeface="Segoe UI"/>
              </a:rPr>
              <a:t>The agent pastes the complaint and gets an ordered plan, each step highlighted in the internal article.</a:t>
            </a:r>
          </a:p>
        </p:txBody>
      </p:sp>
      <p:sp>
        <p:nvSpPr>
          <p:cNvPr id="135" name="Rounded Rectangle 134"/>
          <p:cNvSpPr/>
          <p:nvPr/>
        </p:nvSpPr>
        <p:spPr>
          <a:xfrm>
            <a:off x="749808" y="4279392"/>
            <a:ext cx="2295144" cy="329184"/>
          </a:xfrm>
          <a:prstGeom prst="roundRect">
            <a:avLst>
              <a:gd name="adj" fmla="val 30000"/>
            </a:avLst>
          </a:prstGeom>
          <a:solidFill>
            <a:srgbClr val="000000">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0" i="0">
                <a:solidFill>
                  <a:srgbClr val="A89F93"/>
                </a:solidFill>
                <a:latin typeface="Consolas"/>
              </a:rPr>
              <a:t>complaint + article → plan + evidence</a:t>
            </a:r>
          </a:p>
        </p:txBody>
      </p:sp>
      <p:sp>
        <p:nvSpPr>
          <p:cNvPr id="136" name="Rounded Rectangle 135"/>
          <p:cNvSpPr/>
          <p:nvPr/>
        </p:nvSpPr>
        <p:spPr>
          <a:xfrm>
            <a:off x="749808" y="4709160"/>
            <a:ext cx="2295144" cy="457200"/>
          </a:xfrm>
          <a:prstGeom prst="roundRect">
            <a:avLst>
              <a:gd name="adj" fmla="val 30000"/>
            </a:avLst>
          </a:prstGeom>
          <a:solidFill>
            <a:srgbClr val="9DBFE3">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50" b="0" i="0">
                <a:solidFill>
                  <a:srgbClr val="9DBFE3"/>
                </a:solidFill>
                <a:latin typeface="Segoe UI Semibold"/>
              </a:rPr>
              <a:t>~15 min of manual triage → 1.3 s (P50)</a:t>
            </a:r>
          </a:p>
        </p:txBody>
      </p:sp>
      <p:sp>
        <p:nvSpPr>
          <p:cNvPr id="137" name="Rounded Rectangle 136"/>
          <p:cNvSpPr/>
          <p:nvPr/>
        </p:nvSpPr>
        <p:spPr>
          <a:xfrm>
            <a:off x="3364992" y="2103120"/>
            <a:ext cx="2660904" cy="324612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ounded Rectangle 137"/>
          <p:cNvSpPr/>
          <p:nvPr/>
        </p:nvSpPr>
        <p:spPr>
          <a:xfrm>
            <a:off x="3547872" y="2286000"/>
            <a:ext cx="512064" cy="512064"/>
          </a:xfrm>
          <a:prstGeom prst="roundRect">
            <a:avLst>
              <a:gd name="adj" fmla="val 28000"/>
            </a:avLst>
          </a:prstGeom>
          <a:solidFill>
            <a:srgbClr val="F2B66D">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3547872" y="2926080"/>
            <a:ext cx="2295144" cy="566928"/>
          </a:xfrm>
          <a:prstGeom prst="rect">
            <a:avLst/>
          </a:prstGeom>
          <a:noFill/>
        </p:spPr>
        <p:txBody>
          <a:bodyPr wrap="square" lIns="0" tIns="0" rIns="0" bIns="0" anchor="t">
            <a:spAutoFit/>
          </a:bodyPr>
          <a:lstStyle/>
          <a:p>
            <a:pPr algn="l"/>
            <a:r>
              <a:rPr sz="1350" b="0" i="0">
                <a:solidFill>
                  <a:srgbClr val="F5EFE6"/>
                </a:solidFill>
                <a:latin typeface="Segoe UI Semibold"/>
              </a:rPr>
              <a:t>Samsung Members</a:t>
            </a:r>
          </a:p>
          <a:p>
            <a:pPr algn="l"/>
            <a:r>
              <a:rPr sz="900" b="0" i="0">
                <a:solidFill>
                  <a:srgbClr val="F2B66D"/>
                </a:solidFill>
                <a:latin typeface="Segoe UI"/>
              </a:rPr>
              <a:t>self-service help</a:t>
            </a:r>
          </a:p>
        </p:txBody>
      </p:sp>
      <p:sp>
        <p:nvSpPr>
          <p:cNvPr id="141" name="TextBox 140"/>
          <p:cNvSpPr txBox="1"/>
          <p:nvPr/>
        </p:nvSpPr>
        <p:spPr>
          <a:xfrm>
            <a:off x="3547872" y="3584448"/>
            <a:ext cx="2295144" cy="822960"/>
          </a:xfrm>
          <a:prstGeom prst="rect">
            <a:avLst/>
          </a:prstGeom>
          <a:noFill/>
        </p:spPr>
        <p:txBody>
          <a:bodyPr wrap="square" lIns="0" tIns="0" rIns="0" bIns="0" anchor="t">
            <a:spAutoFit/>
          </a:bodyPr>
          <a:lstStyle/>
          <a:p>
            <a:pPr algn="l">
              <a:lnSpc>
                <a:spcPct val="108000"/>
              </a:lnSpc>
            </a:pPr>
            <a:r>
              <a:rPr sz="950" b="0" i="0">
                <a:solidFill>
                  <a:srgbClr val="D9D2C7"/>
                </a:solidFill>
                <a:latin typeface="Segoe UI"/>
              </a:rPr>
              <a:t>The user describes the problem in the app and gets one-tap fixes; the validation probe confirms each one.</a:t>
            </a:r>
          </a:p>
        </p:txBody>
      </p:sp>
      <p:sp>
        <p:nvSpPr>
          <p:cNvPr id="142" name="Rounded Rectangle 141"/>
          <p:cNvSpPr/>
          <p:nvPr/>
        </p:nvSpPr>
        <p:spPr>
          <a:xfrm>
            <a:off x="3547872" y="4279392"/>
            <a:ext cx="2295144" cy="329184"/>
          </a:xfrm>
          <a:prstGeom prst="roundRect">
            <a:avLst>
              <a:gd name="adj" fmla="val 30000"/>
            </a:avLst>
          </a:prstGeom>
          <a:solidFill>
            <a:srgbClr val="000000">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0" i="0">
                <a:solidFill>
                  <a:srgbClr val="A89F93"/>
                </a:solidFill>
                <a:latin typeface="Consolas"/>
              </a:rPr>
              <a:t>complaint → one tap → probe ✓</a:t>
            </a:r>
          </a:p>
        </p:txBody>
      </p:sp>
      <p:sp>
        <p:nvSpPr>
          <p:cNvPr id="143" name="Rounded Rectangle 142"/>
          <p:cNvSpPr/>
          <p:nvPr/>
        </p:nvSpPr>
        <p:spPr>
          <a:xfrm>
            <a:off x="3547872" y="4709160"/>
            <a:ext cx="2295144" cy="457200"/>
          </a:xfrm>
          <a:prstGeom prst="roundRect">
            <a:avLst>
              <a:gd name="adj" fmla="val 30000"/>
            </a:avLst>
          </a:prstGeom>
          <a:solidFill>
            <a:srgbClr val="F2B66D">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50" b="0" i="0">
                <a:solidFill>
                  <a:srgbClr val="F2B66D"/>
                </a:solidFill>
                <a:latin typeface="Segoe UI Semibold"/>
              </a:rPr>
              <a:t>No more hunting through Settings</a:t>
            </a:r>
          </a:p>
        </p:txBody>
      </p:sp>
      <p:sp>
        <p:nvSpPr>
          <p:cNvPr id="144" name="Rounded Rectangle 143"/>
          <p:cNvSpPr/>
          <p:nvPr/>
        </p:nvSpPr>
        <p:spPr>
          <a:xfrm>
            <a:off x="6163056" y="2103120"/>
            <a:ext cx="2660904" cy="324612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ounded Rectangle 144"/>
          <p:cNvSpPr/>
          <p:nvPr/>
        </p:nvSpPr>
        <p:spPr>
          <a:xfrm>
            <a:off x="6345936" y="2286000"/>
            <a:ext cx="512064" cy="512064"/>
          </a:xfrm>
          <a:prstGeom prst="roundRect">
            <a:avLst>
              <a:gd name="adj" fmla="val 28000"/>
            </a:avLst>
          </a:prstGeom>
          <a:solidFill>
            <a:srgbClr val="93CDB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6345936" y="2926080"/>
            <a:ext cx="2295144" cy="566928"/>
          </a:xfrm>
          <a:prstGeom prst="rect">
            <a:avLst/>
          </a:prstGeom>
          <a:noFill/>
        </p:spPr>
        <p:txBody>
          <a:bodyPr wrap="square" lIns="0" tIns="0" rIns="0" bIns="0" anchor="t">
            <a:spAutoFit/>
          </a:bodyPr>
          <a:lstStyle/>
          <a:p>
            <a:pPr algn="l"/>
            <a:r>
              <a:rPr sz="1350" b="0" i="0">
                <a:solidFill>
                  <a:srgbClr val="F5EFE6"/>
                </a:solidFill>
                <a:latin typeface="Segoe UI Semibold"/>
              </a:rPr>
              <a:t>Bixby voice</a:t>
            </a:r>
          </a:p>
          <a:p>
            <a:pPr algn="l"/>
            <a:r>
              <a:rPr sz="900" b="0" i="0">
                <a:solidFill>
                  <a:srgbClr val="93CDB9"/>
                </a:solidFill>
                <a:latin typeface="Segoe UI"/>
              </a:rPr>
              <a:t>spoken complaints</a:t>
            </a:r>
          </a:p>
        </p:txBody>
      </p:sp>
      <p:sp>
        <p:nvSpPr>
          <p:cNvPr id="148" name="TextBox 147"/>
          <p:cNvSpPr txBox="1"/>
          <p:nvPr/>
        </p:nvSpPr>
        <p:spPr>
          <a:xfrm>
            <a:off x="6345936" y="3584448"/>
            <a:ext cx="2295144" cy="822960"/>
          </a:xfrm>
          <a:prstGeom prst="rect">
            <a:avLst/>
          </a:prstGeom>
          <a:noFill/>
        </p:spPr>
        <p:txBody>
          <a:bodyPr wrap="square" lIns="0" tIns="0" rIns="0" bIns="0" anchor="t">
            <a:spAutoFit/>
          </a:bodyPr>
          <a:lstStyle/>
          <a:p>
            <a:pPr algn="l">
              <a:lnSpc>
                <a:spcPct val="108000"/>
              </a:lnSpc>
            </a:pPr>
            <a:r>
              <a:rPr sz="950" b="0" i="0">
                <a:solidFill>
                  <a:srgbClr val="D9D2C7"/>
                </a:solidFill>
                <a:latin typeface="Segoe UI"/>
              </a:rPr>
              <a:t>“My touch is laggy” becomes a plan, and Bixby opens the exact screen through the same deeplink scheme.</a:t>
            </a:r>
          </a:p>
        </p:txBody>
      </p:sp>
      <p:sp>
        <p:nvSpPr>
          <p:cNvPr id="149" name="Rounded Rectangle 148"/>
          <p:cNvSpPr/>
          <p:nvPr/>
        </p:nvSpPr>
        <p:spPr>
          <a:xfrm>
            <a:off x="6345936" y="4279392"/>
            <a:ext cx="2295144" cy="329184"/>
          </a:xfrm>
          <a:prstGeom prst="roundRect">
            <a:avLst>
              <a:gd name="adj" fmla="val 30000"/>
            </a:avLst>
          </a:prstGeom>
          <a:solidFill>
            <a:srgbClr val="000000">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0" i="0">
                <a:solidFill>
                  <a:srgbClr val="A89F93"/>
                </a:solidFill>
                <a:latin typeface="Consolas"/>
              </a:rPr>
              <a:t>speech → text → plan → deeplink</a:t>
            </a:r>
          </a:p>
        </p:txBody>
      </p:sp>
      <p:sp>
        <p:nvSpPr>
          <p:cNvPr id="150" name="Rounded Rectangle 149"/>
          <p:cNvSpPr/>
          <p:nvPr/>
        </p:nvSpPr>
        <p:spPr>
          <a:xfrm>
            <a:off x="6345936" y="4709160"/>
            <a:ext cx="2295144" cy="457200"/>
          </a:xfrm>
          <a:prstGeom prst="roundRect">
            <a:avLst>
              <a:gd name="adj" fmla="val 30000"/>
            </a:avLst>
          </a:prstGeom>
          <a:solidFill>
            <a:srgbClr val="93CDB9">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50" b="0" i="0">
                <a:solidFill>
                  <a:srgbClr val="93CDB9"/>
                </a:solidFill>
                <a:latin typeface="Segoe UI Semibold"/>
              </a:rPr>
              <a:t>Voice in, verified tap out</a:t>
            </a:r>
          </a:p>
        </p:txBody>
      </p:sp>
      <p:sp>
        <p:nvSpPr>
          <p:cNvPr id="151" name="Rounded Rectangle 150"/>
          <p:cNvSpPr/>
          <p:nvPr/>
        </p:nvSpPr>
        <p:spPr>
          <a:xfrm>
            <a:off x="8961119" y="2103120"/>
            <a:ext cx="2660904" cy="324612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ounded Rectangle 151"/>
          <p:cNvSpPr/>
          <p:nvPr/>
        </p:nvSpPr>
        <p:spPr>
          <a:xfrm>
            <a:off x="9143999" y="2286000"/>
            <a:ext cx="512064" cy="512064"/>
          </a:xfrm>
          <a:prstGeom prst="roundRect">
            <a:avLst>
              <a:gd name="adj" fmla="val 28000"/>
            </a:avLst>
          </a:prstGeom>
          <a:solidFill>
            <a:srgbClr val="EE9A7E">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9143999" y="2926080"/>
            <a:ext cx="2295144" cy="566928"/>
          </a:xfrm>
          <a:prstGeom prst="rect">
            <a:avLst/>
          </a:prstGeom>
          <a:noFill/>
        </p:spPr>
        <p:txBody>
          <a:bodyPr wrap="square" lIns="0" tIns="0" rIns="0" bIns="0" anchor="t">
            <a:spAutoFit/>
          </a:bodyPr>
          <a:lstStyle/>
          <a:p>
            <a:pPr algn="l"/>
            <a:r>
              <a:rPr sz="1350" b="0" i="0">
                <a:solidFill>
                  <a:srgbClr val="F5EFE6"/>
                </a:solidFill>
                <a:latin typeface="Segoe UI Semibold"/>
              </a:rPr>
              <a:t>On-device worklet</a:t>
            </a:r>
          </a:p>
          <a:p>
            <a:pPr algn="l"/>
            <a:r>
              <a:rPr sz="900" b="0" i="0">
                <a:solidFill>
                  <a:srgbClr val="EE9A7E"/>
                </a:solidFill>
                <a:latin typeface="Segoe UI"/>
              </a:rPr>
              <a:t>Galaxy offline support</a:t>
            </a:r>
          </a:p>
        </p:txBody>
      </p:sp>
      <p:sp>
        <p:nvSpPr>
          <p:cNvPr id="155" name="TextBox 154"/>
          <p:cNvSpPr txBox="1"/>
          <p:nvPr/>
        </p:nvSpPr>
        <p:spPr>
          <a:xfrm>
            <a:off x="9143999" y="3584448"/>
            <a:ext cx="2295144" cy="822960"/>
          </a:xfrm>
          <a:prstGeom prst="rect">
            <a:avLst/>
          </a:prstGeom>
          <a:noFill/>
        </p:spPr>
        <p:txBody>
          <a:bodyPr wrap="square" lIns="0" tIns="0" rIns="0" bIns="0" anchor="t">
            <a:spAutoFit/>
          </a:bodyPr>
          <a:lstStyle/>
          <a:p>
            <a:pPr algn="l">
              <a:lnSpc>
                <a:spcPct val="108000"/>
              </a:lnSpc>
            </a:pPr>
            <a:r>
              <a:rPr sz="950" b="0" i="0">
                <a:solidFill>
                  <a:srgbClr val="D9D2C7"/>
                </a:solidFill>
                <a:latin typeface="Segoe UI"/>
              </a:rPr>
              <a:t>The 23 MB INT8 embedder, compiled catalog and cache run on CPU in about 150 MB of RAM.</a:t>
            </a:r>
          </a:p>
        </p:txBody>
      </p:sp>
      <p:sp>
        <p:nvSpPr>
          <p:cNvPr id="156" name="Rounded Rectangle 155"/>
          <p:cNvSpPr/>
          <p:nvPr/>
        </p:nvSpPr>
        <p:spPr>
          <a:xfrm>
            <a:off x="9143999" y="4279392"/>
            <a:ext cx="2295144" cy="329184"/>
          </a:xfrm>
          <a:prstGeom prst="roundRect">
            <a:avLst>
              <a:gd name="adj" fmla="val 30000"/>
            </a:avLst>
          </a:prstGeom>
          <a:solidFill>
            <a:srgbClr val="000000">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r>
              <a:rPr sz="750" b="0" i="0">
                <a:solidFill>
                  <a:srgbClr val="A89F93"/>
                </a:solidFill>
                <a:latin typeface="Consolas"/>
              </a:rPr>
              <a:t>cache on device; LLM only for new</a:t>
            </a:r>
          </a:p>
        </p:txBody>
      </p:sp>
      <p:sp>
        <p:nvSpPr>
          <p:cNvPr id="157" name="Rounded Rectangle 156"/>
          <p:cNvSpPr/>
          <p:nvPr/>
        </p:nvSpPr>
        <p:spPr>
          <a:xfrm>
            <a:off x="9143999" y="4709160"/>
            <a:ext cx="2295144" cy="457200"/>
          </a:xfrm>
          <a:prstGeom prst="roundRect">
            <a:avLst>
              <a:gd name="adj" fmla="val 30000"/>
            </a:avLst>
          </a:prstGeom>
          <a:solidFill>
            <a:srgbClr val="EE9A7E">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50" b="0" i="0">
                <a:solidFill>
                  <a:srgbClr val="EE9A7E"/>
                </a:solidFill>
                <a:latin typeface="Segoe UI Semibold"/>
              </a:rPr>
              <a:t>Known issues answered offline</a:t>
            </a:r>
          </a:p>
        </p:txBody>
      </p:sp>
      <p:sp>
        <p:nvSpPr>
          <p:cNvPr id="158" name="Rounded Rectangle 157"/>
          <p:cNvSpPr/>
          <p:nvPr/>
        </p:nvSpPr>
        <p:spPr>
          <a:xfrm>
            <a:off x="566928" y="5532120"/>
            <a:ext cx="11055096" cy="822960"/>
          </a:xfrm>
          <a:prstGeom prst="roundRect">
            <a:avLst>
              <a:gd name="adj" fmla="val 6000"/>
            </a:avLst>
          </a:prstGeom>
          <a:solidFill>
            <a:srgbClr val="000000">
              <a:alpha val="260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1298448" y="5532120"/>
            <a:ext cx="10140696" cy="822960"/>
          </a:xfrm>
          <a:prstGeom prst="rect">
            <a:avLst/>
          </a:prstGeom>
          <a:noFill/>
        </p:spPr>
        <p:txBody>
          <a:bodyPr wrap="square" lIns="0" tIns="0" rIns="0" bIns="0" anchor="ctr">
            <a:spAutoFit/>
          </a:bodyPr>
          <a:lstStyle/>
          <a:p>
            <a:pPr algn="l">
              <a:lnSpc>
                <a:spcPct val="105000"/>
              </a:lnSpc>
            </a:pPr>
            <a:r>
              <a:rPr sz="1050" b="0" i="0">
                <a:solidFill>
                  <a:srgbClr val="F2B66D"/>
                </a:solidFill>
                <a:latin typeface="Segoe UI Semibold"/>
              </a:rPr>
              <a:t>Why it transfers: </a:t>
            </a:r>
            <a:r>
              <a:rPr sz="1050" b="0" i="0">
                <a:solidFill>
                  <a:srgbClr val="D9D2C7"/>
                </a:solidFill>
                <a:latin typeface="Segoe UI"/>
              </a:rPr>
              <a:t>the deeplink scheme, brand names and article format are configuration, not code (the provided data is masked as TechCorp / Nexa and voiceassist://). Next step: use validation-probe results as feedback on which fixes really work.</a:t>
            </a:r>
          </a:p>
        </p:txBody>
      </p:sp>
      <p:pic>
        <p:nvPicPr>
          <p:cNvPr id="3" name="icon">
            <a:extLst>
              <a:ext uri="{FF2B5EF4-FFF2-40B4-BE49-F238E27FC236}">
                <a16:creationId xmlns:a16="http://schemas.microsoft.com/office/drawing/2014/main" id="{9B09E9AA-99A1-E3B0-15BD-E65438DCBCD2}"/>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72703" y="2408895"/>
            <a:ext cx="266273" cy="266273"/>
          </a:xfrm>
          <a:prstGeom prst="rect">
            <a:avLst/>
          </a:prstGeom>
        </p:spPr>
      </p:pic>
      <p:pic>
        <p:nvPicPr>
          <p:cNvPr id="5" name="icon">
            <a:extLst>
              <a:ext uri="{FF2B5EF4-FFF2-40B4-BE49-F238E27FC236}">
                <a16:creationId xmlns:a16="http://schemas.microsoft.com/office/drawing/2014/main" id="{99966879-33C3-0AD4-9582-3ED5CB47B35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670767" y="2408895"/>
            <a:ext cx="266273" cy="266273"/>
          </a:xfrm>
          <a:prstGeom prst="rect">
            <a:avLst/>
          </a:prstGeom>
        </p:spPr>
      </p:pic>
      <p:pic>
        <p:nvPicPr>
          <p:cNvPr id="7" name="icon">
            <a:extLst>
              <a:ext uri="{FF2B5EF4-FFF2-40B4-BE49-F238E27FC236}">
                <a16:creationId xmlns:a16="http://schemas.microsoft.com/office/drawing/2014/main" id="{CC61C879-226A-E8C9-EC1D-EB53F76AC81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68831" y="2408895"/>
            <a:ext cx="266273" cy="266273"/>
          </a:xfrm>
          <a:prstGeom prst="rect">
            <a:avLst/>
          </a:prstGeom>
        </p:spPr>
      </p:pic>
      <p:pic>
        <p:nvPicPr>
          <p:cNvPr id="9" name="icon">
            <a:extLst>
              <a:ext uri="{FF2B5EF4-FFF2-40B4-BE49-F238E27FC236}">
                <a16:creationId xmlns:a16="http://schemas.microsoft.com/office/drawing/2014/main" id="{330AB35A-6976-AD85-79ED-F237087643AC}"/>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9266895" y="2408895"/>
            <a:ext cx="266273" cy="266273"/>
          </a:xfrm>
          <a:prstGeom prst="rect">
            <a:avLst/>
          </a:prstGeom>
        </p:spPr>
      </p:pic>
      <p:pic>
        <p:nvPicPr>
          <p:cNvPr id="11" name="icon">
            <a:extLst>
              <a:ext uri="{FF2B5EF4-FFF2-40B4-BE49-F238E27FC236}">
                <a16:creationId xmlns:a16="http://schemas.microsoft.com/office/drawing/2014/main" id="{90D954CC-B54B-A600-3202-3B0FACFBA866}"/>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795528" y="5760720"/>
            <a:ext cx="329184" cy="3291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Picture 124" descr="bg_slide.jpg"/>
          <p:cNvPicPr>
            <a:picLocks noChangeAspect="1"/>
          </p:cNvPicPr>
          <p:nvPr/>
        </p:nvPicPr>
        <p:blipFill>
          <a:blip r:embed="rId3"/>
          <a:stretch>
            <a:fillRect/>
          </a:stretch>
        </p:blipFill>
        <p:spPr>
          <a:xfrm>
            <a:off x="0" y="0"/>
            <a:ext cx="12191695" cy="6858000"/>
          </a:xfrm>
          <a:prstGeom prst="rect">
            <a:avLst/>
          </a:prstGeom>
        </p:spPr>
      </p:pic>
      <p:sp>
        <p:nvSpPr>
          <p:cNvPr id="126" name="Oval 125"/>
          <p:cNvSpPr/>
          <p:nvPr/>
        </p:nvSpPr>
        <p:spPr>
          <a:xfrm>
            <a:off x="566928" y="310896"/>
            <a:ext cx="237744" cy="237744"/>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638251" y="382219"/>
            <a:ext cx="95097" cy="95097"/>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896112" y="274320"/>
            <a:ext cx="1463040" cy="310896"/>
          </a:xfrm>
          <a:prstGeom prst="rect">
            <a:avLst/>
          </a:prstGeom>
          <a:noFill/>
        </p:spPr>
        <p:txBody>
          <a:bodyPr wrap="square" lIns="0" tIns="0" rIns="0" bIns="0" anchor="ctr">
            <a:spAutoFit/>
          </a:bodyPr>
          <a:lstStyle/>
          <a:p>
            <a:pPr algn="l"/>
            <a:r>
              <a:rPr sz="1300" b="0" i="0">
                <a:solidFill>
                  <a:srgbClr val="F5EFE6"/>
                </a:solidFill>
                <a:latin typeface="Segoe UI Semibold"/>
              </a:rPr>
              <a:t>TapTrace</a:t>
            </a:r>
          </a:p>
        </p:txBody>
      </p:sp>
      <p:sp>
        <p:nvSpPr>
          <p:cNvPr id="129" name="Rectangle 128"/>
          <p:cNvSpPr/>
          <p:nvPr/>
        </p:nvSpPr>
        <p:spPr>
          <a:xfrm>
            <a:off x="2048256" y="329184"/>
            <a:ext cx="10972" cy="201168"/>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2212848" y="274320"/>
            <a:ext cx="5486400" cy="310896"/>
          </a:xfrm>
          <a:prstGeom prst="rect">
            <a:avLst/>
          </a:prstGeom>
          <a:noFill/>
        </p:spPr>
        <p:txBody>
          <a:bodyPr wrap="square" lIns="0" tIns="0" rIns="0" bIns="0" anchor="ctr">
            <a:spAutoFit/>
          </a:bodyPr>
          <a:lstStyle/>
          <a:p>
            <a:pPr algn="l"/>
            <a:r>
              <a:rPr sz="900" b="0" i="0" spc="250">
                <a:solidFill>
                  <a:srgbClr val="A89F93"/>
                </a:solidFill>
                <a:latin typeface="Segoe UI"/>
              </a:rPr>
              <a:t>05  |  SCALABILITY TO NEW USE CASES</a:t>
            </a:r>
          </a:p>
        </p:txBody>
      </p:sp>
      <p:sp>
        <p:nvSpPr>
          <p:cNvPr id="131" name="TextBox 130"/>
          <p:cNvSpPr txBox="1"/>
          <p:nvPr/>
        </p:nvSpPr>
        <p:spPr>
          <a:xfrm>
            <a:off x="7223760" y="274320"/>
            <a:ext cx="4398264" cy="310896"/>
          </a:xfrm>
          <a:prstGeom prst="rect">
            <a:avLst/>
          </a:prstGeom>
          <a:noFill/>
        </p:spPr>
        <p:txBody>
          <a:bodyPr wrap="square" lIns="0" tIns="0" rIns="0" bIns="0" anchor="ctr">
            <a:spAutoFit/>
          </a:bodyPr>
          <a:lstStyle/>
          <a:p>
            <a:pPr algn="r"/>
            <a:r>
              <a:rPr sz="850" b="0" i="0" spc="200">
                <a:solidFill>
                  <a:srgbClr val="A89F93"/>
                </a:solidFill>
                <a:latin typeface="Segoe UI"/>
              </a:rPr>
              <a:t>SAMSUNG PRISM  ·  GENAI HACKATHON 3.0  ·  THEME 02</a:t>
            </a:r>
          </a:p>
        </p:txBody>
      </p:sp>
      <p:sp>
        <p:nvSpPr>
          <p:cNvPr id="132" name="TextBox 131"/>
          <p:cNvSpPr txBox="1"/>
          <p:nvPr/>
        </p:nvSpPr>
        <p:spPr>
          <a:xfrm>
            <a:off x="566928" y="822960"/>
            <a:ext cx="8183879" cy="1097280"/>
          </a:xfrm>
          <a:prstGeom prst="rect">
            <a:avLst/>
          </a:prstGeom>
          <a:noFill/>
        </p:spPr>
        <p:txBody>
          <a:bodyPr wrap="square" lIns="0" tIns="0" rIns="0" bIns="0" anchor="t">
            <a:spAutoFit/>
          </a:bodyPr>
          <a:lstStyle/>
          <a:p>
            <a:pPr algn="l">
              <a:lnSpc>
                <a:spcPct val="92000"/>
              </a:lnSpc>
            </a:pPr>
            <a:r>
              <a:rPr sz="2700" b="0" i="0">
                <a:solidFill>
                  <a:srgbClr val="F5EFE6"/>
                </a:solidFill>
                <a:latin typeface="Segoe UI Semibold"/>
              </a:rPr>
              <a:t>Covering a new scenario takes a knowledge article, </a:t>
            </a:r>
            <a:r>
              <a:rPr sz="2700" b="0" i="0">
                <a:solidFill>
                  <a:srgbClr val="F2B66D"/>
                </a:solidFill>
                <a:latin typeface="Segoe UI Semibold"/>
              </a:rPr>
              <a:t>not new code</a:t>
            </a:r>
            <a:r>
              <a:rPr sz="2700" b="0" i="0">
                <a:solidFill>
                  <a:srgbClr val="F5EFE6"/>
                </a:solidFill>
                <a:latin typeface="Segoe UI Semibold"/>
              </a:rPr>
              <a:t>.</a:t>
            </a:r>
          </a:p>
        </p:txBody>
      </p:sp>
      <p:sp>
        <p:nvSpPr>
          <p:cNvPr id="133" name="TextBox 132"/>
          <p:cNvSpPr txBox="1"/>
          <p:nvPr/>
        </p:nvSpPr>
        <p:spPr>
          <a:xfrm>
            <a:off x="9006840" y="896112"/>
            <a:ext cx="2615184" cy="1005840"/>
          </a:xfrm>
          <a:prstGeom prst="rect">
            <a:avLst/>
          </a:prstGeom>
          <a:noFill/>
        </p:spPr>
        <p:txBody>
          <a:bodyPr wrap="square" lIns="0" tIns="0" rIns="0" bIns="0" anchor="t">
            <a:spAutoFit/>
          </a:bodyPr>
          <a:lstStyle/>
          <a:p>
            <a:pPr algn="l">
              <a:lnSpc>
                <a:spcPct val="105000"/>
              </a:lnSpc>
            </a:pPr>
            <a:r>
              <a:rPr sz="1100" b="0" i="0">
                <a:solidFill>
                  <a:srgbClr val="D9D2C7"/>
                </a:solidFill>
                <a:latin typeface="Segoe UI"/>
              </a:rPr>
              <a:t>Never-seen Battery, Camera, Performance and Wi-Fi articles ran through the same pipeline unchanged.</a:t>
            </a:r>
          </a:p>
        </p:txBody>
      </p:sp>
      <p:sp>
        <p:nvSpPr>
          <p:cNvPr id="134" name="TextBox 133"/>
          <p:cNvSpPr txBox="1"/>
          <p:nvPr/>
        </p:nvSpPr>
        <p:spPr>
          <a:xfrm>
            <a:off x="10607040" y="6473952"/>
            <a:ext cx="1014984" cy="228600"/>
          </a:xfrm>
          <a:prstGeom prst="rect">
            <a:avLst/>
          </a:prstGeom>
          <a:noFill/>
        </p:spPr>
        <p:txBody>
          <a:bodyPr wrap="square" lIns="0" tIns="0" rIns="0" bIns="0" anchor="t">
            <a:spAutoFit/>
          </a:bodyPr>
          <a:lstStyle/>
          <a:p>
            <a:pPr algn="r"/>
            <a:r>
              <a:rPr sz="800" b="0" i="0">
                <a:solidFill>
                  <a:srgbClr val="8A8176"/>
                </a:solidFill>
                <a:latin typeface="Segoe UI"/>
              </a:rPr>
              <a:t>06 / 8</a:t>
            </a:r>
          </a:p>
        </p:txBody>
      </p:sp>
      <p:sp>
        <p:nvSpPr>
          <p:cNvPr id="135" name="TextBox 134"/>
          <p:cNvSpPr txBox="1"/>
          <p:nvPr/>
        </p:nvSpPr>
        <p:spPr>
          <a:xfrm>
            <a:off x="566928" y="6473952"/>
            <a:ext cx="5486400" cy="228600"/>
          </a:xfrm>
          <a:prstGeom prst="rect">
            <a:avLst/>
          </a:prstGeom>
          <a:noFill/>
        </p:spPr>
        <p:txBody>
          <a:bodyPr wrap="square" lIns="0" tIns="0" rIns="0" bIns="0" anchor="t">
            <a:spAutoFit/>
          </a:bodyPr>
          <a:lstStyle/>
          <a:p>
            <a:pPr algn="l"/>
            <a:r>
              <a:rPr sz="750" b="0" i="0" spc="150">
                <a:solidFill>
                  <a:srgbClr val="8A8176"/>
                </a:solidFill>
                <a:latin typeface="Segoe UI"/>
              </a:rPr>
              <a:t>TIET  ·  TAPTRACE  ·  THEME 02 SMART GUIDED TROUBLESHOOTING</a:t>
            </a:r>
          </a:p>
        </p:txBody>
      </p:sp>
      <p:sp>
        <p:nvSpPr>
          <p:cNvPr id="136" name="Rounded Rectangle 135"/>
          <p:cNvSpPr/>
          <p:nvPr/>
        </p:nvSpPr>
        <p:spPr>
          <a:xfrm>
            <a:off x="566928" y="2103120"/>
            <a:ext cx="5349240" cy="425196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795528" y="2258568"/>
            <a:ext cx="4572000" cy="228600"/>
          </a:xfrm>
          <a:prstGeom prst="rect">
            <a:avLst/>
          </a:prstGeom>
          <a:noFill/>
        </p:spPr>
        <p:txBody>
          <a:bodyPr wrap="square" lIns="0" tIns="0" rIns="0" bIns="0" anchor="t">
            <a:spAutoFit/>
          </a:bodyPr>
          <a:lstStyle/>
          <a:p>
            <a:pPr algn="l"/>
            <a:r>
              <a:rPr sz="850" b="0" i="0" spc="220">
                <a:solidFill>
                  <a:srgbClr val="A89F93"/>
                </a:solidFill>
                <a:latin typeface="Segoe UI Semibold"/>
              </a:rPr>
              <a:t>HOW A NEW SCENARIO GETS COVERED</a:t>
            </a:r>
          </a:p>
        </p:txBody>
      </p:sp>
      <p:sp>
        <p:nvSpPr>
          <p:cNvPr id="138" name="Oval 137"/>
          <p:cNvSpPr/>
          <p:nvPr/>
        </p:nvSpPr>
        <p:spPr>
          <a:xfrm>
            <a:off x="841247" y="2679192"/>
            <a:ext cx="384048" cy="384048"/>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1</a:t>
            </a:r>
          </a:p>
        </p:txBody>
      </p:sp>
      <p:cxnSp>
        <p:nvCxnSpPr>
          <p:cNvPr id="139" name="Connector 138"/>
          <p:cNvCxnSpPr/>
          <p:nvPr/>
        </p:nvCxnSpPr>
        <p:spPr>
          <a:xfrm>
            <a:off x="1033271" y="3081528"/>
            <a:ext cx="0" cy="493776"/>
          </a:xfrm>
          <a:prstGeom prst="line">
            <a:avLst/>
          </a:prstGeom>
          <a:ln w="15875">
            <a:solidFill>
              <a:srgbClr val="F2B66D"/>
            </a:solidFill>
            <a:prstDash val="dash"/>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1435607" y="2606040"/>
            <a:ext cx="4297680" cy="777240"/>
          </a:xfrm>
          <a:prstGeom prst="rect">
            <a:avLst/>
          </a:prstGeom>
          <a:noFill/>
        </p:spPr>
        <p:txBody>
          <a:bodyPr wrap="square" lIns="0" tIns="0" rIns="0" bIns="0" anchor="t">
            <a:spAutoFit/>
          </a:bodyPr>
          <a:lstStyle/>
          <a:p>
            <a:pPr algn="l"/>
            <a:r>
              <a:rPr sz="1200" b="0" i="0">
                <a:solidFill>
                  <a:srgbClr val="F5EFE6"/>
                </a:solidFill>
                <a:latin typeface="Segoe UI Semibold"/>
              </a:rPr>
              <a:t>A new complaint and its article arrive</a:t>
            </a:r>
          </a:p>
          <a:p>
            <a:pPr algn="l"/>
            <a:r>
              <a:rPr sz="950" b="0" i="0">
                <a:solidFill>
                  <a:srgbClr val="A89F93"/>
                </a:solidFill>
                <a:latin typeface="Segoe UI"/>
              </a:rPr>
              <a:t>gate and step extraction run automatically</a:t>
            </a:r>
          </a:p>
        </p:txBody>
      </p:sp>
      <p:sp>
        <p:nvSpPr>
          <p:cNvPr id="141" name="Oval 140"/>
          <p:cNvSpPr/>
          <p:nvPr/>
        </p:nvSpPr>
        <p:spPr>
          <a:xfrm>
            <a:off x="841247" y="3593592"/>
            <a:ext cx="384048" cy="384048"/>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2</a:t>
            </a:r>
          </a:p>
        </p:txBody>
      </p:sp>
      <p:cxnSp>
        <p:nvCxnSpPr>
          <p:cNvPr id="142" name="Connector 141"/>
          <p:cNvCxnSpPr/>
          <p:nvPr/>
        </p:nvCxnSpPr>
        <p:spPr>
          <a:xfrm>
            <a:off x="1033271" y="3995928"/>
            <a:ext cx="0" cy="493776"/>
          </a:xfrm>
          <a:prstGeom prst="line">
            <a:avLst/>
          </a:prstGeom>
          <a:ln w="15875">
            <a:solidFill>
              <a:srgbClr val="F2B66D"/>
            </a:solidFill>
            <a:prstDash val="dash"/>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435607" y="3520440"/>
            <a:ext cx="4297680" cy="777240"/>
          </a:xfrm>
          <a:prstGeom prst="rect">
            <a:avLst/>
          </a:prstGeom>
          <a:noFill/>
        </p:spPr>
        <p:txBody>
          <a:bodyPr wrap="square" lIns="0" tIns="0" rIns="0" bIns="0" anchor="t">
            <a:spAutoFit/>
          </a:bodyPr>
          <a:lstStyle/>
          <a:p>
            <a:pPr algn="l"/>
            <a:r>
              <a:rPr sz="1200" b="0" i="0">
                <a:solidFill>
                  <a:srgbClr val="F5EFE6"/>
                </a:solidFill>
                <a:latin typeface="Segoe UI Semibold"/>
              </a:rPr>
              <a:t>Settings steps map to exact screens</a:t>
            </a:r>
          </a:p>
          <a:p>
            <a:pPr algn="l"/>
            <a:r>
              <a:rPr sz="950" b="0" i="0">
                <a:solidFill>
                  <a:srgbClr val="A89F93"/>
                </a:solidFill>
                <a:latin typeface="Segoe UI"/>
              </a:rPr>
              <a:t>compiled catalog; no retraining, no new rules</a:t>
            </a:r>
          </a:p>
        </p:txBody>
      </p:sp>
      <p:sp>
        <p:nvSpPr>
          <p:cNvPr id="144" name="Oval 143"/>
          <p:cNvSpPr/>
          <p:nvPr/>
        </p:nvSpPr>
        <p:spPr>
          <a:xfrm>
            <a:off x="841247" y="4507992"/>
            <a:ext cx="384048" cy="384048"/>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3</a:t>
            </a:r>
          </a:p>
        </p:txBody>
      </p:sp>
      <p:cxnSp>
        <p:nvCxnSpPr>
          <p:cNvPr id="145" name="Connector 144"/>
          <p:cNvCxnSpPr/>
          <p:nvPr/>
        </p:nvCxnSpPr>
        <p:spPr>
          <a:xfrm>
            <a:off x="1033271" y="4910327"/>
            <a:ext cx="0" cy="493777"/>
          </a:xfrm>
          <a:prstGeom prst="line">
            <a:avLst/>
          </a:prstGeom>
          <a:ln w="15875">
            <a:solidFill>
              <a:srgbClr val="F2B66D"/>
            </a:solidFill>
            <a:prstDash val="dash"/>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1435607" y="4434840"/>
            <a:ext cx="4297680" cy="777240"/>
          </a:xfrm>
          <a:prstGeom prst="rect">
            <a:avLst/>
          </a:prstGeom>
          <a:noFill/>
        </p:spPr>
        <p:txBody>
          <a:bodyPr wrap="square" lIns="0" tIns="0" rIns="0" bIns="0" anchor="t">
            <a:spAutoFit/>
          </a:bodyPr>
          <a:lstStyle/>
          <a:p>
            <a:pPr algn="l"/>
            <a:r>
              <a:rPr sz="1200" b="0" i="0">
                <a:solidFill>
                  <a:srgbClr val="F5EFE6"/>
                </a:solidFill>
                <a:latin typeface="Segoe UI Semibold"/>
              </a:rPr>
              <a:t>One cold request, 1.3 s (P50)</a:t>
            </a:r>
          </a:p>
          <a:p>
            <a:pPr algn="l"/>
            <a:r>
              <a:rPr sz="950" b="0" i="0">
                <a:solidFill>
                  <a:srgbClr val="A89F93"/>
                </a:solidFill>
                <a:latin typeface="Segoe UI"/>
              </a:rPr>
              <a:t>about $0.0003 of LLM cost</a:t>
            </a:r>
          </a:p>
        </p:txBody>
      </p:sp>
      <p:sp>
        <p:nvSpPr>
          <p:cNvPr id="147" name="Oval 146"/>
          <p:cNvSpPr/>
          <p:nvPr/>
        </p:nvSpPr>
        <p:spPr>
          <a:xfrm>
            <a:off x="841247" y="5422392"/>
            <a:ext cx="384048" cy="384048"/>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0" i="0">
                <a:solidFill>
                  <a:srgbClr val="2A1A0B"/>
                </a:solidFill>
                <a:latin typeface="Segoe UI Semibold"/>
              </a:rPr>
              <a:t>4</a:t>
            </a:r>
          </a:p>
        </p:txBody>
      </p:sp>
      <p:sp>
        <p:nvSpPr>
          <p:cNvPr id="148" name="TextBox 147"/>
          <p:cNvSpPr txBox="1"/>
          <p:nvPr/>
        </p:nvSpPr>
        <p:spPr>
          <a:xfrm>
            <a:off x="1435607" y="5349240"/>
            <a:ext cx="4297680" cy="777240"/>
          </a:xfrm>
          <a:prstGeom prst="rect">
            <a:avLst/>
          </a:prstGeom>
          <a:noFill/>
        </p:spPr>
        <p:txBody>
          <a:bodyPr wrap="square" lIns="0" tIns="0" rIns="0" bIns="0" anchor="t">
            <a:spAutoFit/>
          </a:bodyPr>
          <a:lstStyle/>
          <a:p>
            <a:pPr algn="l"/>
            <a:r>
              <a:rPr sz="1200" b="0" i="0">
                <a:solidFill>
                  <a:srgbClr val="F5EFE6"/>
                </a:solidFill>
                <a:latin typeface="Segoe UI Semibold"/>
              </a:rPr>
              <a:t>The plan is cached</a:t>
            </a:r>
          </a:p>
          <a:p>
            <a:pPr algn="l"/>
            <a:r>
              <a:rPr sz="950" b="0" i="0">
                <a:solidFill>
                  <a:srgbClr val="A89F93"/>
                </a:solidFill>
                <a:latin typeface="Segoe UI"/>
              </a:rPr>
              <a:t>every repeat and paraphrase: 3.5 ms (P95), $0</a:t>
            </a:r>
          </a:p>
        </p:txBody>
      </p:sp>
      <p:sp>
        <p:nvSpPr>
          <p:cNvPr id="149" name="Rounded Rectangle 148"/>
          <p:cNvSpPr/>
          <p:nvPr/>
        </p:nvSpPr>
        <p:spPr>
          <a:xfrm>
            <a:off x="6053328" y="2103120"/>
            <a:ext cx="5568696" cy="1874519"/>
          </a:xfrm>
          <a:prstGeom prst="roundRect">
            <a:avLst>
              <a:gd name="adj" fmla="val 6000"/>
            </a:avLst>
          </a:prstGeom>
          <a:solidFill>
            <a:srgbClr val="F2B66D">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6281928" y="2240280"/>
            <a:ext cx="3657600" cy="228600"/>
          </a:xfrm>
          <a:prstGeom prst="rect">
            <a:avLst/>
          </a:prstGeom>
          <a:noFill/>
        </p:spPr>
        <p:txBody>
          <a:bodyPr wrap="square" lIns="0" tIns="0" rIns="0" bIns="0" anchor="t">
            <a:spAutoFit/>
          </a:bodyPr>
          <a:lstStyle/>
          <a:p>
            <a:pPr algn="l"/>
            <a:r>
              <a:rPr sz="850" b="0" i="0" spc="220">
                <a:solidFill>
                  <a:srgbClr val="F2B66D"/>
                </a:solidFill>
                <a:latin typeface="Segoe UI Semibold"/>
              </a:rPr>
              <a:t>UNSEEN-DOMAIN TEST</a:t>
            </a:r>
          </a:p>
        </p:txBody>
      </p:sp>
      <p:sp>
        <p:nvSpPr>
          <p:cNvPr id="151" name="TextBox 150"/>
          <p:cNvSpPr txBox="1"/>
          <p:nvPr/>
        </p:nvSpPr>
        <p:spPr>
          <a:xfrm>
            <a:off x="6281928" y="2514600"/>
            <a:ext cx="1554480" cy="777240"/>
          </a:xfrm>
          <a:prstGeom prst="rect">
            <a:avLst/>
          </a:prstGeom>
          <a:noFill/>
        </p:spPr>
        <p:txBody>
          <a:bodyPr wrap="square" lIns="0" tIns="0" rIns="0" bIns="0" anchor="ctr">
            <a:spAutoFit/>
          </a:bodyPr>
          <a:lstStyle/>
          <a:p>
            <a:pPr algn="l"/>
            <a:r>
              <a:rPr sz="3200" b="0" i="0">
                <a:solidFill>
                  <a:srgbClr val="F2B66D"/>
                </a:solidFill>
                <a:latin typeface="Segoe UI Semibold"/>
              </a:rPr>
              <a:t>8 / 8</a:t>
            </a:r>
          </a:p>
        </p:txBody>
      </p:sp>
      <p:sp>
        <p:nvSpPr>
          <p:cNvPr id="152" name="TextBox 151"/>
          <p:cNvSpPr txBox="1"/>
          <p:nvPr/>
        </p:nvSpPr>
        <p:spPr>
          <a:xfrm>
            <a:off x="7882128" y="2542032"/>
            <a:ext cx="3557015" cy="777240"/>
          </a:xfrm>
          <a:prstGeom prst="rect">
            <a:avLst/>
          </a:prstGeom>
          <a:noFill/>
        </p:spPr>
        <p:txBody>
          <a:bodyPr wrap="square" lIns="0" tIns="0" rIns="0" bIns="0" anchor="ctr">
            <a:spAutoFit/>
          </a:bodyPr>
          <a:lstStyle/>
          <a:p>
            <a:pPr algn="l">
              <a:lnSpc>
                <a:spcPct val="105000"/>
              </a:lnSpc>
            </a:pPr>
            <a:r>
              <a:rPr sz="1000" b="0" i="0">
                <a:solidFill>
                  <a:srgbClr val="D9D2C7"/>
                </a:solidFill>
                <a:latin typeface="Segoe UI"/>
              </a:rPr>
              <a:t>Settings steps mapped to the exact screen with the right on/off variant, in articles the engine had never seen</a:t>
            </a:r>
          </a:p>
        </p:txBody>
      </p:sp>
      <p:sp>
        <p:nvSpPr>
          <p:cNvPr id="153" name="Rounded Rectangle 152"/>
          <p:cNvSpPr/>
          <p:nvPr/>
        </p:nvSpPr>
        <p:spPr>
          <a:xfrm>
            <a:off x="6281928" y="3474720"/>
            <a:ext cx="1195578" cy="329184"/>
          </a:xfrm>
          <a:prstGeom prst="roundRect">
            <a:avLst>
              <a:gd name="adj" fmla="val 50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F5EFE6"/>
                </a:solidFill>
                <a:latin typeface="Segoe UI"/>
              </a:rPr>
              <a:t>Battery</a:t>
            </a:r>
          </a:p>
        </p:txBody>
      </p:sp>
      <p:sp>
        <p:nvSpPr>
          <p:cNvPr id="154" name="Rounded Rectangle 153"/>
          <p:cNvSpPr/>
          <p:nvPr/>
        </p:nvSpPr>
        <p:spPr>
          <a:xfrm>
            <a:off x="7587233" y="3474720"/>
            <a:ext cx="1195578" cy="329184"/>
          </a:xfrm>
          <a:prstGeom prst="roundRect">
            <a:avLst>
              <a:gd name="adj" fmla="val 50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F5EFE6"/>
                </a:solidFill>
                <a:latin typeface="Segoe UI"/>
              </a:rPr>
              <a:t>Camera</a:t>
            </a:r>
          </a:p>
        </p:txBody>
      </p:sp>
      <p:sp>
        <p:nvSpPr>
          <p:cNvPr id="155" name="Rounded Rectangle 154"/>
          <p:cNvSpPr/>
          <p:nvPr/>
        </p:nvSpPr>
        <p:spPr>
          <a:xfrm>
            <a:off x="8892540" y="3474720"/>
            <a:ext cx="1195578" cy="329184"/>
          </a:xfrm>
          <a:prstGeom prst="roundRect">
            <a:avLst>
              <a:gd name="adj" fmla="val 50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F5EFE6"/>
                </a:solidFill>
                <a:latin typeface="Segoe UI"/>
              </a:rPr>
              <a:t>Performance</a:t>
            </a:r>
          </a:p>
        </p:txBody>
      </p:sp>
      <p:sp>
        <p:nvSpPr>
          <p:cNvPr id="156" name="Rounded Rectangle 155"/>
          <p:cNvSpPr/>
          <p:nvPr/>
        </p:nvSpPr>
        <p:spPr>
          <a:xfrm>
            <a:off x="10197846" y="3474720"/>
            <a:ext cx="1195578" cy="329184"/>
          </a:xfrm>
          <a:prstGeom prst="roundRect">
            <a:avLst>
              <a:gd name="adj" fmla="val 50000"/>
            </a:avLst>
          </a:prstGeom>
          <a:solidFill>
            <a:srgbClr val="FFFFFF">
              <a:alpha val="11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F5EFE6"/>
                </a:solidFill>
                <a:latin typeface="Segoe UI"/>
              </a:rPr>
              <a:t>Wi-Fi</a:t>
            </a:r>
          </a:p>
        </p:txBody>
      </p:sp>
      <p:sp>
        <p:nvSpPr>
          <p:cNvPr id="157" name="Rounded Rectangle 156"/>
          <p:cNvSpPr/>
          <p:nvPr/>
        </p:nvSpPr>
        <p:spPr>
          <a:xfrm>
            <a:off x="6053328" y="4114800"/>
            <a:ext cx="5568696" cy="2240280"/>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6281928" y="4242816"/>
            <a:ext cx="3657600" cy="228600"/>
          </a:xfrm>
          <a:prstGeom prst="rect">
            <a:avLst/>
          </a:prstGeom>
          <a:noFill/>
        </p:spPr>
        <p:txBody>
          <a:bodyPr wrap="square" lIns="0" tIns="0" rIns="0" bIns="0" anchor="t">
            <a:spAutoFit/>
          </a:bodyPr>
          <a:lstStyle/>
          <a:p>
            <a:pPr algn="l"/>
            <a:r>
              <a:rPr sz="850" b="0" i="0" spc="220">
                <a:solidFill>
                  <a:srgbClr val="A89F93"/>
                </a:solidFill>
                <a:latin typeface="Segoe UI Semibold"/>
              </a:rPr>
              <a:t>EXTENSION POINTS</a:t>
            </a:r>
          </a:p>
        </p:txBody>
      </p:sp>
      <p:sp>
        <p:nvSpPr>
          <p:cNvPr id="159" name="TextBox 158"/>
          <p:cNvSpPr txBox="1"/>
          <p:nvPr/>
        </p:nvSpPr>
        <p:spPr>
          <a:xfrm>
            <a:off x="6281928" y="4526280"/>
            <a:ext cx="2103120" cy="329184"/>
          </a:xfrm>
          <a:prstGeom prst="rect">
            <a:avLst/>
          </a:prstGeom>
          <a:noFill/>
        </p:spPr>
        <p:txBody>
          <a:bodyPr wrap="square" lIns="0" tIns="0" rIns="0" bIns="0" anchor="ctr">
            <a:spAutoFit/>
          </a:bodyPr>
          <a:lstStyle/>
          <a:p>
            <a:pPr algn="l"/>
            <a:r>
              <a:rPr sz="950" b="0" i="0">
                <a:solidFill>
                  <a:srgbClr val="D9D2C7"/>
                </a:solidFill>
                <a:latin typeface="Segoe UI"/>
              </a:rPr>
              <a:t>New article or scenario</a:t>
            </a:r>
          </a:p>
        </p:txBody>
      </p:sp>
      <p:sp>
        <p:nvSpPr>
          <p:cNvPr id="160" name="TextBox 159"/>
          <p:cNvSpPr txBox="1"/>
          <p:nvPr/>
        </p:nvSpPr>
        <p:spPr>
          <a:xfrm>
            <a:off x="8385048" y="4526280"/>
            <a:ext cx="3054096" cy="329184"/>
          </a:xfrm>
          <a:prstGeom prst="rect">
            <a:avLst/>
          </a:prstGeom>
          <a:noFill/>
        </p:spPr>
        <p:txBody>
          <a:bodyPr wrap="square" lIns="0" tIns="0" rIns="0" bIns="0" anchor="ctr">
            <a:spAutoFit/>
          </a:bodyPr>
          <a:lstStyle/>
          <a:p>
            <a:pPr algn="l"/>
            <a:r>
              <a:rPr sz="950" b="0" i="0">
                <a:solidFill>
                  <a:srgbClr val="F5EFE6"/>
                </a:solidFill>
                <a:latin typeface="Segoe UI Semibold"/>
              </a:rPr>
              <a:t>automatic</a:t>
            </a:r>
          </a:p>
        </p:txBody>
      </p:sp>
      <p:sp>
        <p:nvSpPr>
          <p:cNvPr id="161" name="Rectangle 160"/>
          <p:cNvSpPr/>
          <p:nvPr/>
        </p:nvSpPr>
        <p:spPr>
          <a:xfrm>
            <a:off x="6281928" y="4864608"/>
            <a:ext cx="5111496" cy="10972"/>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6281928" y="4873752"/>
            <a:ext cx="2103120" cy="329184"/>
          </a:xfrm>
          <a:prstGeom prst="rect">
            <a:avLst/>
          </a:prstGeom>
          <a:noFill/>
        </p:spPr>
        <p:txBody>
          <a:bodyPr wrap="square" lIns="0" tIns="0" rIns="0" bIns="0" anchor="ctr">
            <a:spAutoFit/>
          </a:bodyPr>
          <a:lstStyle/>
          <a:p>
            <a:pPr algn="l"/>
            <a:r>
              <a:rPr sz="950" b="0" i="0">
                <a:solidFill>
                  <a:srgbClr val="D9D2C7"/>
                </a:solidFill>
                <a:latin typeface="Segoe UI"/>
              </a:rPr>
              <a:t>New Settings screens</a:t>
            </a:r>
          </a:p>
        </p:txBody>
      </p:sp>
      <p:sp>
        <p:nvSpPr>
          <p:cNvPr id="163" name="TextBox 162"/>
          <p:cNvSpPr txBox="1"/>
          <p:nvPr/>
        </p:nvSpPr>
        <p:spPr>
          <a:xfrm>
            <a:off x="8385048" y="4873752"/>
            <a:ext cx="3054096" cy="329184"/>
          </a:xfrm>
          <a:prstGeom prst="rect">
            <a:avLst/>
          </a:prstGeom>
          <a:noFill/>
        </p:spPr>
        <p:txBody>
          <a:bodyPr wrap="square" lIns="0" tIns="0" rIns="0" bIns="0" anchor="ctr">
            <a:spAutoFit/>
          </a:bodyPr>
          <a:lstStyle/>
          <a:p>
            <a:pPr algn="l"/>
            <a:r>
              <a:rPr sz="950" b="0" i="0">
                <a:solidFill>
                  <a:srgbClr val="F5EFE6"/>
                </a:solidFill>
                <a:latin typeface="Segoe UI Semibold"/>
              </a:rPr>
              <a:t>re-run the Catalog Compiler</a:t>
            </a:r>
          </a:p>
        </p:txBody>
      </p:sp>
      <p:sp>
        <p:nvSpPr>
          <p:cNvPr id="164" name="Rectangle 163"/>
          <p:cNvSpPr/>
          <p:nvPr/>
        </p:nvSpPr>
        <p:spPr>
          <a:xfrm>
            <a:off x="6281928" y="5212080"/>
            <a:ext cx="5111496" cy="10972"/>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6281928" y="5221224"/>
            <a:ext cx="2103120" cy="329184"/>
          </a:xfrm>
          <a:prstGeom prst="rect">
            <a:avLst/>
          </a:prstGeom>
          <a:noFill/>
        </p:spPr>
        <p:txBody>
          <a:bodyPr wrap="square" lIns="0" tIns="0" rIns="0" bIns="0" anchor="ctr">
            <a:spAutoFit/>
          </a:bodyPr>
          <a:lstStyle/>
          <a:p>
            <a:pPr algn="l"/>
            <a:r>
              <a:rPr sz="950" b="0" i="0">
                <a:solidFill>
                  <a:srgbClr val="D9D2C7"/>
                </a:solidFill>
                <a:latin typeface="Segoe UI"/>
              </a:rPr>
              <a:t>New vocabulary</a:t>
            </a:r>
          </a:p>
        </p:txBody>
      </p:sp>
      <p:sp>
        <p:nvSpPr>
          <p:cNvPr id="166" name="TextBox 165"/>
          <p:cNvSpPr txBox="1"/>
          <p:nvPr/>
        </p:nvSpPr>
        <p:spPr>
          <a:xfrm>
            <a:off x="8385048" y="5221224"/>
            <a:ext cx="3054096" cy="329184"/>
          </a:xfrm>
          <a:prstGeom prst="rect">
            <a:avLst/>
          </a:prstGeom>
          <a:noFill/>
        </p:spPr>
        <p:txBody>
          <a:bodyPr wrap="square" lIns="0" tIns="0" rIns="0" bIns="0" anchor="ctr">
            <a:spAutoFit/>
          </a:bodyPr>
          <a:lstStyle/>
          <a:p>
            <a:pPr algn="l"/>
            <a:r>
              <a:rPr sz="950" b="0" i="0">
                <a:solidFill>
                  <a:srgbClr val="F5EFE6"/>
                </a:solidFill>
                <a:latin typeface="Segoe UI Semibold"/>
              </a:rPr>
              <a:t>facet lexicon entries (data)</a:t>
            </a:r>
          </a:p>
        </p:txBody>
      </p:sp>
      <p:sp>
        <p:nvSpPr>
          <p:cNvPr id="167" name="Rectangle 166"/>
          <p:cNvSpPr/>
          <p:nvPr/>
        </p:nvSpPr>
        <p:spPr>
          <a:xfrm>
            <a:off x="6281928" y="5559552"/>
            <a:ext cx="5111496" cy="10972"/>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6281928" y="5568696"/>
            <a:ext cx="2103120" cy="329184"/>
          </a:xfrm>
          <a:prstGeom prst="rect">
            <a:avLst/>
          </a:prstGeom>
          <a:noFill/>
        </p:spPr>
        <p:txBody>
          <a:bodyPr wrap="square" lIns="0" tIns="0" rIns="0" bIns="0" anchor="ctr">
            <a:spAutoFit/>
          </a:bodyPr>
          <a:lstStyle/>
          <a:p>
            <a:pPr algn="l"/>
            <a:r>
              <a:rPr sz="950" b="0" i="0">
                <a:solidFill>
                  <a:srgbClr val="D9D2C7"/>
                </a:solidFill>
                <a:latin typeface="Segoe UI"/>
              </a:rPr>
              <a:t>10,000 scenarios</a:t>
            </a:r>
          </a:p>
        </p:txBody>
      </p:sp>
      <p:sp>
        <p:nvSpPr>
          <p:cNvPr id="169" name="TextBox 168"/>
          <p:cNvSpPr txBox="1"/>
          <p:nvPr/>
        </p:nvSpPr>
        <p:spPr>
          <a:xfrm>
            <a:off x="8385048" y="5568696"/>
            <a:ext cx="3054096" cy="329184"/>
          </a:xfrm>
          <a:prstGeom prst="rect">
            <a:avLst/>
          </a:prstGeom>
          <a:noFill/>
        </p:spPr>
        <p:txBody>
          <a:bodyPr wrap="square" lIns="0" tIns="0" rIns="0" bIns="0" anchor="ctr">
            <a:spAutoFit/>
          </a:bodyPr>
          <a:lstStyle/>
          <a:p>
            <a:pPr algn="l"/>
            <a:r>
              <a:rPr sz="950" b="0" i="0">
                <a:solidFill>
                  <a:srgbClr val="F5EFE6"/>
                </a:solidFill>
                <a:latin typeface="Segoe UI Semibold"/>
              </a:rPr>
              <a:t>≈ $3 one-time LLM cost</a:t>
            </a:r>
          </a:p>
        </p:txBody>
      </p:sp>
      <p:sp>
        <p:nvSpPr>
          <p:cNvPr id="170" name="Rectangle 169"/>
          <p:cNvSpPr/>
          <p:nvPr/>
        </p:nvSpPr>
        <p:spPr>
          <a:xfrm>
            <a:off x="6281928" y="5907024"/>
            <a:ext cx="5111496" cy="10972"/>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6281928" y="5916168"/>
            <a:ext cx="2103120" cy="329184"/>
          </a:xfrm>
          <a:prstGeom prst="rect">
            <a:avLst/>
          </a:prstGeom>
          <a:noFill/>
        </p:spPr>
        <p:txBody>
          <a:bodyPr wrap="square" lIns="0" tIns="0" rIns="0" bIns="0" anchor="ctr">
            <a:spAutoFit/>
          </a:bodyPr>
          <a:lstStyle/>
          <a:p>
            <a:pPr algn="l"/>
            <a:r>
              <a:rPr sz="950" b="0" i="0">
                <a:solidFill>
                  <a:srgbClr val="D9D2C7"/>
                </a:solidFill>
                <a:latin typeface="Segoe UI"/>
              </a:rPr>
              <a:t>Serving</a:t>
            </a:r>
          </a:p>
        </p:txBody>
      </p:sp>
      <p:sp>
        <p:nvSpPr>
          <p:cNvPr id="172" name="TextBox 171"/>
          <p:cNvSpPr txBox="1"/>
          <p:nvPr/>
        </p:nvSpPr>
        <p:spPr>
          <a:xfrm>
            <a:off x="8385048" y="5916168"/>
            <a:ext cx="3054096" cy="329184"/>
          </a:xfrm>
          <a:prstGeom prst="rect">
            <a:avLst/>
          </a:prstGeom>
          <a:noFill/>
        </p:spPr>
        <p:txBody>
          <a:bodyPr wrap="square" lIns="0" tIns="0" rIns="0" bIns="0" anchor="ctr">
            <a:spAutoFit/>
          </a:bodyPr>
          <a:lstStyle/>
          <a:p>
            <a:pPr algn="l"/>
            <a:r>
              <a:rPr sz="950" b="0" i="0">
                <a:solidFill>
                  <a:srgbClr val="F5EFE6"/>
                </a:solidFill>
                <a:latin typeface="Segoe UI Semibold"/>
              </a:rPr>
              <a:t>495 req/s on one CPU container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Picture 130" descr="bg_slide.jpg"/>
          <p:cNvPicPr>
            <a:picLocks noChangeAspect="1"/>
          </p:cNvPicPr>
          <p:nvPr/>
        </p:nvPicPr>
        <p:blipFill>
          <a:blip r:embed="rId5"/>
          <a:stretch>
            <a:fillRect/>
          </a:stretch>
        </p:blipFill>
        <p:spPr>
          <a:xfrm>
            <a:off x="0" y="0"/>
            <a:ext cx="12191695" cy="6858000"/>
          </a:xfrm>
          <a:prstGeom prst="rect">
            <a:avLst/>
          </a:prstGeom>
        </p:spPr>
      </p:pic>
      <p:sp>
        <p:nvSpPr>
          <p:cNvPr id="132" name="Oval 131"/>
          <p:cNvSpPr/>
          <p:nvPr/>
        </p:nvSpPr>
        <p:spPr>
          <a:xfrm>
            <a:off x="566928" y="310896"/>
            <a:ext cx="237744" cy="237744"/>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638251" y="382219"/>
            <a:ext cx="95097" cy="95097"/>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896112" y="274320"/>
            <a:ext cx="1463040" cy="310896"/>
          </a:xfrm>
          <a:prstGeom prst="rect">
            <a:avLst/>
          </a:prstGeom>
          <a:noFill/>
        </p:spPr>
        <p:txBody>
          <a:bodyPr wrap="square" lIns="0" tIns="0" rIns="0" bIns="0" anchor="ctr">
            <a:spAutoFit/>
          </a:bodyPr>
          <a:lstStyle/>
          <a:p>
            <a:pPr algn="l"/>
            <a:r>
              <a:rPr sz="1300" b="0" i="0">
                <a:solidFill>
                  <a:srgbClr val="F5EFE6"/>
                </a:solidFill>
                <a:latin typeface="Segoe UI Semibold"/>
              </a:rPr>
              <a:t>TapTrace</a:t>
            </a:r>
          </a:p>
        </p:txBody>
      </p:sp>
      <p:sp>
        <p:nvSpPr>
          <p:cNvPr id="135" name="Rectangle 134"/>
          <p:cNvSpPr/>
          <p:nvPr/>
        </p:nvSpPr>
        <p:spPr>
          <a:xfrm>
            <a:off x="2048256" y="329184"/>
            <a:ext cx="10972" cy="201168"/>
          </a:xfrm>
          <a:prstGeom prst="rect">
            <a:avLst/>
          </a:prstGeom>
          <a:solidFill>
            <a:srgbClr val="FFFF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2212848" y="274320"/>
            <a:ext cx="5486400" cy="310896"/>
          </a:xfrm>
          <a:prstGeom prst="rect">
            <a:avLst/>
          </a:prstGeom>
          <a:noFill/>
        </p:spPr>
        <p:txBody>
          <a:bodyPr wrap="square" lIns="0" tIns="0" rIns="0" bIns="0" anchor="ctr">
            <a:spAutoFit/>
          </a:bodyPr>
          <a:lstStyle/>
          <a:p>
            <a:pPr algn="l"/>
            <a:r>
              <a:rPr sz="900" b="0" i="0" spc="250">
                <a:solidFill>
                  <a:srgbClr val="A89F93"/>
                </a:solidFill>
                <a:latin typeface="Segoe UI"/>
              </a:rPr>
              <a:t>06  |  DEMO VIDEO</a:t>
            </a:r>
          </a:p>
        </p:txBody>
      </p:sp>
      <p:sp>
        <p:nvSpPr>
          <p:cNvPr id="137" name="TextBox 136"/>
          <p:cNvSpPr txBox="1"/>
          <p:nvPr/>
        </p:nvSpPr>
        <p:spPr>
          <a:xfrm>
            <a:off x="7223760" y="274320"/>
            <a:ext cx="4398264" cy="310896"/>
          </a:xfrm>
          <a:prstGeom prst="rect">
            <a:avLst/>
          </a:prstGeom>
          <a:noFill/>
        </p:spPr>
        <p:txBody>
          <a:bodyPr wrap="square" lIns="0" tIns="0" rIns="0" bIns="0" anchor="ctr">
            <a:spAutoFit/>
          </a:bodyPr>
          <a:lstStyle/>
          <a:p>
            <a:pPr algn="r"/>
            <a:r>
              <a:rPr sz="850" b="0" i="0" spc="200">
                <a:solidFill>
                  <a:srgbClr val="A89F93"/>
                </a:solidFill>
                <a:latin typeface="Segoe UI"/>
              </a:rPr>
              <a:t>SAMSUNG PRISM  ·  GENAI HACKATHON 3.0  ·  THEME 02</a:t>
            </a:r>
          </a:p>
        </p:txBody>
      </p:sp>
      <p:sp>
        <p:nvSpPr>
          <p:cNvPr id="138" name="TextBox 137"/>
          <p:cNvSpPr txBox="1"/>
          <p:nvPr/>
        </p:nvSpPr>
        <p:spPr>
          <a:xfrm>
            <a:off x="566928" y="822960"/>
            <a:ext cx="8183879" cy="1097280"/>
          </a:xfrm>
          <a:prstGeom prst="rect">
            <a:avLst/>
          </a:prstGeom>
          <a:noFill/>
        </p:spPr>
        <p:txBody>
          <a:bodyPr wrap="square" lIns="0" tIns="0" rIns="0" bIns="0" anchor="t">
            <a:spAutoFit/>
          </a:bodyPr>
          <a:lstStyle/>
          <a:p>
            <a:pPr algn="l">
              <a:lnSpc>
                <a:spcPct val="92000"/>
              </a:lnSpc>
            </a:pPr>
            <a:r>
              <a:rPr sz="2700" b="0" i="0">
                <a:solidFill>
                  <a:srgbClr val="F5EFE6"/>
                </a:solidFill>
                <a:latin typeface="Segoe UI Semibold"/>
              </a:rPr>
              <a:t>Live on the deployed site: one complaint, from article to </a:t>
            </a:r>
            <a:r>
              <a:rPr sz="2700" b="0" i="0">
                <a:solidFill>
                  <a:srgbClr val="F2B66D"/>
                </a:solidFill>
                <a:latin typeface="Segoe UI Semibold"/>
              </a:rPr>
              <a:t>verified tap</a:t>
            </a:r>
            <a:r>
              <a:rPr sz="2700" b="0" i="0">
                <a:solidFill>
                  <a:srgbClr val="F5EFE6"/>
                </a:solidFill>
                <a:latin typeface="Segoe UI Semibold"/>
              </a:rPr>
              <a:t>.</a:t>
            </a:r>
          </a:p>
        </p:txBody>
      </p:sp>
      <p:sp>
        <p:nvSpPr>
          <p:cNvPr id="139" name="TextBox 138"/>
          <p:cNvSpPr txBox="1"/>
          <p:nvPr/>
        </p:nvSpPr>
        <p:spPr>
          <a:xfrm>
            <a:off x="9006840" y="896112"/>
            <a:ext cx="2615184" cy="1005840"/>
          </a:xfrm>
          <a:prstGeom prst="rect">
            <a:avLst/>
          </a:prstGeom>
          <a:noFill/>
        </p:spPr>
        <p:txBody>
          <a:bodyPr wrap="square" lIns="0" tIns="0" rIns="0" bIns="0" anchor="t">
            <a:spAutoFit/>
          </a:bodyPr>
          <a:lstStyle/>
          <a:p>
            <a:pPr algn="l">
              <a:lnSpc>
                <a:spcPct val="105000"/>
              </a:lnSpc>
            </a:pPr>
            <a:r>
              <a:rPr sz="1100" b="0" i="0">
                <a:solidFill>
                  <a:srgbClr val="D9D2C7"/>
                </a:solidFill>
                <a:latin typeface="Segoe UI"/>
              </a:rPr>
              <a:t>Screen recording of taptrace.onrender.com, 1:51.</a:t>
            </a:r>
          </a:p>
        </p:txBody>
      </p:sp>
      <p:sp>
        <p:nvSpPr>
          <p:cNvPr id="140" name="TextBox 139"/>
          <p:cNvSpPr txBox="1"/>
          <p:nvPr/>
        </p:nvSpPr>
        <p:spPr>
          <a:xfrm>
            <a:off x="10607040" y="6473952"/>
            <a:ext cx="1014984" cy="228600"/>
          </a:xfrm>
          <a:prstGeom prst="rect">
            <a:avLst/>
          </a:prstGeom>
          <a:noFill/>
        </p:spPr>
        <p:txBody>
          <a:bodyPr wrap="square" lIns="0" tIns="0" rIns="0" bIns="0" anchor="t">
            <a:spAutoFit/>
          </a:bodyPr>
          <a:lstStyle/>
          <a:p>
            <a:pPr algn="r"/>
            <a:r>
              <a:rPr sz="800" b="0" i="0">
                <a:solidFill>
                  <a:srgbClr val="8A8176"/>
                </a:solidFill>
                <a:latin typeface="Segoe UI"/>
              </a:rPr>
              <a:t>07 / 8</a:t>
            </a:r>
          </a:p>
        </p:txBody>
      </p:sp>
      <p:sp>
        <p:nvSpPr>
          <p:cNvPr id="141" name="TextBox 140"/>
          <p:cNvSpPr txBox="1"/>
          <p:nvPr/>
        </p:nvSpPr>
        <p:spPr>
          <a:xfrm>
            <a:off x="566928" y="6473952"/>
            <a:ext cx="5486400" cy="228600"/>
          </a:xfrm>
          <a:prstGeom prst="rect">
            <a:avLst/>
          </a:prstGeom>
          <a:noFill/>
        </p:spPr>
        <p:txBody>
          <a:bodyPr wrap="square" lIns="0" tIns="0" rIns="0" bIns="0" anchor="t">
            <a:spAutoFit/>
          </a:bodyPr>
          <a:lstStyle/>
          <a:p>
            <a:pPr algn="l"/>
            <a:r>
              <a:rPr sz="750" b="0" i="0" spc="150">
                <a:solidFill>
                  <a:srgbClr val="8A8176"/>
                </a:solidFill>
                <a:latin typeface="Segoe UI"/>
              </a:rPr>
              <a:t>TIET  ·  TAPTRACE  ·  THEME 02 SMART GUIDED TROUBLESHOOTING</a:t>
            </a:r>
          </a:p>
        </p:txBody>
      </p:sp>
      <p:pic>
        <p:nvPicPr>
          <p:cNvPr id="142" name="Thapar_TapTrace_Demo_Under2min.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66928" y="2103120"/>
            <a:ext cx="7498079" cy="4217670"/>
          </a:xfrm>
          <a:prstGeom prst="rect">
            <a:avLst/>
          </a:prstGeom>
        </p:spPr>
      </p:pic>
      <p:sp>
        <p:nvSpPr>
          <p:cNvPr id="143" name="TextBox 142"/>
          <p:cNvSpPr txBox="1"/>
          <p:nvPr/>
        </p:nvSpPr>
        <p:spPr>
          <a:xfrm>
            <a:off x="8339327" y="2121408"/>
            <a:ext cx="3282696" cy="228600"/>
          </a:xfrm>
          <a:prstGeom prst="rect">
            <a:avLst/>
          </a:prstGeom>
          <a:noFill/>
        </p:spPr>
        <p:txBody>
          <a:bodyPr wrap="square" lIns="0" tIns="0" rIns="0" bIns="0" anchor="t">
            <a:spAutoFit/>
          </a:bodyPr>
          <a:lstStyle/>
          <a:p>
            <a:pPr algn="l"/>
            <a:r>
              <a:rPr sz="850" b="0" i="0" spc="220">
                <a:solidFill>
                  <a:srgbClr val="A89F93"/>
                </a:solidFill>
                <a:latin typeface="Segoe UI Semibold"/>
              </a:rPr>
              <a:t>WHAT TO WATCH FOR</a:t>
            </a:r>
          </a:p>
        </p:txBody>
      </p:sp>
      <p:sp>
        <p:nvSpPr>
          <p:cNvPr id="144" name="Rounded Rectangle 143"/>
          <p:cNvSpPr/>
          <p:nvPr/>
        </p:nvSpPr>
        <p:spPr>
          <a:xfrm>
            <a:off x="8339327" y="2450592"/>
            <a:ext cx="3282696" cy="877824"/>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ounded Rectangle 144"/>
          <p:cNvSpPr/>
          <p:nvPr/>
        </p:nvSpPr>
        <p:spPr>
          <a:xfrm>
            <a:off x="8476488" y="2752344"/>
            <a:ext cx="566928" cy="274320"/>
          </a:xfrm>
          <a:prstGeom prst="roundRect">
            <a:avLst>
              <a:gd name="adj" fmla="val 50000"/>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2A1A0B"/>
                </a:solidFill>
                <a:latin typeface="Segoe UI Semibold"/>
              </a:rPr>
              <a:t>0:00</a:t>
            </a:r>
          </a:p>
        </p:txBody>
      </p:sp>
      <p:sp>
        <p:nvSpPr>
          <p:cNvPr id="146" name="TextBox 145"/>
          <p:cNvSpPr txBox="1"/>
          <p:nvPr/>
        </p:nvSpPr>
        <p:spPr>
          <a:xfrm>
            <a:off x="9162288" y="2450592"/>
            <a:ext cx="2368296" cy="877824"/>
          </a:xfrm>
          <a:prstGeom prst="rect">
            <a:avLst/>
          </a:prstGeom>
          <a:noFill/>
        </p:spPr>
        <p:txBody>
          <a:bodyPr wrap="square" lIns="0" tIns="0" rIns="0" bIns="0" anchor="ctr">
            <a:spAutoFit/>
          </a:bodyPr>
          <a:lstStyle/>
          <a:p>
            <a:pPr algn="l"/>
            <a:r>
              <a:rPr sz="1050" b="0" i="0">
                <a:solidFill>
                  <a:srgbClr val="F5EFE6"/>
                </a:solidFill>
                <a:latin typeface="Segoe UI Semibold"/>
              </a:rPr>
              <a:t>A new complaint, end to end</a:t>
            </a:r>
          </a:p>
          <a:p>
            <a:pPr algn="l">
              <a:lnSpc>
                <a:spcPct val="100000"/>
              </a:lnSpc>
            </a:pPr>
            <a:r>
              <a:rPr sz="850" b="0" i="0">
                <a:solidFill>
                  <a:srgbClr val="A89F93"/>
                </a:solidFill>
                <a:latin typeface="Segoe UI"/>
              </a:rPr>
              <a:t>evidence highlighted in the article, cost shown</a:t>
            </a:r>
          </a:p>
        </p:txBody>
      </p:sp>
      <p:sp>
        <p:nvSpPr>
          <p:cNvPr id="147" name="Rounded Rectangle 146"/>
          <p:cNvSpPr/>
          <p:nvPr/>
        </p:nvSpPr>
        <p:spPr>
          <a:xfrm>
            <a:off x="8339327" y="3438144"/>
            <a:ext cx="3282696" cy="877824"/>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ounded Rectangle 147"/>
          <p:cNvSpPr/>
          <p:nvPr/>
        </p:nvSpPr>
        <p:spPr>
          <a:xfrm>
            <a:off x="8476488" y="3739896"/>
            <a:ext cx="566928" cy="274320"/>
          </a:xfrm>
          <a:prstGeom prst="roundRect">
            <a:avLst>
              <a:gd name="adj" fmla="val 50000"/>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2A1A0B"/>
                </a:solidFill>
                <a:latin typeface="Segoe UI Semibold"/>
              </a:rPr>
              <a:t>0:36</a:t>
            </a:r>
          </a:p>
        </p:txBody>
      </p:sp>
      <p:sp>
        <p:nvSpPr>
          <p:cNvPr id="149" name="TextBox 148"/>
          <p:cNvSpPr txBox="1"/>
          <p:nvPr/>
        </p:nvSpPr>
        <p:spPr>
          <a:xfrm>
            <a:off x="9162288" y="3438144"/>
            <a:ext cx="2368296" cy="877824"/>
          </a:xfrm>
          <a:prstGeom prst="rect">
            <a:avLst/>
          </a:prstGeom>
          <a:noFill/>
        </p:spPr>
        <p:txBody>
          <a:bodyPr wrap="square" lIns="0" tIns="0" rIns="0" bIns="0" anchor="ctr">
            <a:spAutoFit/>
          </a:bodyPr>
          <a:lstStyle/>
          <a:p>
            <a:pPr algn="l"/>
            <a:r>
              <a:rPr sz="1050" b="0" i="0">
                <a:solidFill>
                  <a:srgbClr val="F5EFE6"/>
                </a:solidFill>
                <a:latin typeface="Segoe UI Semibold"/>
              </a:rPr>
              <a:t>One tap + validation probe</a:t>
            </a:r>
          </a:p>
          <a:p>
            <a:pPr algn="l">
              <a:lnSpc>
                <a:spcPct val="100000"/>
              </a:lnSpc>
            </a:pPr>
            <a:r>
              <a:rPr sz="850" b="0" i="0">
                <a:solidFill>
                  <a:srgbClr val="A89F93"/>
                </a:solidFill>
                <a:latin typeface="Segoe UI"/>
              </a:rPr>
              <a:t>exact Settings screen opens; the probe confirms</a:t>
            </a:r>
          </a:p>
        </p:txBody>
      </p:sp>
      <p:sp>
        <p:nvSpPr>
          <p:cNvPr id="150" name="Rounded Rectangle 149"/>
          <p:cNvSpPr/>
          <p:nvPr/>
        </p:nvSpPr>
        <p:spPr>
          <a:xfrm>
            <a:off x="8339327" y="4425696"/>
            <a:ext cx="3282696" cy="877824"/>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150"/>
          <p:cNvSpPr/>
          <p:nvPr/>
        </p:nvSpPr>
        <p:spPr>
          <a:xfrm>
            <a:off x="8476488" y="4727448"/>
            <a:ext cx="566928" cy="274320"/>
          </a:xfrm>
          <a:prstGeom prst="roundRect">
            <a:avLst>
              <a:gd name="adj" fmla="val 50000"/>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2A1A0B"/>
                </a:solidFill>
                <a:latin typeface="Segoe UI Semibold"/>
              </a:rPr>
              <a:t>1:00</a:t>
            </a:r>
          </a:p>
        </p:txBody>
      </p:sp>
      <p:sp>
        <p:nvSpPr>
          <p:cNvPr id="152" name="TextBox 151"/>
          <p:cNvSpPr txBox="1"/>
          <p:nvPr/>
        </p:nvSpPr>
        <p:spPr>
          <a:xfrm>
            <a:off x="9162288" y="4425696"/>
            <a:ext cx="2368296" cy="877824"/>
          </a:xfrm>
          <a:prstGeom prst="rect">
            <a:avLst/>
          </a:prstGeom>
          <a:noFill/>
        </p:spPr>
        <p:txBody>
          <a:bodyPr wrap="square" lIns="0" tIns="0" rIns="0" bIns="0" anchor="ctr">
            <a:spAutoFit/>
          </a:bodyPr>
          <a:lstStyle/>
          <a:p>
            <a:pPr algn="l"/>
            <a:r>
              <a:rPr sz="1050" b="0" i="0">
                <a:solidFill>
                  <a:srgbClr val="F5EFE6"/>
                </a:solidFill>
                <a:latin typeface="Segoe UI Semibold"/>
              </a:rPr>
              <a:t>Paraphrase hit, near miss refused</a:t>
            </a:r>
          </a:p>
          <a:p>
            <a:pPr algn="l">
              <a:lnSpc>
                <a:spcPct val="100000"/>
              </a:lnSpc>
            </a:pPr>
            <a:r>
              <a:rPr sz="850" b="0" i="0">
                <a:solidFill>
                  <a:srgbClr val="A89F93"/>
                </a:solidFill>
                <a:latin typeface="Segoe UI"/>
              </a:rPr>
              <a:t>milliseconds from cache; the guard says why</a:t>
            </a:r>
          </a:p>
        </p:txBody>
      </p:sp>
      <p:sp>
        <p:nvSpPr>
          <p:cNvPr id="153" name="Rounded Rectangle 152"/>
          <p:cNvSpPr/>
          <p:nvPr/>
        </p:nvSpPr>
        <p:spPr>
          <a:xfrm>
            <a:off x="8339327" y="5413248"/>
            <a:ext cx="3282696" cy="877824"/>
          </a:xfrm>
          <a:prstGeom prst="roundRect">
            <a:avLst>
              <a:gd name="adj" fmla="val 6000"/>
            </a:avLst>
          </a:prstGeom>
          <a:solidFill>
            <a:srgbClr val="FFFFFF">
              <a:alpha val="6500"/>
            </a:srgbClr>
          </a:solidFill>
          <a:ln w="9525">
            <a:solidFill>
              <a:srgbClr val="FFFFFF">
                <a:alpha val="1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153"/>
          <p:cNvSpPr/>
          <p:nvPr/>
        </p:nvSpPr>
        <p:spPr>
          <a:xfrm>
            <a:off x="8476488" y="5715000"/>
            <a:ext cx="566928" cy="274320"/>
          </a:xfrm>
          <a:prstGeom prst="roundRect">
            <a:avLst>
              <a:gd name="adj" fmla="val 50000"/>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0" i="0">
                <a:solidFill>
                  <a:srgbClr val="2A1A0B"/>
                </a:solidFill>
                <a:latin typeface="Segoe UI Semibold"/>
              </a:rPr>
              <a:t>1:32</a:t>
            </a:r>
          </a:p>
        </p:txBody>
      </p:sp>
      <p:sp>
        <p:nvSpPr>
          <p:cNvPr id="155" name="TextBox 154"/>
          <p:cNvSpPr txBox="1"/>
          <p:nvPr/>
        </p:nvSpPr>
        <p:spPr>
          <a:xfrm>
            <a:off x="9162288" y="5413248"/>
            <a:ext cx="2368296" cy="877824"/>
          </a:xfrm>
          <a:prstGeom prst="rect">
            <a:avLst/>
          </a:prstGeom>
          <a:noFill/>
        </p:spPr>
        <p:txBody>
          <a:bodyPr wrap="square" lIns="0" tIns="0" rIns="0" bIns="0" anchor="ctr">
            <a:spAutoFit/>
          </a:bodyPr>
          <a:lstStyle/>
          <a:p>
            <a:pPr algn="l"/>
            <a:r>
              <a:rPr sz="1050" b="0" i="0">
                <a:solidFill>
                  <a:srgbClr val="F5EFE6"/>
                </a:solidFill>
                <a:latin typeface="Segoe UI Semibold"/>
              </a:rPr>
              <a:t>Wrong article → no_match</a:t>
            </a:r>
          </a:p>
          <a:p>
            <a:pPr algn="l">
              <a:lnSpc>
                <a:spcPct val="100000"/>
              </a:lnSpc>
            </a:pPr>
            <a:r>
              <a:rPr sz="850" b="0" i="0">
                <a:solidFill>
                  <a:srgbClr val="A89F93"/>
                </a:solidFill>
                <a:latin typeface="Segoe UI"/>
              </a:rPr>
              <a:t>an empty plan instead of invented steps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4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Picture 136" descr="hero_dark.jpg"/>
          <p:cNvPicPr>
            <a:picLocks noChangeAspect="1"/>
          </p:cNvPicPr>
          <p:nvPr/>
        </p:nvPicPr>
        <p:blipFill>
          <a:blip r:embed="rId3"/>
          <a:stretch>
            <a:fillRect/>
          </a:stretch>
        </p:blipFill>
        <p:spPr>
          <a:xfrm>
            <a:off x="0" y="0"/>
            <a:ext cx="12191695" cy="6858000"/>
          </a:xfrm>
          <a:prstGeom prst="rect">
            <a:avLst/>
          </a:prstGeom>
        </p:spPr>
      </p:pic>
      <p:sp>
        <p:nvSpPr>
          <p:cNvPr id="138" name="Oval 137"/>
          <p:cNvSpPr/>
          <p:nvPr/>
        </p:nvSpPr>
        <p:spPr>
          <a:xfrm>
            <a:off x="685800" y="566928"/>
            <a:ext cx="310896" cy="310896"/>
          </a:xfrm>
          <a:prstGeom prst="ellipse">
            <a:avLst/>
          </a:prstGeom>
          <a:noFill/>
          <a:ln w="19050">
            <a:solidFill>
              <a:srgbClr val="F2B6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779068" y="660196"/>
            <a:ext cx="124358" cy="124358"/>
          </a:xfrm>
          <a:prstGeom prst="ellipse">
            <a:avLst/>
          </a:prstGeom>
          <a:solidFill>
            <a:srgbClr val="F2B6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1097280" y="530352"/>
            <a:ext cx="2286000" cy="384048"/>
          </a:xfrm>
          <a:prstGeom prst="rect">
            <a:avLst/>
          </a:prstGeom>
          <a:noFill/>
        </p:spPr>
        <p:txBody>
          <a:bodyPr wrap="square" lIns="0" tIns="0" rIns="0" bIns="0" anchor="ctr">
            <a:spAutoFit/>
          </a:bodyPr>
          <a:lstStyle/>
          <a:p>
            <a:pPr algn="l"/>
            <a:r>
              <a:rPr sz="1800" b="0" i="0">
                <a:solidFill>
                  <a:srgbClr val="FFFFFF"/>
                </a:solidFill>
                <a:latin typeface="Segoe UI Semibold"/>
              </a:rPr>
              <a:t>TapTrace</a:t>
            </a:r>
          </a:p>
        </p:txBody>
      </p:sp>
      <p:sp>
        <p:nvSpPr>
          <p:cNvPr id="141" name="TextBox 140"/>
          <p:cNvSpPr txBox="1"/>
          <p:nvPr/>
        </p:nvSpPr>
        <p:spPr>
          <a:xfrm>
            <a:off x="685800" y="1508760"/>
            <a:ext cx="6858000" cy="914400"/>
          </a:xfrm>
          <a:prstGeom prst="rect">
            <a:avLst/>
          </a:prstGeom>
          <a:noFill/>
        </p:spPr>
        <p:txBody>
          <a:bodyPr wrap="square" lIns="0" tIns="0" rIns="0" bIns="0" anchor="t">
            <a:spAutoFit/>
          </a:bodyPr>
          <a:lstStyle/>
          <a:p>
            <a:pPr algn="l"/>
            <a:r>
              <a:rPr sz="4600" b="0" i="0">
                <a:solidFill>
                  <a:srgbClr val="FFFFFF"/>
                </a:solidFill>
                <a:latin typeface="Segoe UI Semibold"/>
              </a:rPr>
              <a:t>Thank you. </a:t>
            </a:r>
            <a:r>
              <a:rPr sz="4600" b="0" i="0">
                <a:solidFill>
                  <a:srgbClr val="F2B66D"/>
                </a:solidFill>
                <a:latin typeface="Segoe UI Semibold"/>
              </a:rPr>
              <a:t>Questions?</a:t>
            </a:r>
          </a:p>
        </p:txBody>
      </p:sp>
      <p:sp>
        <p:nvSpPr>
          <p:cNvPr id="142" name="TextBox 141"/>
          <p:cNvSpPr txBox="1"/>
          <p:nvPr/>
        </p:nvSpPr>
        <p:spPr>
          <a:xfrm>
            <a:off x="685800" y="2514600"/>
            <a:ext cx="6035040" cy="731520"/>
          </a:xfrm>
          <a:prstGeom prst="rect">
            <a:avLst/>
          </a:prstGeom>
          <a:noFill/>
        </p:spPr>
        <p:txBody>
          <a:bodyPr wrap="square" lIns="0" tIns="0" rIns="0" bIns="0" anchor="t">
            <a:spAutoFit/>
          </a:bodyPr>
          <a:lstStyle/>
          <a:p>
            <a:pPr algn="l">
              <a:lnSpc>
                <a:spcPct val="110000"/>
              </a:lnSpc>
            </a:pPr>
            <a:r>
              <a:rPr sz="1500" b="0" i="0">
                <a:solidFill>
                  <a:srgbClr val="E6DDD1"/>
                </a:solidFill>
                <a:latin typeface="Segoe UI"/>
              </a:rPr>
              <a:t>Grounded steps, exact screens, honest answers when the knowledge does not fit, and a path into Galaxy support.</a:t>
            </a:r>
          </a:p>
        </p:txBody>
      </p:sp>
      <p:sp>
        <p:nvSpPr>
          <p:cNvPr id="143" name="TextBox 142"/>
          <p:cNvSpPr txBox="1"/>
          <p:nvPr/>
        </p:nvSpPr>
        <p:spPr>
          <a:xfrm>
            <a:off x="685800" y="3703320"/>
            <a:ext cx="1554480" cy="548640"/>
          </a:xfrm>
          <a:prstGeom prst="rect">
            <a:avLst/>
          </a:prstGeom>
          <a:noFill/>
        </p:spPr>
        <p:txBody>
          <a:bodyPr wrap="square" lIns="0" tIns="0" rIns="0" bIns="0" anchor="t">
            <a:spAutoFit/>
          </a:bodyPr>
          <a:lstStyle/>
          <a:p>
            <a:pPr algn="l"/>
            <a:r>
              <a:rPr sz="2600" b="0" i="0">
                <a:solidFill>
                  <a:srgbClr val="F2B66D"/>
                </a:solidFill>
                <a:latin typeface="Segoe UI Semibold"/>
              </a:rPr>
              <a:t>100%</a:t>
            </a:r>
          </a:p>
        </p:txBody>
      </p:sp>
      <p:sp>
        <p:nvSpPr>
          <p:cNvPr id="144" name="TextBox 143"/>
          <p:cNvSpPr txBox="1"/>
          <p:nvPr/>
        </p:nvSpPr>
        <p:spPr>
          <a:xfrm>
            <a:off x="685800" y="4279392"/>
            <a:ext cx="1554480" cy="320040"/>
          </a:xfrm>
          <a:prstGeom prst="rect">
            <a:avLst/>
          </a:prstGeom>
          <a:noFill/>
        </p:spPr>
        <p:txBody>
          <a:bodyPr wrap="square" lIns="0" tIns="0" rIns="0" bIns="0" anchor="t">
            <a:spAutoFit/>
          </a:bodyPr>
          <a:lstStyle/>
          <a:p>
            <a:pPr algn="l"/>
            <a:r>
              <a:rPr sz="950" b="0" i="0">
                <a:solidFill>
                  <a:srgbClr val="CFC6BA"/>
                </a:solidFill>
                <a:latin typeface="Segoe UI"/>
              </a:rPr>
              <a:t>exact deeplinks</a:t>
            </a:r>
          </a:p>
        </p:txBody>
      </p:sp>
      <p:sp>
        <p:nvSpPr>
          <p:cNvPr id="145" name="TextBox 144"/>
          <p:cNvSpPr txBox="1"/>
          <p:nvPr/>
        </p:nvSpPr>
        <p:spPr>
          <a:xfrm>
            <a:off x="2286000" y="3703320"/>
            <a:ext cx="1554480" cy="548640"/>
          </a:xfrm>
          <a:prstGeom prst="rect">
            <a:avLst/>
          </a:prstGeom>
          <a:noFill/>
        </p:spPr>
        <p:txBody>
          <a:bodyPr wrap="square" lIns="0" tIns="0" rIns="0" bIns="0" anchor="t">
            <a:spAutoFit/>
          </a:bodyPr>
          <a:lstStyle/>
          <a:p>
            <a:pPr algn="l"/>
            <a:r>
              <a:rPr sz="2600" b="0" i="0">
                <a:solidFill>
                  <a:srgbClr val="FFFFFF"/>
                </a:solidFill>
                <a:latin typeface="Segoe UI Semibold"/>
              </a:rPr>
              <a:t>80%</a:t>
            </a:r>
          </a:p>
        </p:txBody>
      </p:sp>
      <p:sp>
        <p:nvSpPr>
          <p:cNvPr id="146" name="TextBox 145"/>
          <p:cNvSpPr txBox="1"/>
          <p:nvPr/>
        </p:nvSpPr>
        <p:spPr>
          <a:xfrm>
            <a:off x="2286000" y="4279392"/>
            <a:ext cx="1554480" cy="320040"/>
          </a:xfrm>
          <a:prstGeom prst="rect">
            <a:avLst/>
          </a:prstGeom>
          <a:noFill/>
        </p:spPr>
        <p:txBody>
          <a:bodyPr wrap="square" lIns="0" tIns="0" rIns="0" bIns="0" anchor="t">
            <a:spAutoFit/>
          </a:bodyPr>
          <a:lstStyle/>
          <a:p>
            <a:pPr algn="l"/>
            <a:r>
              <a:rPr sz="950" b="0" i="0">
                <a:solidFill>
                  <a:srgbClr val="CFC6BA"/>
                </a:solidFill>
                <a:latin typeface="Segoe UI"/>
              </a:rPr>
              <a:t>paraphrase cache hits</a:t>
            </a:r>
          </a:p>
        </p:txBody>
      </p:sp>
      <p:sp>
        <p:nvSpPr>
          <p:cNvPr id="147" name="TextBox 146"/>
          <p:cNvSpPr txBox="1"/>
          <p:nvPr/>
        </p:nvSpPr>
        <p:spPr>
          <a:xfrm>
            <a:off x="3886200" y="3703320"/>
            <a:ext cx="1554480" cy="548640"/>
          </a:xfrm>
          <a:prstGeom prst="rect">
            <a:avLst/>
          </a:prstGeom>
          <a:noFill/>
        </p:spPr>
        <p:txBody>
          <a:bodyPr wrap="square" lIns="0" tIns="0" rIns="0" bIns="0" anchor="t">
            <a:spAutoFit/>
          </a:bodyPr>
          <a:lstStyle/>
          <a:p>
            <a:pPr algn="l"/>
            <a:r>
              <a:rPr sz="2600" b="0" i="0">
                <a:solidFill>
                  <a:srgbClr val="FFFFFF"/>
                </a:solidFill>
                <a:latin typeface="Segoe UI Semibold"/>
              </a:rPr>
              <a:t>3.8 s</a:t>
            </a:r>
          </a:p>
        </p:txBody>
      </p:sp>
      <p:sp>
        <p:nvSpPr>
          <p:cNvPr id="148" name="TextBox 147"/>
          <p:cNvSpPr txBox="1"/>
          <p:nvPr/>
        </p:nvSpPr>
        <p:spPr>
          <a:xfrm>
            <a:off x="3886200" y="4279392"/>
            <a:ext cx="1554480" cy="320040"/>
          </a:xfrm>
          <a:prstGeom prst="rect">
            <a:avLst/>
          </a:prstGeom>
          <a:noFill/>
        </p:spPr>
        <p:txBody>
          <a:bodyPr wrap="square" lIns="0" tIns="0" rIns="0" bIns="0" anchor="t">
            <a:spAutoFit/>
          </a:bodyPr>
          <a:lstStyle/>
          <a:p>
            <a:pPr algn="l"/>
            <a:r>
              <a:rPr sz="950" b="0" i="0">
                <a:solidFill>
                  <a:srgbClr val="CFC6BA"/>
                </a:solidFill>
                <a:latin typeface="Segoe UI"/>
              </a:rPr>
              <a:t>cold path, P95</a:t>
            </a:r>
          </a:p>
        </p:txBody>
      </p:sp>
      <p:sp>
        <p:nvSpPr>
          <p:cNvPr id="149" name="TextBox 148"/>
          <p:cNvSpPr txBox="1"/>
          <p:nvPr/>
        </p:nvSpPr>
        <p:spPr>
          <a:xfrm>
            <a:off x="5486400" y="3703320"/>
            <a:ext cx="1554480" cy="548640"/>
          </a:xfrm>
          <a:prstGeom prst="rect">
            <a:avLst/>
          </a:prstGeom>
          <a:noFill/>
        </p:spPr>
        <p:txBody>
          <a:bodyPr wrap="square" lIns="0" tIns="0" rIns="0" bIns="0" anchor="t">
            <a:spAutoFit/>
          </a:bodyPr>
          <a:lstStyle/>
          <a:p>
            <a:pPr algn="l"/>
            <a:r>
              <a:rPr sz="2600" b="0" i="0">
                <a:solidFill>
                  <a:srgbClr val="FFFFFF"/>
                </a:solidFill>
                <a:latin typeface="Segoe UI Semibold"/>
              </a:rPr>
              <a:t>4/20</a:t>
            </a:r>
          </a:p>
        </p:txBody>
      </p:sp>
      <p:sp>
        <p:nvSpPr>
          <p:cNvPr id="150" name="TextBox 149"/>
          <p:cNvSpPr txBox="1"/>
          <p:nvPr/>
        </p:nvSpPr>
        <p:spPr>
          <a:xfrm>
            <a:off x="5486400" y="4279392"/>
            <a:ext cx="1554480" cy="320040"/>
          </a:xfrm>
          <a:prstGeom prst="rect">
            <a:avLst/>
          </a:prstGeom>
          <a:noFill/>
        </p:spPr>
        <p:txBody>
          <a:bodyPr wrap="square" lIns="0" tIns="0" rIns="0" bIns="0" anchor="t">
            <a:spAutoFit/>
          </a:bodyPr>
          <a:lstStyle/>
          <a:p>
            <a:pPr algn="l"/>
            <a:r>
              <a:rPr sz="950" b="0" i="0">
                <a:solidFill>
                  <a:srgbClr val="CFC6BA"/>
                </a:solidFill>
                <a:latin typeface="Segoe UI"/>
              </a:rPr>
              <a:t>wrong articles refused</a:t>
            </a:r>
          </a:p>
        </p:txBody>
      </p:sp>
      <p:sp>
        <p:nvSpPr>
          <p:cNvPr id="151" name="Rectangle 150"/>
          <p:cNvSpPr/>
          <p:nvPr/>
        </p:nvSpPr>
        <p:spPr>
          <a:xfrm>
            <a:off x="685800" y="5806440"/>
            <a:ext cx="10835640" cy="9144"/>
          </a:xfrm>
          <a:prstGeom prst="rect">
            <a:avLst/>
          </a:prstGeom>
          <a:solidFill>
            <a:srgbClr val="5A4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685800" y="5897880"/>
            <a:ext cx="10835640" cy="457200"/>
          </a:xfrm>
          <a:prstGeom prst="rect">
            <a:avLst/>
          </a:prstGeom>
          <a:noFill/>
        </p:spPr>
        <p:txBody>
          <a:bodyPr wrap="square" lIns="0" tIns="0" rIns="0" bIns="0" anchor="t">
            <a:spAutoFit/>
          </a:bodyPr>
          <a:lstStyle/>
          <a:p>
            <a:pPr algn="l">
              <a:spcAft>
                <a:spcPts val="300"/>
              </a:spcAft>
            </a:pPr>
            <a:r>
              <a:rPr sz="850" b="0" i="0" spc="120">
                <a:solidFill>
                  <a:srgbClr val="CFC6BA"/>
                </a:solidFill>
                <a:latin typeface="Segoe UI"/>
              </a:rPr>
              <a:t>ARNAV JOSHI  ·  ajoshi4_be23@thapar.edu  ·  THAPAR INSTITUTE OF ENGINEERING &amp; TECHNOLOGY</a:t>
            </a:r>
          </a:p>
          <a:p>
            <a:pPr algn="l"/>
            <a:r>
              <a:rPr sz="850" b="0" i="0" spc="120">
                <a:solidFill>
                  <a:srgbClr val="F2B66D"/>
                </a:solidFill>
                <a:latin typeface="Segoe UI"/>
              </a:rPr>
              <a:t>CODE  github.com/Arnav020/Tap-Trace   |   LIVE DEMO  taptrace.onrender.com</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2324</Words>
  <Application>Microsoft Office PowerPoint</Application>
  <PresentationFormat>Widescreen</PresentationFormat>
  <Paragraphs>225</Paragraphs>
  <Slides>8</Slides>
  <Notes>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Arnav Joshi</cp:lastModifiedBy>
  <cp:revision>1</cp:revision>
  <dcterms:created xsi:type="dcterms:W3CDTF">2026-09-07T12:01:01Z</dcterms:created>
  <dcterms:modified xsi:type="dcterms:W3CDTF">2026-10-16T20:58:51Z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