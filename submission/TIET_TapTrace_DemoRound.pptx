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1-8235-437C-92C6-4E7365970266}"/>
              </c:ext>
            </c:extLst>
          </c:dPt>
          <c:dPt>
            <c:idx val="1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3-8235-437C-92C6-4E7365970266}"/>
              </c:ext>
            </c:extLst>
          </c:dPt>
          <c:dPt>
            <c:idx val="2"/>
            <c:invertIfNegative val="1"/>
            <c:bubble3D val="0"/>
            <c:spPr>
              <a:solidFill>
                <a:srgbClr val="6B6259"/>
              </a:solidFill>
            </c:spPr>
            <c:extLst>
              <c:ext xmlns:c16="http://schemas.microsoft.com/office/drawing/2014/chart" uri="{C3380CC4-5D6E-409C-BE32-E72D297353CC}">
                <c16:uniqueId val="{00000005-8235-437C-92C6-4E7365970266}"/>
              </c:ext>
            </c:extLst>
          </c:dPt>
          <c:dPt>
            <c:idx val="3"/>
            <c:invertIfNegative val="1"/>
            <c:bubble3D val="0"/>
            <c:spPr>
              <a:solidFill>
                <a:srgbClr val="F2B66D"/>
              </a:solidFill>
            </c:spPr>
            <c:extLst>
              <c:ext xmlns:c16="http://schemas.microsoft.com/office/drawing/2014/chart" uri="{C3380CC4-5D6E-409C-BE32-E72D297353CC}">
                <c16:uniqueId val="{00000007-8235-437C-92C6-4E7365970266}"/>
              </c:ext>
            </c:extLst>
          </c:dPt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1">
                    <a:solidFill>
                      <a:srgbClr val="F5EFE6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Hybrid</c:v>
                </c:pt>
                <c:pt idx="1">
                  <c:v>Rules</c:v>
                </c:pt>
                <c:pt idx="2">
                  <c:v>Full LLM</c:v>
                </c:pt>
                <c:pt idx="3">
                  <c:v>TapTrace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46</c:v>
                </c:pt>
                <c:pt idx="1">
                  <c:v>59</c:v>
                </c:pt>
                <c:pt idx="2">
                  <c:v>81</c:v>
                </c:pt>
                <c:pt idx="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235-437C-92C6-4E736597026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5A534B"/>
            </a:solidFill>
          </a:ln>
        </c:spPr>
        <c:txPr>
          <a:bodyPr/>
          <a:lstStyle/>
          <a:p>
            <a:pPr>
              <a:defRPr sz="850">
                <a:solidFill>
                  <a:srgbClr val="D9D2C7"/>
                </a:solidFill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5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850">
          <a:solidFill>
            <a:srgbClr val="D9D2C7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0:00]</a:t>
            </a:r>
          </a:p>
          <a:p>
            <a:r>
              <a:t>Good morning. / I'm Arnav Joshi, from Thapar Institute of Engineering and Technology, / and this is TapTrace, my solution for Theme 2, the Smart Guided Troubleshooting Engine. //</a:t>
            </a:r>
          </a:p>
          <a:p>
            <a:endParaRPr/>
          </a:p>
          <a:p>
            <a:r>
              <a:t>TapTrace turns a vague complaint about a phone / into a clear, ordered fix plan. / Every step comes from the official support article, / and every Settings change is one tap away. //</a:t>
            </a:r>
          </a:p>
          <a:p>
            <a:endParaRPr/>
          </a:p>
          <a:p>
            <a:r>
              <a:t>[Click to slide 2.]</a:t>
            </a:r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0:25]</a:t>
            </a:r>
          </a:p>
          <a:p>
            <a:r>
              <a:t>Let me start with the problem. / A customer doesn't say, "please enable Touch sensitivity". / They say, "my touch is laggy." //</a:t>
            </a:r>
          </a:p>
          <a:p>
            <a:endParaRPr/>
          </a:p>
          <a:p>
            <a:r>
              <a:t>Today, an agent reads the support article, picks the right steps, and puts them in order. / That takes about fifteen minutes, / and the customer still has to hunt through Settings. //</a:t>
            </a:r>
          </a:p>
          <a:p>
            <a:endParaRPr/>
          </a:p>
          <a:p>
            <a:r>
              <a:t>The brief asks for steps taken only from the article, / the exact Settings screen in one tap, / and repeat answers in under three hundred milliseconds. //</a:t>
            </a:r>
          </a:p>
          <a:p>
            <a:endParaRPr/>
          </a:p>
          <a:p>
            <a:r>
              <a:t>Before writing any code, I audited all the data, / and found six traps. [Point to the right side.] / Twenty-one TV and appliance screens are hidden in the phone catalog. / Fourteen labels name the wrong feature. / "Won't turn on" and "won't turn off" look ninety-four percent similar to an AI model. / And four of the twenty articles are simply the wrong document. //</a:t>
            </a:r>
          </a:p>
          <a:p>
            <a:endParaRPr/>
          </a:p>
          <a:p>
            <a:r>
              <a:t>Each of these traps became a part of the design.</a:t>
            </a:r>
          </a:p>
          <a:p>
            <a:endParaRPr/>
          </a:p>
          <a:p>
            <a:r>
              <a:t>[Click to slide 3.]</a:t>
            </a:r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1:25]</a:t>
            </a:r>
          </a:p>
          <a:p>
            <a:r>
              <a:t>Here is the architecture. [Point to the top lane.] / If a question was answered before, even in different words, / the cache answers it in about three milliseconds, / with no AI call and zero cost. //</a:t>
            </a:r>
          </a:p>
          <a:p>
            <a:endParaRPr/>
          </a:p>
          <a:p>
            <a:r>
              <a:t>A new complaint goes through five stages. [Move left to right.] / Understand: rules read the symptom, the screen part, and whether it's on or off. / Ground: we check the article actually fits, and cut steps from its own sentences. / Resolve: each Settings step is matched to the exact screen in the catalog. / Compose: safe settings first, factory reset last. / And Guarantee: the answer is checked against Samsung's own schema. //</a:t>
            </a:r>
          </a:p>
          <a:p>
            <a:endParaRPr/>
          </a:p>
          <a:p>
            <a:r>
              <a:t>The AI is used twice, in parallel, only for language. / It never writes a step. //</a:t>
            </a:r>
          </a:p>
          <a:p>
            <a:endParaRPr/>
          </a:p>
          <a:p>
            <a:r>
              <a:t>[Click to slide 4.]</a:t>
            </a:r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2:15]</a:t>
            </a:r>
          </a:p>
          <a:p>
            <a:r>
              <a:t>Four modules carry the design, / and each one has a number behind it. //</a:t>
            </a:r>
          </a:p>
          <a:p>
            <a:endParaRPr/>
          </a:p>
          <a:p>
            <a:r>
              <a:t>First, evidence-locked extraction. / Because steps are copied from the article, step accuracy is three out of three, with zero links leaked. //</a:t>
            </a:r>
          </a:p>
          <a:p>
            <a:endParaRPr/>
          </a:p>
          <a:p>
            <a:r>
              <a:t>Second, the catalog compiler and resolver. [Point to the chart.] / On a thirty-seven case benchmark, it picks the exact screen every time. / A full-AI approach gets eighty-one percent. //</a:t>
            </a:r>
          </a:p>
          <a:p>
            <a:endParaRPr/>
          </a:p>
          <a:p>
            <a:r>
              <a:t>Third, the relevance gate. / It catches all four wrong articles, and returns "no match" instead of inventing steps. //</a:t>
            </a:r>
          </a:p>
          <a:p>
            <a:endParaRPr/>
          </a:p>
          <a:p>
            <a:r>
              <a:t>And fourth, the cache. / Each saved answer learns its own boundary from near-miss examples, / and it answers eighty percent of new rewordings on a frozen test set. //</a:t>
            </a:r>
          </a:p>
          <a:p>
            <a:endParaRPr/>
          </a:p>
          <a:p>
            <a:r>
              <a:t>[Click to slide 5.]</a:t>
            </a:r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3:05]</a:t>
            </a:r>
          </a:p>
          <a:p>
            <a:r>
              <a:t>So where does this fit at Samsung? / In four places. [Move left to right.] //</a:t>
            </a:r>
          </a:p>
          <a:p>
            <a:endParaRPr/>
          </a:p>
          <a:p>
            <a:r>
              <a:t>Customer-care agents get the ordered plan, with each step highlighted in the SIIS article. / Fifteen minutes becomes about a second. //</a:t>
            </a:r>
          </a:p>
          <a:p>
            <a:endParaRPr/>
          </a:p>
          <a:p>
            <a:r>
              <a:t>In Samsung Members, users get one-tap fixes, / and a validation probe confirms each fix worked. //</a:t>
            </a:r>
          </a:p>
          <a:p>
            <a:endParaRPr/>
          </a:p>
          <a:p>
            <a:r>
              <a:t>With Bixby, a spoken complaint becomes a plan, / and Bixby opens the exact screen through the same deeplink system. //</a:t>
            </a:r>
          </a:p>
          <a:p>
            <a:endParaRPr/>
          </a:p>
          <a:p>
            <a:r>
              <a:t>And since the model is only twenty-three megabytes on a CPU, / known issues could even be answered on the phone, offline. //</a:t>
            </a:r>
          </a:p>
          <a:p>
            <a:endParaRPr/>
          </a:p>
          <a:p>
            <a:r>
              <a:t>The data we received was masked, / so moving to Samsung's real names is configuration, not new code. //</a:t>
            </a:r>
          </a:p>
          <a:p>
            <a:endParaRPr/>
          </a:p>
          <a:p>
            <a:r>
              <a:t>[Click to slide 6.]</a:t>
            </a:r>
          </a:p>
        </p:txBody>
      </p:sp>
      <p:sp>
        <p:nvSpPr>
          <p:cNvPr id="117" name="Google Shape;11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3:50]</a:t>
            </a:r>
          </a:p>
          <a:p>
            <a:r>
              <a:t>Scalability. / Covering a new scenario takes a knowledge article, not new code. //</a:t>
            </a:r>
          </a:p>
          <a:p>
            <a:endParaRPr/>
          </a:p>
          <a:p>
            <a:r>
              <a:t>The article goes in, / the steps and screens are found automatically, / the first request costs a tiny fraction of a cent, / and after that every repeat is free and instant. //</a:t>
            </a:r>
          </a:p>
          <a:p>
            <a:endParaRPr/>
          </a:p>
          <a:p>
            <a:r>
              <a:t>To prove it, I tested articles the engine had never seen: / battery, camera, performance and Wi-Fi. [Point to 8 / 8.] / All eight Settings steps went to the exact screen. //</a:t>
            </a:r>
          </a:p>
          <a:p>
            <a:endParaRPr/>
          </a:p>
          <a:p>
            <a:r>
              <a:t>Ten thousand scenarios would cost about three dollars, once. //</a:t>
            </a:r>
          </a:p>
          <a:p>
            <a:endParaRPr/>
          </a:p>
          <a:p>
            <a:r>
              <a:t>[Click to slide 7.]</a:t>
            </a:r>
          </a:p>
        </p:txBody>
      </p:sp>
      <p:sp>
        <p:nvSpPr>
          <p:cNvPr id="123" name="Google Shape;12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4:25]</a:t>
            </a:r>
          </a:p>
          <a:p>
            <a:r>
              <a:t>Now let me show you the live system. / This is a recording of the deployed site. //</a:t>
            </a:r>
          </a:p>
          <a:p>
            <a:endParaRPr/>
          </a:p>
          <a:p>
            <a:r>
              <a:t>[Click the video. Stay silent while it plays; it has its own narration. When it ends, click to slide 8.]</a:t>
            </a:r>
          </a:p>
        </p:txBody>
      </p:sp>
      <p:sp>
        <p:nvSpPr>
          <p:cNvPr id="129" name="Google Shape;12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[start 6:25]</a:t>
            </a:r>
          </a:p>
          <a:p>
            <a:r>
              <a:t>To sum up: / exact screens, grounded steps, / and honest answers when the knowledge doesn't fit. //</a:t>
            </a:r>
          </a:p>
          <a:p>
            <a:endParaRPr/>
          </a:p>
          <a:p>
            <a:r>
              <a:t>The code and the live demo are linked here. / Thank you, / I'm happy to take your questions.</a:t>
            </a:r>
          </a:p>
          <a:p>
            <a:endParaRPr/>
          </a:p>
          <a:p>
            <a:r>
              <a:t>[Stop talking. Wait for the first question.]</a:t>
            </a:r>
          </a:p>
        </p:txBody>
      </p:sp>
      <p:sp>
        <p:nvSpPr>
          <p:cNvPr id="135" name="Google Shape;13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svg"/><Relationship Id="rId3" Type="http://schemas.openxmlformats.org/officeDocument/2006/relationships/image" Target="../media/image6.jpg"/><Relationship Id="rId7" Type="http://schemas.openxmlformats.org/officeDocument/2006/relationships/image" Target="../media/image10.svg"/><Relationship Id="rId12" Type="http://schemas.openxmlformats.org/officeDocument/2006/relationships/image" Target="../media/image1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Relationship Id="rId14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6.jp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6.jpg"/><Relationship Id="rId7" Type="http://schemas.openxmlformats.org/officeDocument/2006/relationships/image" Target="../media/image2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24.svg"/><Relationship Id="rId4" Type="http://schemas.openxmlformats.org/officeDocument/2006/relationships/image" Target="../media/image2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8.png"/><Relationship Id="rId5" Type="http://schemas.openxmlformats.org/officeDocument/2006/relationships/image" Target="../media/image6.jp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91" name="Oval 90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606040" y="717804"/>
            <a:ext cx="1097280" cy="9144"/>
          </a:xfrm>
          <a:prstGeom prst="rect">
            <a:avLst/>
          </a:prstGeom>
          <a:solidFill>
            <a:srgbClr val="8A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840480" y="56692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300">
                <a:solidFill>
                  <a:srgbClr val="CFC6BA"/>
                </a:solidFill>
                <a:latin typeface="Segoe UI"/>
              </a:rPr>
              <a:t>SAMSUNG PRISM  ·  GENAI HACKATHON 3.0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1417320"/>
            <a:ext cx="64008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From a vague complaint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to a </a:t>
            </a:r>
            <a:r>
              <a:rPr sz="4400" b="0" i="0">
                <a:solidFill>
                  <a:srgbClr val="F2B66D"/>
                </a:solidFill>
                <a:latin typeface="Segoe UI Semibold"/>
              </a:rPr>
              <a:t>verified fix</a:t>
            </a:r>
            <a:r>
              <a:rPr sz="4400" b="0" i="0">
                <a:solidFill>
                  <a:srgbClr val="FFFFFF"/>
                </a:solidFill>
                <a:latin typeface="Segoe UI Semibold"/>
              </a:rPr>
              <a:t>,</a:t>
            </a:r>
          </a:p>
          <a:p>
            <a:pPr algn="l">
              <a:lnSpc>
                <a:spcPct val="95000"/>
              </a:lnSpc>
            </a:pPr>
            <a:r>
              <a:rPr sz="4400" b="0" i="0">
                <a:solidFill>
                  <a:srgbClr val="FFFFFF"/>
                </a:solidFill>
                <a:latin typeface="Segoe UI Semibold"/>
              </a:rPr>
              <a:t>in one tap.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85800" y="3840480"/>
            <a:ext cx="5669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E6DDD1"/>
                </a:solidFill>
                <a:latin typeface="Segoe UI"/>
              </a:rPr>
              <a:t>A grounded troubleshooting engine for Samsung PRISM Theme 02: every step traced to its source, every Settings fix one exact deeplink away, every repeat answered from cache in milliseconds.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85800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Evidence-locked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steps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67128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Exact-screen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deeplinks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39112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3648456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Relevance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20440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129784" y="5321808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Contrastive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cache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001768" y="4919472"/>
            <a:ext cx="9144" cy="777240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685800" y="6144768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685800" y="621792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 spc="120">
                <a:solidFill>
                  <a:srgbClr val="CFC6BA"/>
                </a:solidFill>
                <a:latin typeface="Segoe UI"/>
              </a:rPr>
              <a:t>THEME ID 02   |   TEAM TAPTRACE   |   THAPAR INSTITUTE OF ENGINEERING &amp; TECHNOLOGY   |   ARNAV JOSHI · ajoshi4_be23@thapar.edu</a:t>
            </a:r>
          </a:p>
          <a:p>
            <a:pPr algn="l"/>
            <a:r>
              <a:rPr sz="850" b="0" i="0" spc="120">
                <a:solidFill>
                  <a:srgbClr val="F2B66D"/>
                </a:solidFill>
                <a:latin typeface="Segoe UI"/>
              </a:rPr>
              <a:t>CODE  github.com/Arnav020/Tap-Trace   |   LIVE DEMO  taptrace-abmd.onrender.com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069FA442-14F5-E5EA-7B99-87B2A98A264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4892040"/>
            <a:ext cx="329184" cy="32918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A77885C4-1C43-0682-1AC6-7A33EEF50D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167128" y="4892040"/>
            <a:ext cx="329184" cy="32918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65234C6B-F20B-CDBE-9639-EA5A90B1538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48456" y="4892040"/>
            <a:ext cx="329184" cy="32918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459452DF-38F8-3A78-3BD2-4F7AF1E9F38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29784" y="489204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00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Oval 10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01  |  UNDERSTANDING THE PROBLEM &amp; CAVEATS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Vague complaints meet adversarial data: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six caveats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 shaped every design decision.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Found by auditing all 578 catalog rows and 20 knowledge articles before writing any code.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02 / 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66928" y="2103120"/>
            <a:ext cx="3886200" cy="425196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795528" y="226771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THE PROBLEM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95528" y="2560320"/>
            <a:ext cx="347472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1">
                <a:solidFill>
                  <a:srgbClr val="F5EFE6"/>
                </a:solidFill>
                <a:latin typeface="Segoe UI"/>
              </a:rPr>
              <a:t>“My Nexa X1 screen inputs are delayed and the touch responsiveness is laggy…”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95528" y="3310128"/>
            <a:ext cx="3474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A89F93"/>
                </a:solidFill>
                <a:latin typeface="Segoe UI"/>
              </a:rPr>
              <a:t>Today an agent reads the article, picks and orders the steps by hand (about 15 minutes per case), and the customer still hunts through nested Settings menus.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95528" y="431596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WHAT THE BRIEF DEMANDS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61288" y="4617720"/>
            <a:ext cx="32004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D9D2C7"/>
                </a:solidFill>
                <a:latin typeface="Segoe UI"/>
              </a:rPr>
              <a:t>Ordered steps, only from the article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61288" y="5038344"/>
            <a:ext cx="32004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D9D2C7"/>
                </a:solidFill>
                <a:latin typeface="Segoe UI"/>
              </a:rPr>
              <a:t>The exact Settings screen, one tap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61288" y="5458968"/>
            <a:ext cx="32004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D9D2C7"/>
                </a:solidFill>
                <a:latin typeface="Segoe UI"/>
              </a:rPr>
              <a:t>Repeats in ≤ 300 ms, new in ≤ 8 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61288" y="5879592"/>
            <a:ext cx="32004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D9D2C7"/>
                </a:solidFill>
                <a:latin typeface="Segoe UI"/>
              </a:rPr>
              <a:t>Strict JSON contract, zero URL leaks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4599432" y="2103120"/>
            <a:ext cx="3364992" cy="1307592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764024" y="2286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5312664" y="2231136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21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312664" y="2706624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TV and appliance screens hidden in the phone catalog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532120" y="30358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Catalog Compiler quarantines them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8101583" y="2103120"/>
            <a:ext cx="3364992" cy="1307592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8266175" y="2286000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8814815" y="2231136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814815" y="2706624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catalog labels that name the wrong feature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34272" y="3035808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Match screens, never trust labels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599432" y="3575303"/>
            <a:ext cx="3364992" cy="1307592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4764024" y="3758183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5312664" y="370332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0.94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312664" y="4178807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similarity of “won’t turn ON” and “won’t turn OFF”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532120" y="4507992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Polarity-aware resolver and cache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8101583" y="3575303"/>
            <a:ext cx="3364992" cy="1307592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Rounded Rectangle 146"/>
          <p:cNvSpPr/>
          <p:nvPr/>
        </p:nvSpPr>
        <p:spPr>
          <a:xfrm>
            <a:off x="8266175" y="3758183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8814815" y="3703320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4 / 20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8814815" y="4178807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knowledge articles are the wrong document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34272" y="4507992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Relevance gate returns no_match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599432" y="5047488"/>
            <a:ext cx="3364992" cy="1307592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ounded Rectangle 153"/>
          <p:cNvSpPr/>
          <p:nvPr/>
        </p:nvSpPr>
        <p:spPr>
          <a:xfrm>
            <a:off x="4764024" y="523036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5312664" y="5175503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DL-0022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5312664" y="565099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is nearest to “factory reset”, but a different screen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532120" y="5980175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Abstain instead of guessing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01583" y="5047488"/>
            <a:ext cx="3364992" cy="1307592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8266175" y="5230368"/>
            <a:ext cx="420624" cy="420624"/>
          </a:xfrm>
          <a:prstGeom prst="roundRect">
            <a:avLst>
              <a:gd name="adj" fmla="val 28000"/>
            </a:avLst>
          </a:prstGeom>
          <a:solidFill>
            <a:srgbClr val="F08A7A">
              <a:alpha val="1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814815" y="5175503"/>
            <a:ext cx="25603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0" i="0">
                <a:solidFill>
                  <a:srgbClr val="F5EFE6"/>
                </a:solidFill>
                <a:latin typeface="Segoe UI Semibold"/>
              </a:rPr>
              <a:t>12 words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814815" y="5650992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in the official sample’s description (5–7 allowed)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034272" y="5980175"/>
            <a:ext cx="23774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2B66D"/>
                </a:solidFill>
                <a:latin typeface="Segoe UI Semibold"/>
              </a:rPr>
              <a:t>Every field rule enforced in code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C144BE4B-A063-434C-87A7-17FF89E5F06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3816" y="4672583"/>
            <a:ext cx="219456" cy="219456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A09BF7B2-399C-85A1-17BC-DFC55346021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3816" y="5093207"/>
            <a:ext cx="219456" cy="219456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44E1C976-607C-5018-F164-EA1CE4C7DD5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3816" y="5513831"/>
            <a:ext cx="219456" cy="219456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6EC63FC0-2471-E8B8-48AD-33C6954DC4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3816" y="5934455"/>
            <a:ext cx="219456" cy="219456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D4D3723B-AB9F-FDFD-B363-8A2DFB4EBBA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864973" y="2386949"/>
            <a:ext cx="218724" cy="218724"/>
          </a:xfrm>
          <a:prstGeom prst="rect">
            <a:avLst/>
          </a:prstGeom>
        </p:spPr>
      </p:pic>
      <p:pic>
        <p:nvPicPr>
          <p:cNvPr id="13" name="icon">
            <a:extLst>
              <a:ext uri="{FF2B5EF4-FFF2-40B4-BE49-F238E27FC236}">
                <a16:creationId xmlns:a16="http://schemas.microsoft.com/office/drawing/2014/main" id="{49721994-FA0E-99DD-ECB2-D7FC444E73B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12664" y="3108960"/>
            <a:ext cx="164592" cy="164592"/>
          </a:xfrm>
          <a:prstGeom prst="rect">
            <a:avLst/>
          </a:prstGeom>
        </p:spPr>
      </p:pic>
      <p:pic>
        <p:nvPicPr>
          <p:cNvPr id="15" name="icon">
            <a:extLst>
              <a:ext uri="{FF2B5EF4-FFF2-40B4-BE49-F238E27FC236}">
                <a16:creationId xmlns:a16="http://schemas.microsoft.com/office/drawing/2014/main" id="{FA6980CE-9AFA-0581-8100-355358DCA5B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367125" y="2386949"/>
            <a:ext cx="218724" cy="218724"/>
          </a:xfrm>
          <a:prstGeom prst="rect">
            <a:avLst/>
          </a:prstGeom>
        </p:spPr>
      </p:pic>
      <p:pic>
        <p:nvPicPr>
          <p:cNvPr id="17" name="icon">
            <a:extLst>
              <a:ext uri="{FF2B5EF4-FFF2-40B4-BE49-F238E27FC236}">
                <a16:creationId xmlns:a16="http://schemas.microsoft.com/office/drawing/2014/main" id="{BEAD0FA4-0D6B-F4EA-B909-14812307CAC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14815" y="3108960"/>
            <a:ext cx="164592" cy="164592"/>
          </a:xfrm>
          <a:prstGeom prst="rect">
            <a:avLst/>
          </a:prstGeom>
        </p:spPr>
      </p:pic>
      <p:pic>
        <p:nvPicPr>
          <p:cNvPr id="19" name="icon">
            <a:extLst>
              <a:ext uri="{FF2B5EF4-FFF2-40B4-BE49-F238E27FC236}">
                <a16:creationId xmlns:a16="http://schemas.microsoft.com/office/drawing/2014/main" id="{0AE02357-E27D-5E3E-D746-0D37F1DB6A0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64973" y="3859133"/>
            <a:ext cx="218724" cy="218724"/>
          </a:xfrm>
          <a:prstGeom prst="rect">
            <a:avLst/>
          </a:prstGeom>
        </p:spPr>
      </p:pic>
      <p:pic>
        <p:nvPicPr>
          <p:cNvPr id="21" name="icon">
            <a:extLst>
              <a:ext uri="{FF2B5EF4-FFF2-40B4-BE49-F238E27FC236}">
                <a16:creationId xmlns:a16="http://schemas.microsoft.com/office/drawing/2014/main" id="{A5104523-E164-D674-EF5B-45AB144FFFD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12664" y="4581144"/>
            <a:ext cx="164592" cy="164592"/>
          </a:xfrm>
          <a:prstGeom prst="rect">
            <a:avLst/>
          </a:prstGeom>
        </p:spPr>
      </p:pic>
      <p:pic>
        <p:nvPicPr>
          <p:cNvPr id="23" name="icon">
            <a:extLst>
              <a:ext uri="{FF2B5EF4-FFF2-40B4-BE49-F238E27FC236}">
                <a16:creationId xmlns:a16="http://schemas.microsoft.com/office/drawing/2014/main" id="{040B6BDD-6522-88C9-3624-79DBF9EB9B5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367125" y="3859133"/>
            <a:ext cx="218724" cy="218724"/>
          </a:xfrm>
          <a:prstGeom prst="rect">
            <a:avLst/>
          </a:prstGeom>
        </p:spPr>
      </p:pic>
      <p:pic>
        <p:nvPicPr>
          <p:cNvPr id="25" name="icon">
            <a:extLst>
              <a:ext uri="{FF2B5EF4-FFF2-40B4-BE49-F238E27FC236}">
                <a16:creationId xmlns:a16="http://schemas.microsoft.com/office/drawing/2014/main" id="{6688732C-EA68-EC5C-5A88-839D24392BA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14815" y="4581144"/>
            <a:ext cx="164592" cy="164592"/>
          </a:xfrm>
          <a:prstGeom prst="rect">
            <a:avLst/>
          </a:prstGeom>
        </p:spPr>
      </p:pic>
      <p:pic>
        <p:nvPicPr>
          <p:cNvPr id="27" name="icon">
            <a:extLst>
              <a:ext uri="{FF2B5EF4-FFF2-40B4-BE49-F238E27FC236}">
                <a16:creationId xmlns:a16="http://schemas.microsoft.com/office/drawing/2014/main" id="{107BED7E-0562-C05C-C28C-1DCA2211C3D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864973" y="5331317"/>
            <a:ext cx="218724" cy="218724"/>
          </a:xfrm>
          <a:prstGeom prst="rect">
            <a:avLst/>
          </a:prstGeom>
        </p:spPr>
      </p:pic>
      <p:pic>
        <p:nvPicPr>
          <p:cNvPr id="29" name="icon">
            <a:extLst>
              <a:ext uri="{FF2B5EF4-FFF2-40B4-BE49-F238E27FC236}">
                <a16:creationId xmlns:a16="http://schemas.microsoft.com/office/drawing/2014/main" id="{67F87D61-1EDD-0A3F-A557-0D33BF30198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12664" y="6053327"/>
            <a:ext cx="164592" cy="164592"/>
          </a:xfrm>
          <a:prstGeom prst="rect">
            <a:avLst/>
          </a:prstGeom>
        </p:spPr>
      </p:pic>
      <p:pic>
        <p:nvPicPr>
          <p:cNvPr id="31" name="icon">
            <a:extLst>
              <a:ext uri="{FF2B5EF4-FFF2-40B4-BE49-F238E27FC236}">
                <a16:creationId xmlns:a16="http://schemas.microsoft.com/office/drawing/2014/main" id="{143B084B-B0A2-58A6-E5D7-D98EBF9B4D8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367125" y="5331317"/>
            <a:ext cx="218724" cy="218724"/>
          </a:xfrm>
          <a:prstGeom prst="rect">
            <a:avLst/>
          </a:prstGeom>
        </p:spPr>
      </p:pic>
      <p:pic>
        <p:nvPicPr>
          <p:cNvPr id="33" name="icon">
            <a:extLst>
              <a:ext uri="{FF2B5EF4-FFF2-40B4-BE49-F238E27FC236}">
                <a16:creationId xmlns:a16="http://schemas.microsoft.com/office/drawing/2014/main" id="{3CF48C0B-22BE-2318-E161-52B1D2AAE245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14815" y="6053327"/>
            <a:ext cx="164592" cy="164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106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8" name="Oval 107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02  |  CORE ARCHITECTURE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Five stages: the LLM may select and name steps, but it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never writes one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Everything except the two LLM calls is deterministic, tested code (27 automated tests).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03 /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6928" y="3154680"/>
            <a:ext cx="1417320" cy="1600200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0" i="0">
                <a:solidFill>
                  <a:srgbClr val="F5EFE6"/>
                </a:solidFill>
                <a:latin typeface="Segoe UI Semibold"/>
              </a:rPr>
              <a:t>Complaint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+ optional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support article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240280" y="2121408"/>
            <a:ext cx="9381744" cy="566928"/>
          </a:xfrm>
          <a:prstGeom prst="roundRect">
            <a:avLst>
              <a:gd name="adj" fmla="val 30000"/>
            </a:avLst>
          </a:prstGeom>
          <a:solidFill>
            <a:srgbClr val="F2B66D">
              <a:alpha val="14000"/>
            </a:srgbClr>
          </a:solidFill>
          <a:ln w="13970">
            <a:solidFill>
              <a:srgbClr val="F2B6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2788920" y="2121408"/>
            <a:ext cx="8686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2B66D"/>
                </a:solidFill>
                <a:latin typeface="Segoe UI Semibold"/>
              </a:rPr>
              <a:t>Fast path  </a:t>
            </a:r>
            <a:r>
              <a:rPr sz="1050" b="0" i="0">
                <a:solidFill>
                  <a:srgbClr val="D9D2C7"/>
                </a:solidFill>
                <a:latin typeface="Segoe UI"/>
              </a:rPr>
              <a:t>contrastive semantic cache answers repeats and paraphrases in </a:t>
            </a:r>
            <a:r>
              <a:rPr sz="1050" b="0" i="0">
                <a:solidFill>
                  <a:srgbClr val="F5EFE6"/>
                </a:solidFill>
                <a:latin typeface="Segoe UI Semibold"/>
              </a:rPr>
              <a:t>3.5 ms (P95), $0, no LLM call</a:t>
            </a:r>
          </a:p>
        </p:txBody>
      </p:sp>
      <p:cxnSp>
        <p:nvCxnSpPr>
          <p:cNvPr id="122" name="Connector 121"/>
          <p:cNvCxnSpPr/>
          <p:nvPr/>
        </p:nvCxnSpPr>
        <p:spPr>
          <a:xfrm flipV="1">
            <a:off x="1280160" y="2404872"/>
            <a:ext cx="0" cy="749808"/>
          </a:xfrm>
          <a:prstGeom prst="line">
            <a:avLst/>
          </a:prstGeom>
          <a:ln w="15875">
            <a:solidFill>
              <a:srgbClr val="F2B66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280160" y="2404872"/>
            <a:ext cx="960120" cy="0"/>
          </a:xfrm>
          <a:prstGeom prst="line">
            <a:avLst/>
          </a:prstGeom>
          <a:ln w="15875">
            <a:solidFill>
              <a:srgbClr val="F2B66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ounded Rectangle 123"/>
          <p:cNvSpPr/>
          <p:nvPr/>
        </p:nvSpPr>
        <p:spPr>
          <a:xfrm>
            <a:off x="2240280" y="3017520"/>
            <a:ext cx="1700784" cy="1874519"/>
          </a:xfrm>
          <a:prstGeom prst="roundRect">
            <a:avLst>
              <a:gd name="adj" fmla="val 6000"/>
            </a:avLst>
          </a:prstGeom>
          <a:solidFill>
            <a:srgbClr val="9DBFE3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2377440" y="3154680"/>
            <a:ext cx="347472" cy="347472"/>
          </a:xfrm>
          <a:prstGeom prst="ellipse">
            <a:avLst/>
          </a:prstGeom>
          <a:solidFill>
            <a:srgbClr val="9DB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807208" y="3154680"/>
            <a:ext cx="10972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F5EFE6"/>
                </a:solidFill>
                <a:latin typeface="Segoe UI Semibold"/>
              </a:rPr>
              <a:t>Understand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359152" y="3703320"/>
            <a:ext cx="1463040" cy="1005840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 i="0">
                <a:solidFill>
                  <a:srgbClr val="F5EFE6"/>
                </a:solidFill>
                <a:latin typeface="Segoe UI Semibold"/>
              </a:rPr>
              <a:t>Facet frame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symptom · part · on/off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3950208" y="3950208"/>
            <a:ext cx="201168" cy="0"/>
          </a:xfrm>
          <a:prstGeom prst="line">
            <a:avLst/>
          </a:prstGeom>
          <a:ln w="15875">
            <a:solidFill>
              <a:srgbClr val="A89F9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ounded Rectangle 128"/>
          <p:cNvSpPr/>
          <p:nvPr/>
        </p:nvSpPr>
        <p:spPr>
          <a:xfrm>
            <a:off x="4160520" y="3017520"/>
            <a:ext cx="1700784" cy="1874519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Oval 129"/>
          <p:cNvSpPr/>
          <p:nvPr/>
        </p:nvSpPr>
        <p:spPr>
          <a:xfrm>
            <a:off x="4297680" y="3154680"/>
            <a:ext cx="347472" cy="347472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27448" y="3154680"/>
            <a:ext cx="10972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F5EFE6"/>
                </a:solidFill>
                <a:latin typeface="Segoe UI Semibold"/>
              </a:rPr>
              <a:t>Ground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279392" y="3703320"/>
            <a:ext cx="1463040" cy="1005840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 i="0">
                <a:solidFill>
                  <a:srgbClr val="F5EFE6"/>
                </a:solidFill>
                <a:latin typeface="Segoe UI Semibold"/>
              </a:rPr>
              <a:t>Relevance gate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+ evidence-locked units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5870448" y="3950208"/>
            <a:ext cx="201168" cy="0"/>
          </a:xfrm>
          <a:prstGeom prst="line">
            <a:avLst/>
          </a:prstGeom>
          <a:ln w="15875">
            <a:solidFill>
              <a:srgbClr val="A89F9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/>
          <p:cNvSpPr/>
          <p:nvPr/>
        </p:nvSpPr>
        <p:spPr>
          <a:xfrm>
            <a:off x="6080760" y="3017520"/>
            <a:ext cx="1700784" cy="1874519"/>
          </a:xfrm>
          <a:prstGeom prst="roundRect">
            <a:avLst>
              <a:gd name="adj" fmla="val 6000"/>
            </a:avLst>
          </a:prstGeom>
          <a:solidFill>
            <a:srgbClr val="93CDB9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Oval 134"/>
          <p:cNvSpPr/>
          <p:nvPr/>
        </p:nvSpPr>
        <p:spPr>
          <a:xfrm>
            <a:off x="6217920" y="3154680"/>
            <a:ext cx="347472" cy="347472"/>
          </a:xfrm>
          <a:prstGeom prst="ellipse">
            <a:avLst/>
          </a:prstGeom>
          <a:solidFill>
            <a:srgbClr val="93CD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47688" y="3154680"/>
            <a:ext cx="10972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F5EFE6"/>
                </a:solidFill>
                <a:latin typeface="Segoe UI Semibold"/>
              </a:rPr>
              <a:t>Resolve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99632" y="3703320"/>
            <a:ext cx="1463040" cy="1005840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 i="0">
                <a:solidFill>
                  <a:srgbClr val="F5EFE6"/>
                </a:solidFill>
                <a:latin typeface="Segoe UI Semibold"/>
              </a:rPr>
              <a:t>Catalog compiler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+ exact-screen resolver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7790688" y="3950208"/>
            <a:ext cx="201168" cy="0"/>
          </a:xfrm>
          <a:prstGeom prst="line">
            <a:avLst/>
          </a:prstGeom>
          <a:ln w="15875">
            <a:solidFill>
              <a:srgbClr val="A89F9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ounded Rectangle 138"/>
          <p:cNvSpPr/>
          <p:nvPr/>
        </p:nvSpPr>
        <p:spPr>
          <a:xfrm>
            <a:off x="8001000" y="3017520"/>
            <a:ext cx="1700784" cy="1874519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Oval 139"/>
          <p:cNvSpPr/>
          <p:nvPr/>
        </p:nvSpPr>
        <p:spPr>
          <a:xfrm>
            <a:off x="8138160" y="3154680"/>
            <a:ext cx="347472" cy="347472"/>
          </a:xfrm>
          <a:prstGeom prst="ellipse">
            <a:avLst/>
          </a:prstGeom>
          <a:solidFill>
            <a:srgbClr val="EE9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67928" y="3154680"/>
            <a:ext cx="10972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F5EFE6"/>
                </a:solidFill>
                <a:latin typeface="Segoe UI Semibold"/>
              </a:rPr>
              <a:t>Compose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19872" y="3703320"/>
            <a:ext cx="1463040" cy="1005840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 i="0">
                <a:solidFill>
                  <a:srgbClr val="F5EFE6"/>
                </a:solidFill>
                <a:latin typeface="Segoe UI Semibold"/>
              </a:rPr>
              <a:t>Plan composer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auto → manual → critical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9710928" y="3950208"/>
            <a:ext cx="201168" cy="0"/>
          </a:xfrm>
          <a:prstGeom prst="line">
            <a:avLst/>
          </a:prstGeom>
          <a:ln w="15875">
            <a:solidFill>
              <a:srgbClr val="A89F9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9921240" y="3017520"/>
            <a:ext cx="1700784" cy="1874519"/>
          </a:xfrm>
          <a:prstGeom prst="roundRect">
            <a:avLst>
              <a:gd name="adj" fmla="val 6000"/>
            </a:avLst>
          </a:prstGeom>
          <a:solidFill>
            <a:srgbClr val="C9C1B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Oval 144"/>
          <p:cNvSpPr/>
          <p:nvPr/>
        </p:nvSpPr>
        <p:spPr>
          <a:xfrm>
            <a:off x="10058400" y="3154680"/>
            <a:ext cx="347472" cy="347472"/>
          </a:xfrm>
          <a:prstGeom prst="ellipse">
            <a:avLst/>
          </a:prstGeom>
          <a:solidFill>
            <a:srgbClr val="C9C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488168" y="3154680"/>
            <a:ext cx="10972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0" i="0">
                <a:solidFill>
                  <a:srgbClr val="F5EFE6"/>
                </a:solidFill>
                <a:latin typeface="Segoe UI Semibold"/>
              </a:rPr>
              <a:t>Guarantee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0040112" y="3703320"/>
            <a:ext cx="1463040" cy="1005840"/>
          </a:xfrm>
          <a:prstGeom prst="roundRect">
            <a:avLst>
              <a:gd name="adj" fmla="val 6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000" b="0" i="0">
                <a:solidFill>
                  <a:srgbClr val="F5EFE6"/>
                </a:solidFill>
                <a:latin typeface="Segoe UI Semibold"/>
              </a:rPr>
              <a:t>Output gate</a:t>
            </a:r>
          </a:p>
          <a:p>
            <a:pPr algn="ctr"/>
            <a:r>
              <a:rPr sz="850" b="0" i="0">
                <a:solidFill>
                  <a:srgbClr val="A89F93"/>
                </a:solidFill>
                <a:latin typeface="Segoe UI"/>
              </a:rPr>
              <a:t>schema · 0 leaks · cache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1984248" y="3950208"/>
            <a:ext cx="246888" cy="0"/>
          </a:xfrm>
          <a:prstGeom prst="line">
            <a:avLst/>
          </a:prstGeom>
          <a:ln w="15875">
            <a:solidFill>
              <a:srgbClr val="A89F93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3090672" y="4901184"/>
            <a:ext cx="0" cy="173736"/>
          </a:xfrm>
          <a:prstGeom prst="line">
            <a:avLst/>
          </a:prstGeom>
          <a:ln w="12700">
            <a:solidFill>
              <a:srgbClr val="EE9A7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ounded Rectangle 149"/>
          <p:cNvSpPr/>
          <p:nvPr/>
        </p:nvSpPr>
        <p:spPr>
          <a:xfrm>
            <a:off x="2240280" y="5074920"/>
            <a:ext cx="2203704" cy="566928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 w="12700">
            <a:solidFill>
              <a:srgbClr val="EE9A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0" i="0">
                <a:solidFill>
                  <a:srgbClr val="EE9A7E"/>
                </a:solidFill>
                <a:latin typeface="Segoe UI Semibold"/>
              </a:rPr>
              <a:t>Stage A LLM</a:t>
            </a:r>
          </a:p>
          <a:p>
            <a:pPr algn="ctr"/>
            <a:r>
              <a:rPr sz="750" b="0" i="0">
                <a:solidFill>
                  <a:srgbClr val="D9D2C7"/>
                </a:solidFill>
                <a:latin typeface="Segoe UI"/>
              </a:rPr>
              <a:t>canonical query, 10 paraphrases, near misses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8851392" y="4901184"/>
            <a:ext cx="0" cy="173736"/>
          </a:xfrm>
          <a:prstGeom prst="line">
            <a:avLst/>
          </a:prstGeom>
          <a:ln w="12700">
            <a:solidFill>
              <a:srgbClr val="EE9A7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unded Rectangle 151"/>
          <p:cNvSpPr/>
          <p:nvPr/>
        </p:nvSpPr>
        <p:spPr>
          <a:xfrm>
            <a:off x="7498079" y="5074920"/>
            <a:ext cx="2203704" cy="566928"/>
          </a:xfrm>
          <a:prstGeom prst="roundRect">
            <a:avLst>
              <a:gd name="adj" fmla="val 6000"/>
            </a:avLst>
          </a:prstGeom>
          <a:solidFill>
            <a:srgbClr val="EE9A7E">
              <a:alpha val="13000"/>
            </a:srgbClr>
          </a:solidFill>
          <a:ln w="12700">
            <a:solidFill>
              <a:srgbClr val="EE9A7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950" b="0" i="0">
                <a:solidFill>
                  <a:srgbClr val="EE9A7E"/>
                </a:solidFill>
                <a:latin typeface="Segoe UI Semibold"/>
              </a:rPr>
              <a:t>Stage B LLM</a:t>
            </a:r>
          </a:p>
          <a:p>
            <a:pPr algn="ctr"/>
            <a:r>
              <a:rPr sz="750" b="0" i="0">
                <a:solidFill>
                  <a:srgbClr val="D9D2C7"/>
                </a:solidFill>
                <a:latin typeface="Segoe UI"/>
              </a:rPr>
              <a:t>select, group and name; no step text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800600" y="517550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1">
                <a:solidFill>
                  <a:srgbClr val="A89F93"/>
                </a:solidFill>
                <a:latin typeface="Segoe UI"/>
              </a:rPr>
              <a:t>both LLM calls run in parallel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66928" y="5806440"/>
            <a:ext cx="2688336" cy="54864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731520" y="58064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2B66D"/>
                </a:solidFill>
                <a:latin typeface="Segoe UI Semibold"/>
              </a:rPr>
              <a:t>3.8 s  </a:t>
            </a:r>
            <a:r>
              <a:rPr sz="850" b="0" i="0">
                <a:solidFill>
                  <a:srgbClr val="A89F93"/>
                </a:solidFill>
                <a:latin typeface="Segoe UI"/>
              </a:rPr>
              <a:t>new complaint, P95 (target 8 s)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364992" y="5806440"/>
            <a:ext cx="2688336" cy="54864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3529584" y="58064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2B66D"/>
                </a:solidFill>
                <a:latin typeface="Segoe UI Semibold"/>
              </a:rPr>
              <a:t>3.5 ms  </a:t>
            </a:r>
            <a:r>
              <a:rPr sz="850" b="0" i="0">
                <a:solidFill>
                  <a:srgbClr val="A89F93"/>
                </a:solidFill>
                <a:latin typeface="Segoe UI"/>
              </a:rPr>
              <a:t>repeat, P95 (target 300 ms)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163056" y="5806440"/>
            <a:ext cx="2688336" cy="54864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327648" y="58064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2B66D"/>
                </a:solidFill>
                <a:latin typeface="Segoe UI Semibold"/>
              </a:rPr>
              <a:t>$0.0003  </a:t>
            </a:r>
            <a:r>
              <a:rPr sz="850" b="0" i="0">
                <a:solidFill>
                  <a:srgbClr val="A89F93"/>
                </a:solidFill>
                <a:latin typeface="Segoe UI"/>
              </a:rPr>
              <a:t>per new complaint; repeats $0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961119" y="5806440"/>
            <a:ext cx="2688336" cy="54864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9125711" y="580644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2B66D"/>
                </a:solidFill>
                <a:latin typeface="Segoe UI Semibold"/>
              </a:rPr>
              <a:t>100% · 0  </a:t>
            </a:r>
            <a:r>
              <a:rPr sz="850" b="0" i="0">
                <a:solidFill>
                  <a:srgbClr val="A89F93"/>
                </a:solidFill>
                <a:latin typeface="Segoe UI"/>
              </a:rPr>
              <a:t>schema-valid · URL leaks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A0F8794D-491F-D5A1-56A9-59CB9D9AAE8A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23160" y="2286000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112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4" name="Oval 113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03  |  CORE TECHNOLOGY MODULES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Four modules carry the weight, and each one is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proven by a measurement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Measured by scripts/evaluate.py on the 20 provided scenarios and a frozen, never-tuned test set.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04 /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66928" y="2103120"/>
            <a:ext cx="5458968" cy="2048256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749808" y="22860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F2B66D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1344168" y="228600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Evidence-locked extraction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49808" y="2880360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A89F93"/>
                </a:solidFill>
                <a:latin typeface="Segoe UI"/>
              </a:rPr>
              <a:t>Steps are cut from the article’s own sentences and keep their source id. The LLM only selects and names them.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3584448" y="2331720"/>
            <a:ext cx="10972" cy="159105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ounded Rectangle 129"/>
          <p:cNvSpPr/>
          <p:nvPr/>
        </p:nvSpPr>
        <p:spPr>
          <a:xfrm>
            <a:off x="6163056" y="2103120"/>
            <a:ext cx="5458968" cy="2048256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6345936" y="2286000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93CDB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6940296" y="228600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Catalog compiler + resolver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45936" y="2880360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A89F93"/>
                </a:solidFill>
                <a:latin typeface="Segoe UI"/>
              </a:rPr>
              <a:t>578 noisy rows become 397 screens × on/off/open/set. Exact leaf label, then fuzzy with a margin, else abstain.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180576" y="2331720"/>
            <a:ext cx="10972" cy="159105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ounded Rectangle 135"/>
          <p:cNvSpPr/>
          <p:nvPr/>
        </p:nvSpPr>
        <p:spPr>
          <a:xfrm>
            <a:off x="566928" y="4306824"/>
            <a:ext cx="5458968" cy="2048256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ounded Rectangle 136"/>
          <p:cNvSpPr/>
          <p:nvPr/>
        </p:nvSpPr>
        <p:spPr>
          <a:xfrm>
            <a:off x="749808" y="448970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9DBFE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344168" y="44897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Relevance gate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5084064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A89F93"/>
                </a:solidFill>
                <a:latin typeface="Segoe UI"/>
              </a:rPr>
              <a:t>Compares the complaint’s symptom and context with the article before extracting anything.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3584448" y="4535424"/>
            <a:ext cx="10972" cy="159105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1"/>
          <p:cNvSpPr/>
          <p:nvPr/>
        </p:nvSpPr>
        <p:spPr>
          <a:xfrm>
            <a:off x="6163056" y="4306824"/>
            <a:ext cx="5458968" cy="2048256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2"/>
          <p:cNvSpPr/>
          <p:nvPr/>
        </p:nvSpPr>
        <p:spPr>
          <a:xfrm>
            <a:off x="6345936" y="4489704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EE9A7E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940296" y="44897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Contrastive semantic cache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345936" y="5084064"/>
            <a:ext cx="2697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A89F93"/>
                </a:solidFill>
                <a:latin typeface="Segoe UI"/>
              </a:rPr>
              <a:t>Each entry learns its own threshold from paraphrases and near misses; a symbolic guard blocks on/off flips.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180576" y="4535424"/>
            <a:ext cx="10972" cy="1591056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3767328" y="22402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2B66D"/>
                </a:solidFill>
                <a:latin typeface="Segoe UI Semibold"/>
              </a:rPr>
              <a:t>3.00 / 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767328" y="27432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step accuracy vs hand-annotated gold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767328" y="31546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2B66D"/>
                </a:solidFill>
                <a:latin typeface="Segoe UI Semibold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767328" y="36576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URL leaks across all outputs</a:t>
            </a:r>
          </a:p>
        </p:txBody>
      </p:sp>
      <p:graphicFrame>
        <p:nvGraphicFramePr>
          <p:cNvPr id="152" name="Chart 151"/>
          <p:cNvGraphicFramePr>
            <a:graphicFrameLocks noGrp="1"/>
          </p:cNvGraphicFramePr>
          <p:nvPr/>
        </p:nvGraphicFramePr>
        <p:xfrm>
          <a:off x="9272016" y="2212848"/>
          <a:ext cx="237744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53" name="TextBox 152"/>
          <p:cNvSpPr txBox="1"/>
          <p:nvPr/>
        </p:nvSpPr>
        <p:spPr>
          <a:xfrm>
            <a:off x="9363456" y="37673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A89F93"/>
                </a:solidFill>
                <a:latin typeface="Segoe UI"/>
              </a:rPr>
              <a:t>exact deeplinks, 37-case benchmark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767328" y="4443984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2B66D"/>
                </a:solidFill>
                <a:latin typeface="Segoe UI Semibold"/>
              </a:rPr>
              <a:t>4 / 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767328" y="4946904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wrong articles answered with no_match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767328" y="5358383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2B66D"/>
                </a:solidFill>
                <a:latin typeface="Segoe UI Semibold"/>
              </a:rPr>
              <a:t>100%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767328" y="5861303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fit decisions match gold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363456" y="4443984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2B66D"/>
                </a:solidFill>
                <a:latin typeface="Segoe UI Semibold"/>
              </a:rPr>
              <a:t>80%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63456" y="4946904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unseen paraphrases hit (frozen test)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363456" y="5358383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0" i="0">
                <a:solidFill>
                  <a:srgbClr val="F2B66D"/>
                </a:solidFill>
                <a:latin typeface="Segoe UI Semibold"/>
              </a:rPr>
              <a:t>32% → 4.5%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363456" y="5861303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false hits vs one global threshold (dev)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5C0E621C-AF23-64B6-8571-D3E65E0FC16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536" y="2395728"/>
            <a:ext cx="237744" cy="237744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057F3B4C-E8D4-6A17-D377-4046895100C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55664" y="2395728"/>
            <a:ext cx="237744" cy="237744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83E2A8AD-1AE9-9B48-28F1-C5AB068C1A5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9536" y="4599432"/>
            <a:ext cx="237744" cy="237744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1C746639-6BF3-3E95-BFB9-EE93E016977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55664" y="4599432"/>
            <a:ext cx="237744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Picture 118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0" name="Oval 119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04  |  EXTENSION IN RELEVANCE TO SAMSUNG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The same engine fits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four Galaxy support touchpoints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, from call centre to device.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Mapped from the brief’s own inputs: SIIS articles, bixby:// Settings deeplinks and validation probes.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05 / 8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2103120"/>
            <a:ext cx="2660904" cy="32461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Rounded Rectangle 130"/>
          <p:cNvSpPr/>
          <p:nvPr/>
        </p:nvSpPr>
        <p:spPr>
          <a:xfrm>
            <a:off x="749808" y="22860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9DBFE3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749808" y="2926080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Customer-care agents</a:t>
            </a:r>
          </a:p>
          <a:p>
            <a:pPr algn="l"/>
            <a:r>
              <a:rPr sz="900" b="0" i="0">
                <a:solidFill>
                  <a:srgbClr val="9DBFE3"/>
                </a:solidFill>
                <a:latin typeface="Segoe UI"/>
              </a:rPr>
              <a:t>SIIS knowledge base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49808" y="3584448"/>
            <a:ext cx="229514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The agent pastes the complaint and gets an ordered plan, each step highlighted in the internal article.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49808" y="4279392"/>
            <a:ext cx="2295144" cy="329184"/>
          </a:xfrm>
          <a:prstGeom prst="roundRect">
            <a:avLst>
              <a:gd name="adj" fmla="val 30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750" b="0" i="0">
                <a:solidFill>
                  <a:srgbClr val="A89F93"/>
                </a:solidFill>
                <a:latin typeface="Consolas"/>
              </a:rPr>
              <a:t>complaint + article → plan + evidence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49808" y="4709160"/>
            <a:ext cx="2295144" cy="457200"/>
          </a:xfrm>
          <a:prstGeom prst="roundRect">
            <a:avLst>
              <a:gd name="adj" fmla="val 30000"/>
            </a:avLst>
          </a:prstGeom>
          <a:solidFill>
            <a:srgbClr val="9DBFE3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50" b="0" i="0">
                <a:solidFill>
                  <a:srgbClr val="9DBFE3"/>
                </a:solidFill>
                <a:latin typeface="Segoe UI Semibold"/>
              </a:rPr>
              <a:t>~15 min of manual triage → 1.3 s (P50)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364992" y="2103120"/>
            <a:ext cx="2660904" cy="32461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ounded Rectangle 137"/>
          <p:cNvSpPr/>
          <p:nvPr/>
        </p:nvSpPr>
        <p:spPr>
          <a:xfrm>
            <a:off x="3547872" y="22860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F2B66D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3547872" y="2926080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Samsung Members</a:t>
            </a:r>
          </a:p>
          <a:p>
            <a:pPr algn="l"/>
            <a:r>
              <a:rPr sz="900" b="0" i="0">
                <a:solidFill>
                  <a:srgbClr val="F2B66D"/>
                </a:solidFill>
                <a:latin typeface="Segoe UI"/>
              </a:rPr>
              <a:t>self-service help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47872" y="3584448"/>
            <a:ext cx="229514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The user describes the problem in the app and gets one-tap fixes; the validation probe confirms each one.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547872" y="4279392"/>
            <a:ext cx="2295144" cy="329184"/>
          </a:xfrm>
          <a:prstGeom prst="roundRect">
            <a:avLst>
              <a:gd name="adj" fmla="val 30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750" b="0" i="0">
                <a:solidFill>
                  <a:srgbClr val="A89F93"/>
                </a:solidFill>
                <a:latin typeface="Consolas"/>
              </a:rPr>
              <a:t>complaint → one tap → probe ✓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547872" y="4709160"/>
            <a:ext cx="2295144" cy="457200"/>
          </a:xfrm>
          <a:prstGeom prst="roundRect">
            <a:avLst>
              <a:gd name="adj" fmla="val 30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50" b="0" i="0">
                <a:solidFill>
                  <a:srgbClr val="F2B66D"/>
                </a:solidFill>
                <a:latin typeface="Segoe UI Semibold"/>
              </a:rPr>
              <a:t>No more hunting through Settings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63056" y="2103120"/>
            <a:ext cx="2660904" cy="32461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6345936" y="22860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93CDB9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45936" y="2926080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Bixby voice</a:t>
            </a:r>
          </a:p>
          <a:p>
            <a:pPr algn="l"/>
            <a:r>
              <a:rPr sz="900" b="0" i="0">
                <a:solidFill>
                  <a:srgbClr val="93CDB9"/>
                </a:solidFill>
                <a:latin typeface="Segoe UI"/>
              </a:rPr>
              <a:t>spoken complaints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345936" y="3584448"/>
            <a:ext cx="229514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“My touch is laggy” becomes a plan, and Bixby opens the exact screen through the same deeplink scheme.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345936" y="4279392"/>
            <a:ext cx="2295144" cy="329184"/>
          </a:xfrm>
          <a:prstGeom prst="roundRect">
            <a:avLst>
              <a:gd name="adj" fmla="val 30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750" b="0" i="0">
                <a:solidFill>
                  <a:srgbClr val="A89F93"/>
                </a:solidFill>
                <a:latin typeface="Consolas"/>
              </a:rPr>
              <a:t>speech → text → plan → deeplink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345936" y="4709160"/>
            <a:ext cx="2295144" cy="457200"/>
          </a:xfrm>
          <a:prstGeom prst="roundRect">
            <a:avLst>
              <a:gd name="adj" fmla="val 30000"/>
            </a:avLst>
          </a:prstGeom>
          <a:solidFill>
            <a:srgbClr val="93CDB9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50" b="0" i="0">
                <a:solidFill>
                  <a:srgbClr val="93CDB9"/>
                </a:solidFill>
                <a:latin typeface="Segoe UI Semibold"/>
              </a:rPr>
              <a:t>Voice in, verified tap out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8961119" y="2103120"/>
            <a:ext cx="2660904" cy="324612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ounded Rectangle 151"/>
          <p:cNvSpPr/>
          <p:nvPr/>
        </p:nvSpPr>
        <p:spPr>
          <a:xfrm>
            <a:off x="9143999" y="2286000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EE9A7E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9143999" y="2926080"/>
            <a:ext cx="2295144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F5EFE6"/>
                </a:solidFill>
                <a:latin typeface="Segoe UI Semibold"/>
              </a:rPr>
              <a:t>On-device worklet</a:t>
            </a:r>
          </a:p>
          <a:p>
            <a:pPr algn="l"/>
            <a:r>
              <a:rPr sz="900" b="0" i="0">
                <a:solidFill>
                  <a:srgbClr val="EE9A7E"/>
                </a:solidFill>
                <a:latin typeface="Segoe UI"/>
              </a:rPr>
              <a:t>Galaxy offline support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3999" y="3584448"/>
            <a:ext cx="229514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D9D2C7"/>
                </a:solidFill>
                <a:latin typeface="Segoe UI"/>
              </a:rPr>
              <a:t>The 23 MB INT8 embedder, compiled catalog and cache run on CPU in about 150 MB of RAM.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9143999" y="4279392"/>
            <a:ext cx="2295144" cy="329184"/>
          </a:xfrm>
          <a:prstGeom prst="roundRect">
            <a:avLst>
              <a:gd name="adj" fmla="val 30000"/>
            </a:avLst>
          </a:prstGeom>
          <a:solidFill>
            <a:srgbClr val="000000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0" rIns="36576" bIns="0" rtlCol="0" anchor="ctr"/>
          <a:lstStyle/>
          <a:p>
            <a:pPr algn="ctr"/>
            <a:r>
              <a:rPr sz="750" b="0" i="0">
                <a:solidFill>
                  <a:srgbClr val="A89F93"/>
                </a:solidFill>
                <a:latin typeface="Consolas"/>
              </a:rPr>
              <a:t>cache on device; LLM only for new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143999" y="4709160"/>
            <a:ext cx="2295144" cy="457200"/>
          </a:xfrm>
          <a:prstGeom prst="roundRect">
            <a:avLst>
              <a:gd name="adj" fmla="val 30000"/>
            </a:avLst>
          </a:prstGeom>
          <a:solidFill>
            <a:srgbClr val="EE9A7E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950" b="0" i="0">
                <a:solidFill>
                  <a:srgbClr val="EE9A7E"/>
                </a:solidFill>
                <a:latin typeface="Segoe UI Semibold"/>
              </a:rPr>
              <a:t>Known issues answered offline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" y="5532120"/>
            <a:ext cx="11055096" cy="822960"/>
          </a:xfrm>
          <a:prstGeom prst="roundRect">
            <a:avLst>
              <a:gd name="adj" fmla="val 6000"/>
            </a:avLst>
          </a:prstGeom>
          <a:solidFill>
            <a:srgbClr val="000000">
              <a:alpha val="260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1298448" y="5532120"/>
            <a:ext cx="10140696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F2B66D"/>
                </a:solidFill>
                <a:latin typeface="Segoe UI Semibold"/>
              </a:rPr>
              <a:t>Why it transfers: </a:t>
            </a:r>
            <a:r>
              <a:rPr sz="1050" b="0" i="0">
                <a:solidFill>
                  <a:srgbClr val="D9D2C7"/>
                </a:solidFill>
                <a:latin typeface="Segoe UI"/>
              </a:rPr>
              <a:t>the deeplink scheme, brand names and article format are configuration, not code (the provided data is masked as TechCorp / Nexa and voiceassist://). Next step: use validation-probe results as feedback on which fixes really work.</a:t>
            </a:r>
          </a:p>
        </p:txBody>
      </p:sp>
      <p:pic>
        <p:nvPicPr>
          <p:cNvPr id="3" name="icon">
            <a:extLst>
              <a:ext uri="{FF2B5EF4-FFF2-40B4-BE49-F238E27FC236}">
                <a16:creationId xmlns:a16="http://schemas.microsoft.com/office/drawing/2014/main" id="{66702431-E5FD-41FD-C1FC-09D254FA35C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2703" y="2408895"/>
            <a:ext cx="266273" cy="266273"/>
          </a:xfrm>
          <a:prstGeom prst="rect">
            <a:avLst/>
          </a:prstGeom>
        </p:spPr>
      </p:pic>
      <p:pic>
        <p:nvPicPr>
          <p:cNvPr id="5" name="icon">
            <a:extLst>
              <a:ext uri="{FF2B5EF4-FFF2-40B4-BE49-F238E27FC236}">
                <a16:creationId xmlns:a16="http://schemas.microsoft.com/office/drawing/2014/main" id="{41C9CCEF-C8A6-1D23-C878-E7B57BCF536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70767" y="2408895"/>
            <a:ext cx="266273" cy="266273"/>
          </a:xfrm>
          <a:prstGeom prst="rect">
            <a:avLst/>
          </a:prstGeom>
        </p:spPr>
      </p:pic>
      <p:pic>
        <p:nvPicPr>
          <p:cNvPr id="7" name="icon">
            <a:extLst>
              <a:ext uri="{FF2B5EF4-FFF2-40B4-BE49-F238E27FC236}">
                <a16:creationId xmlns:a16="http://schemas.microsoft.com/office/drawing/2014/main" id="{C4FD995A-80D0-533D-2E65-9D18E1EFE64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68831" y="2408895"/>
            <a:ext cx="266273" cy="266273"/>
          </a:xfrm>
          <a:prstGeom prst="rect">
            <a:avLst/>
          </a:prstGeom>
        </p:spPr>
      </p:pic>
      <p:pic>
        <p:nvPicPr>
          <p:cNvPr id="9" name="icon">
            <a:extLst>
              <a:ext uri="{FF2B5EF4-FFF2-40B4-BE49-F238E27FC236}">
                <a16:creationId xmlns:a16="http://schemas.microsoft.com/office/drawing/2014/main" id="{9AF6C258-6928-999D-02E5-1C374A791C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266895" y="2408895"/>
            <a:ext cx="266273" cy="266273"/>
          </a:xfrm>
          <a:prstGeom prst="rect">
            <a:avLst/>
          </a:prstGeom>
        </p:spPr>
      </p:pic>
      <p:pic>
        <p:nvPicPr>
          <p:cNvPr id="11" name="icon">
            <a:extLst>
              <a:ext uri="{FF2B5EF4-FFF2-40B4-BE49-F238E27FC236}">
                <a16:creationId xmlns:a16="http://schemas.microsoft.com/office/drawing/2014/main" id="{6B77F784-ECD9-963D-F17F-09B1BFC2F1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5528" y="5760720"/>
            <a:ext cx="329184" cy="3291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124" descr="bg_slid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6" name="Oval 125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05  |  SCALABILITY TO NEW USE CASES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Covering a new scenario takes a knowledge article,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not new code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Never-seen Battery, Camera, Performance and Wi-Fi articles ran through the same pipeline unchanged.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06 / 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66928" y="2103120"/>
            <a:ext cx="5349240" cy="425196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795528" y="2258568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HOW A NEW SCENARIO GETS COVERED</a:t>
            </a:r>
          </a:p>
        </p:txBody>
      </p:sp>
      <p:sp>
        <p:nvSpPr>
          <p:cNvPr id="138" name="Oval 137"/>
          <p:cNvSpPr/>
          <p:nvPr/>
        </p:nvSpPr>
        <p:spPr>
          <a:xfrm>
            <a:off x="841247" y="2679192"/>
            <a:ext cx="384048" cy="38404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1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1033271" y="3081528"/>
            <a:ext cx="0" cy="493776"/>
          </a:xfrm>
          <a:prstGeom prst="line">
            <a:avLst/>
          </a:prstGeom>
          <a:ln w="15875">
            <a:solidFill>
              <a:srgbClr val="F2B6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TextBox 139"/>
          <p:cNvSpPr txBox="1"/>
          <p:nvPr/>
        </p:nvSpPr>
        <p:spPr>
          <a:xfrm>
            <a:off x="1435607" y="260604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EFE6"/>
                </a:solidFill>
                <a:latin typeface="Segoe UI Semibold"/>
              </a:rPr>
              <a:t>A new complaint and its article arrive</a:t>
            </a:r>
          </a:p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gate and step extraction run automatically</a:t>
            </a:r>
          </a:p>
        </p:txBody>
      </p:sp>
      <p:sp>
        <p:nvSpPr>
          <p:cNvPr id="141" name="Oval 140"/>
          <p:cNvSpPr/>
          <p:nvPr/>
        </p:nvSpPr>
        <p:spPr>
          <a:xfrm>
            <a:off x="841247" y="3593592"/>
            <a:ext cx="384048" cy="38404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2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033271" y="3995928"/>
            <a:ext cx="0" cy="493776"/>
          </a:xfrm>
          <a:prstGeom prst="line">
            <a:avLst/>
          </a:prstGeom>
          <a:ln w="15875">
            <a:solidFill>
              <a:srgbClr val="F2B6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TextBox 142"/>
          <p:cNvSpPr txBox="1"/>
          <p:nvPr/>
        </p:nvSpPr>
        <p:spPr>
          <a:xfrm>
            <a:off x="1435607" y="352044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EFE6"/>
                </a:solidFill>
                <a:latin typeface="Segoe UI Semibold"/>
              </a:rPr>
              <a:t>Settings steps map to exact screens</a:t>
            </a:r>
          </a:p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compiled catalog; no retraining, no new rules</a:t>
            </a:r>
          </a:p>
        </p:txBody>
      </p:sp>
      <p:sp>
        <p:nvSpPr>
          <p:cNvPr id="144" name="Oval 143"/>
          <p:cNvSpPr/>
          <p:nvPr/>
        </p:nvSpPr>
        <p:spPr>
          <a:xfrm>
            <a:off x="841247" y="4507992"/>
            <a:ext cx="384048" cy="38404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3</a:t>
            </a:r>
          </a:p>
        </p:txBody>
      </p:sp>
      <p:cxnSp>
        <p:nvCxnSpPr>
          <p:cNvPr id="145" name="Connector 144"/>
          <p:cNvCxnSpPr/>
          <p:nvPr/>
        </p:nvCxnSpPr>
        <p:spPr>
          <a:xfrm>
            <a:off x="1033271" y="4910327"/>
            <a:ext cx="0" cy="493777"/>
          </a:xfrm>
          <a:prstGeom prst="line">
            <a:avLst/>
          </a:prstGeom>
          <a:ln w="15875">
            <a:solidFill>
              <a:srgbClr val="F2B66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/>
          <p:cNvSpPr txBox="1"/>
          <p:nvPr/>
        </p:nvSpPr>
        <p:spPr>
          <a:xfrm>
            <a:off x="1435607" y="443484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EFE6"/>
                </a:solidFill>
                <a:latin typeface="Segoe UI Semibold"/>
              </a:rPr>
              <a:t>One cold request, 1.3 s (P50)</a:t>
            </a:r>
          </a:p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about $0.0003 of LLM cost</a:t>
            </a:r>
          </a:p>
        </p:txBody>
      </p:sp>
      <p:sp>
        <p:nvSpPr>
          <p:cNvPr id="147" name="Oval 146"/>
          <p:cNvSpPr/>
          <p:nvPr/>
        </p:nvSpPr>
        <p:spPr>
          <a:xfrm>
            <a:off x="841247" y="5422392"/>
            <a:ext cx="384048" cy="38404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0" i="0">
                <a:solidFill>
                  <a:srgbClr val="2A1A0B"/>
                </a:solidFill>
                <a:latin typeface="Segoe UI Semibold"/>
              </a:rP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435607" y="534924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F5EFE6"/>
                </a:solidFill>
                <a:latin typeface="Segoe UI Semibold"/>
              </a:rPr>
              <a:t>The plan is cached</a:t>
            </a:r>
          </a:p>
          <a:p>
            <a:pPr algn="l"/>
            <a:r>
              <a:rPr sz="950" b="0" i="0">
                <a:solidFill>
                  <a:srgbClr val="A89F93"/>
                </a:solidFill>
                <a:latin typeface="Segoe UI"/>
              </a:rPr>
              <a:t>every repeat and paraphrase: 3.5 ms (P95), $0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053328" y="2103120"/>
            <a:ext cx="5568696" cy="1874519"/>
          </a:xfrm>
          <a:prstGeom prst="roundRect">
            <a:avLst>
              <a:gd name="adj" fmla="val 6000"/>
            </a:avLst>
          </a:prstGeom>
          <a:solidFill>
            <a:srgbClr val="F2B66D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6281928" y="224028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F2B66D"/>
                </a:solidFill>
                <a:latin typeface="Segoe UI Semibold"/>
              </a:rPr>
              <a:t>UNSEEN-DOMAIN TEST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281928" y="2514600"/>
            <a:ext cx="15544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200" b="0" i="0">
                <a:solidFill>
                  <a:srgbClr val="F2B66D"/>
                </a:solidFill>
                <a:latin typeface="Segoe UI Semibold"/>
              </a:rPr>
              <a:t>8 / 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882128" y="2542032"/>
            <a:ext cx="355701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D9D2C7"/>
                </a:solidFill>
                <a:latin typeface="Segoe UI"/>
              </a:rPr>
              <a:t>Settings steps mapped to the exact screen with the right on/off variant, in articles the engine had never seen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281928" y="3474720"/>
            <a:ext cx="1195578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F5EFE6"/>
                </a:solidFill>
                <a:latin typeface="Segoe UI"/>
              </a:rPr>
              <a:t>Battery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587233" y="3474720"/>
            <a:ext cx="1195578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F5EFE6"/>
                </a:solidFill>
                <a:latin typeface="Segoe UI"/>
              </a:rPr>
              <a:t>Camera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892540" y="3474720"/>
            <a:ext cx="1195578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F5EFE6"/>
                </a:solidFill>
                <a:latin typeface="Segoe UI"/>
              </a:rPr>
              <a:t>Performance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0197846" y="3474720"/>
            <a:ext cx="1195578" cy="329184"/>
          </a:xfrm>
          <a:prstGeom prst="roundRect">
            <a:avLst>
              <a:gd name="adj" fmla="val 50000"/>
            </a:avLst>
          </a:prstGeom>
          <a:solidFill>
            <a:srgbClr val="FFFFFF">
              <a:alpha val="1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F5EFE6"/>
                </a:solidFill>
                <a:latin typeface="Segoe UI"/>
              </a:rPr>
              <a:t>Wi-Fi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6053328" y="4114800"/>
            <a:ext cx="5568696" cy="2240280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6281928" y="4242816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EXTENSION POINTS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281928" y="4526280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New article or scenario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385048" y="4526280"/>
            <a:ext cx="30540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automatic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281928" y="4864608"/>
            <a:ext cx="5111496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281928" y="4873752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New Settings screens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385048" y="4873752"/>
            <a:ext cx="30540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re-run the Catalog Compiler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281928" y="5212080"/>
            <a:ext cx="5111496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6281928" y="5221224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New vocabulary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385048" y="5221224"/>
            <a:ext cx="30540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facet lexicon entries (data)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281928" y="5559552"/>
            <a:ext cx="5111496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281928" y="5568696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10,000 scenarios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385048" y="5568696"/>
            <a:ext cx="30540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≈ $3 one-time LLM cost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81928" y="5907024"/>
            <a:ext cx="5111496" cy="10972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81928" y="5916168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D9D2C7"/>
                </a:solidFill>
                <a:latin typeface="Segoe UI"/>
              </a:rPr>
              <a:t>Serving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385048" y="5916168"/>
            <a:ext cx="305409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F5EFE6"/>
                </a:solidFill>
                <a:latin typeface="Segoe UI Semibold"/>
              </a:rPr>
              <a:t>495 req/s on one CPU container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30" descr="bg_sli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2" name="Oval 131"/>
          <p:cNvSpPr/>
          <p:nvPr/>
        </p:nvSpPr>
        <p:spPr>
          <a:xfrm>
            <a:off x="566928" y="310896"/>
            <a:ext cx="237744" cy="237744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Oval 132"/>
          <p:cNvSpPr/>
          <p:nvPr/>
        </p:nvSpPr>
        <p:spPr>
          <a:xfrm>
            <a:off x="638251" y="382219"/>
            <a:ext cx="95097" cy="95097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896112" y="274320"/>
            <a:ext cx="14630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5EFE6"/>
                </a:solidFill>
                <a:latin typeface="Segoe UI Semibold"/>
              </a:rPr>
              <a:t>TapTrace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2048256" y="329184"/>
            <a:ext cx="10972" cy="201168"/>
          </a:xfrm>
          <a:prstGeom prst="rect">
            <a:avLst/>
          </a:prstGeom>
          <a:solidFill>
            <a:srgbClr val="FFFFFF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2212848" y="274320"/>
            <a:ext cx="54864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 spc="250">
                <a:solidFill>
                  <a:srgbClr val="A89F93"/>
                </a:solidFill>
                <a:latin typeface="Segoe UI"/>
              </a:rPr>
              <a:t>06  |  DEMO VIDEO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23760" y="274320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50" b="0" i="0" spc="200">
                <a:solidFill>
                  <a:srgbClr val="A89F93"/>
                </a:solidFill>
                <a:latin typeface="Segoe UI"/>
              </a:rPr>
              <a:t>SAMSUNG PRISM  ·  GENAI HACKATHON 3.0  ·  THEME 02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822960"/>
            <a:ext cx="8183879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700" b="0" i="0">
                <a:solidFill>
                  <a:srgbClr val="F5EFE6"/>
                </a:solidFill>
                <a:latin typeface="Segoe UI Semibold"/>
              </a:rPr>
              <a:t>Live on the deployed site: one complaint, from article to </a:t>
            </a:r>
            <a:r>
              <a:rPr sz="2700" b="0" i="0">
                <a:solidFill>
                  <a:srgbClr val="F2B66D"/>
                </a:solidFill>
                <a:latin typeface="Segoe UI Semibold"/>
              </a:rPr>
              <a:t>verified tap</a:t>
            </a:r>
            <a:r>
              <a:rPr sz="2700" b="0" i="0">
                <a:solidFill>
                  <a:srgbClr val="F5EFE6"/>
                </a:solidFill>
                <a:latin typeface="Segoe UI Semibold"/>
              </a:rPr>
              <a:t>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006840" y="896112"/>
            <a:ext cx="261518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D9D2C7"/>
                </a:solidFill>
                <a:latin typeface="Segoe UI"/>
              </a:rPr>
              <a:t>Screen recording of the live deployment, 1:51.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607040" y="6473952"/>
            <a:ext cx="101498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8A8176"/>
                </a:solidFill>
                <a:latin typeface="Segoe UI"/>
              </a:rPr>
              <a:t>07 / 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566928" y="6473952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50" b="0" i="0" spc="150">
                <a:solidFill>
                  <a:srgbClr val="8A8176"/>
                </a:solidFill>
                <a:latin typeface="Segoe UI"/>
              </a:rPr>
              <a:t>TIET  ·  TAPTRACE  ·  THEME 02 SMART GUIDED TROUBLESHOOTING</a:t>
            </a:r>
          </a:p>
        </p:txBody>
      </p:sp>
      <p:pic>
        <p:nvPicPr>
          <p:cNvPr id="142" name="Thapar_TapTrace_Demo_Under2min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66928" y="2103120"/>
            <a:ext cx="7498079" cy="4217670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8339327" y="2121408"/>
            <a:ext cx="328269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spc="220">
                <a:solidFill>
                  <a:srgbClr val="A89F93"/>
                </a:solidFill>
                <a:latin typeface="Segoe UI Semibold"/>
              </a:rPr>
              <a:t>WHAT TO WATCH FOR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339327" y="2450592"/>
            <a:ext cx="3282696" cy="87782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8476488" y="2752344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2A1A0B"/>
                </a:solidFill>
                <a:latin typeface="Segoe UI Semibold"/>
              </a:rPr>
              <a:t>0:00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9162288" y="2450592"/>
            <a:ext cx="236829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A new complaint, end to end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evidence highlighted in the article, cost shown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339327" y="3438144"/>
            <a:ext cx="3282696" cy="87782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Rounded Rectangle 147"/>
          <p:cNvSpPr/>
          <p:nvPr/>
        </p:nvSpPr>
        <p:spPr>
          <a:xfrm>
            <a:off x="8476488" y="3739896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2A1A0B"/>
                </a:solidFill>
                <a:latin typeface="Segoe UI Semibold"/>
              </a:rPr>
              <a:t>0:36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62288" y="3438144"/>
            <a:ext cx="236829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One tap + validation probe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exact Settings screen opens; the probe confirms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8339327" y="4425696"/>
            <a:ext cx="3282696" cy="87782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Rounded Rectangle 150"/>
          <p:cNvSpPr/>
          <p:nvPr/>
        </p:nvSpPr>
        <p:spPr>
          <a:xfrm>
            <a:off x="8476488" y="4727448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2A1A0B"/>
                </a:solidFill>
                <a:latin typeface="Segoe UI Semibold"/>
              </a:rPr>
              <a:t>1:00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62288" y="4425696"/>
            <a:ext cx="236829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Paraphrase hit, near miss refused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milliseconds from cache; the guard says why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339327" y="5413248"/>
            <a:ext cx="3282696" cy="877824"/>
          </a:xfrm>
          <a:prstGeom prst="roundRect">
            <a:avLst>
              <a:gd name="adj" fmla="val 6000"/>
            </a:avLst>
          </a:prstGeom>
          <a:solidFill>
            <a:srgbClr val="FFFFFF">
              <a:alpha val="6500"/>
            </a:srgbClr>
          </a:solidFill>
          <a:ln w="9525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ounded Rectangle 153"/>
          <p:cNvSpPr/>
          <p:nvPr/>
        </p:nvSpPr>
        <p:spPr>
          <a:xfrm>
            <a:off x="8476488" y="5715000"/>
            <a:ext cx="566928" cy="274320"/>
          </a:xfrm>
          <a:prstGeom prst="roundRect">
            <a:avLst>
              <a:gd name="adj" fmla="val 50000"/>
            </a:avLst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0" i="0">
                <a:solidFill>
                  <a:srgbClr val="2A1A0B"/>
                </a:solidFill>
                <a:latin typeface="Segoe UI Semibold"/>
              </a:rPr>
              <a:t>1:32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62288" y="5413248"/>
            <a:ext cx="236829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F5EFE6"/>
                </a:solidFill>
                <a:latin typeface="Segoe UI Semibold"/>
              </a:rPr>
              <a:t>Wrong article → no_match</a:t>
            </a:r>
          </a:p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A89F93"/>
                </a:solidFill>
                <a:latin typeface="Segoe UI"/>
              </a:rPr>
              <a:t>an empty plan instead of invented steps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2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36" descr="hero_dar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38" name="Oval 137"/>
          <p:cNvSpPr/>
          <p:nvPr/>
        </p:nvSpPr>
        <p:spPr>
          <a:xfrm>
            <a:off x="685800" y="566928"/>
            <a:ext cx="310896" cy="310896"/>
          </a:xfrm>
          <a:prstGeom prst="ellipse">
            <a:avLst/>
          </a:prstGeom>
          <a:noFill/>
          <a:ln w="19050">
            <a:solidFill>
              <a:srgbClr val="F2B6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Oval 138"/>
          <p:cNvSpPr/>
          <p:nvPr/>
        </p:nvSpPr>
        <p:spPr>
          <a:xfrm>
            <a:off x="779068" y="660196"/>
            <a:ext cx="124358" cy="124358"/>
          </a:xfrm>
          <a:prstGeom prst="ellipse">
            <a:avLst/>
          </a:prstGeom>
          <a:solidFill>
            <a:srgbClr val="F2B6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1097280" y="530352"/>
            <a:ext cx="22860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Segoe UI Semibold"/>
              </a:rPr>
              <a:t>TapTrace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85800" y="1508760"/>
            <a:ext cx="6858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FFFFFF"/>
                </a:solidFill>
                <a:latin typeface="Segoe UI Semibold"/>
              </a:rPr>
              <a:t>Thank you. </a:t>
            </a:r>
            <a:r>
              <a:rPr sz="4600" b="0" i="0">
                <a:solidFill>
                  <a:srgbClr val="F2B66D"/>
                </a:solidFill>
                <a:latin typeface="Segoe UI Semibold"/>
              </a:rPr>
              <a:t>Questions?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85800" y="2514600"/>
            <a:ext cx="60350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E6DDD1"/>
                </a:solidFill>
                <a:latin typeface="Segoe UI"/>
              </a:rPr>
              <a:t>Grounded steps, exact screens, honest answers when the knowledge does not fit, and a path into Galaxy support.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2B66D"/>
                </a:solidFill>
                <a:latin typeface="Segoe UI Semibold"/>
              </a:rPr>
              <a:t>100%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858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exact deeplinks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2860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80%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2860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paraphrase cache hits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862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3.8 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862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cold path, P95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0" y="3703320"/>
            <a:ext cx="1554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Segoe UI Semibold"/>
              </a:rPr>
              <a:t>4/20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486400" y="4279392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CFC6BA"/>
                </a:solidFill>
                <a:latin typeface="Segoe UI"/>
              </a:rPr>
              <a:t>wrong articles refused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85800" y="5806440"/>
            <a:ext cx="10835640" cy="9144"/>
          </a:xfrm>
          <a:prstGeom prst="rect">
            <a:avLst/>
          </a:prstGeom>
          <a:solidFill>
            <a:srgbClr val="5A4F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685800" y="5897880"/>
            <a:ext cx="10835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 spc="120">
                <a:solidFill>
                  <a:srgbClr val="CFC6BA"/>
                </a:solidFill>
                <a:latin typeface="Segoe UI"/>
              </a:rPr>
              <a:t>ARNAV JOSHI  ·  ajoshi4_be23@thapar.edu  ·  THAPAR INSTITUTE OF ENGINEERING &amp; TECHNOLOGY</a:t>
            </a:r>
          </a:p>
          <a:p>
            <a:pPr algn="l"/>
            <a:r>
              <a:rPr sz="850" b="0" i="0" spc="120">
                <a:solidFill>
                  <a:srgbClr val="F2B66D"/>
                </a:solidFill>
                <a:latin typeface="Segoe UI"/>
              </a:rPr>
              <a:t>CODE  github.com/Arnav020/Tap-Trace   |   LIVE DEMO  taptrace-abmd.onrender.com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2379</Words>
  <Application>Microsoft Office PowerPoint</Application>
  <PresentationFormat>Widescreen</PresentationFormat>
  <Paragraphs>289</Paragraphs>
  <Slides>8</Slides>
  <Notes>8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Binny Lakra/PRISM /SRI-Bangalore/Professional/Samsung Electronics</dc:creator>
  <cp:lastModifiedBy>Arnav Joshi</cp:lastModifiedBy>
  <cp:revision>1</cp:revision>
  <dcterms:created xsi:type="dcterms:W3CDTF">2026-09-07T12:01:01Z</dcterms:created>
  <dcterms:modified xsi:type="dcterms:W3CDTF">2026-10-20T23:57:43Z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