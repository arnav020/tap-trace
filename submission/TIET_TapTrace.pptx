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701E-4CF4-8602-88D1BC076643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701E-4CF4-8602-88D1BC076643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701E-4CF4-8602-88D1BC076643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701E-4CF4-8602-88D1BC076643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</c:v>
                </c:pt>
                <c:pt idx="2">
                  <c:v>Full LLM</c:v>
                </c:pt>
                <c:pt idx="3">
                  <c:v>TapTrace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46</c:v>
                </c:pt>
                <c:pt idx="2">
                  <c:v>81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01E-4CF4-8602-88D1BC07664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B6CD-4CB9-B66C-1C000C5A2490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B6CD-4CB9-B66C-1C000C5A2490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B6CD-4CB9-B66C-1C000C5A2490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B6CD-4CB9-B66C-1C000C5A2490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 BM25 + dense</c:v>
                </c:pt>
                <c:pt idx="2">
                  <c:v>Full-LLM mapping</c:v>
                </c:pt>
                <c:pt idx="3">
                  <c:v>TapTrace resolver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59.5</c:v>
                </c:pt>
                <c:pt idx="1">
                  <c:v>45.9</c:v>
                </c:pt>
                <c:pt idx="2">
                  <c:v>81.099999999999994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6CD-4CB9-B66C-1C000C5A249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Global threshold</c:v>
                </c:pt>
              </c:strCache>
            </c:strRef>
          </c:tx>
          <c:spPr>
            <a:solidFill>
              <a:srgbClr val="6B6259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31.8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BD8-4513-BC50-8431926096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TapTrace</c:v>
                </c:pt>
              </c:strCache>
            </c:strRef>
          </c:tx>
          <c:spPr>
            <a:solidFill>
              <a:srgbClr val="F2B66D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86.7</c:v>
                </c:pt>
                <c:pt idx="1">
                  <c:v>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BD8-4513-BC50-84319260966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0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D9D2C7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jp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svg"/><Relationship Id="rId3" Type="http://schemas.openxmlformats.org/officeDocument/2006/relationships/image" Target="../media/image6.jp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svg"/><Relationship Id="rId4" Type="http://schemas.openxmlformats.org/officeDocument/2006/relationships/chart" Target="../charts/chart1.xml"/><Relationship Id="rId9" Type="http://schemas.openxmlformats.org/officeDocument/2006/relationships/image" Target="../media/image16.svg"/><Relationship Id="rId14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13" Type="http://schemas.openxmlformats.org/officeDocument/2006/relationships/image" Target="../media/image33.svg"/><Relationship Id="rId18" Type="http://schemas.openxmlformats.org/officeDocument/2006/relationships/image" Target="../media/image38.svg"/><Relationship Id="rId3" Type="http://schemas.openxmlformats.org/officeDocument/2006/relationships/image" Target="../media/image6.jpg"/><Relationship Id="rId21" Type="http://schemas.openxmlformats.org/officeDocument/2006/relationships/image" Target="../media/image40.sv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17" Type="http://schemas.openxmlformats.org/officeDocument/2006/relationships/image" Target="../media/image37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6.svg"/><Relationship Id="rId20" Type="http://schemas.openxmlformats.org/officeDocument/2006/relationships/image" Target="../media/image1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1.svg"/><Relationship Id="rId5" Type="http://schemas.openxmlformats.org/officeDocument/2006/relationships/image" Target="../media/image25.svg"/><Relationship Id="rId15" Type="http://schemas.openxmlformats.org/officeDocument/2006/relationships/image" Target="../media/image35.svg"/><Relationship Id="rId10" Type="http://schemas.openxmlformats.org/officeDocument/2006/relationships/image" Target="../media/image30.svg"/><Relationship Id="rId19" Type="http://schemas.openxmlformats.org/officeDocument/2006/relationships/image" Target="../media/image39.svg"/><Relationship Id="rId4" Type="http://schemas.openxmlformats.org/officeDocument/2006/relationships/image" Target="../media/image24.svg"/><Relationship Id="rId9" Type="http://schemas.openxmlformats.org/officeDocument/2006/relationships/image" Target="../media/image29.svg"/><Relationship Id="rId14" Type="http://schemas.openxmlformats.org/officeDocument/2006/relationships/image" Target="../media/image3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6.jp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13" Type="http://schemas.openxmlformats.org/officeDocument/2006/relationships/image" Target="../media/image55.svg"/><Relationship Id="rId18" Type="http://schemas.openxmlformats.org/officeDocument/2006/relationships/image" Target="../media/image11.svg"/><Relationship Id="rId3" Type="http://schemas.openxmlformats.org/officeDocument/2006/relationships/image" Target="../media/image6.jpg"/><Relationship Id="rId21" Type="http://schemas.openxmlformats.org/officeDocument/2006/relationships/image" Target="../media/image62.svg"/><Relationship Id="rId7" Type="http://schemas.openxmlformats.org/officeDocument/2006/relationships/image" Target="../media/image49.svg"/><Relationship Id="rId12" Type="http://schemas.openxmlformats.org/officeDocument/2006/relationships/image" Target="../media/image54.svg"/><Relationship Id="rId17" Type="http://schemas.openxmlformats.org/officeDocument/2006/relationships/image" Target="../media/image59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8.svg"/><Relationship Id="rId20" Type="http://schemas.openxmlformats.org/officeDocument/2006/relationships/image" Target="../media/image6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11" Type="http://schemas.openxmlformats.org/officeDocument/2006/relationships/image" Target="../media/image53.svg"/><Relationship Id="rId5" Type="http://schemas.openxmlformats.org/officeDocument/2006/relationships/image" Target="../media/image47.svg"/><Relationship Id="rId15" Type="http://schemas.openxmlformats.org/officeDocument/2006/relationships/image" Target="../media/image57.svg"/><Relationship Id="rId10" Type="http://schemas.openxmlformats.org/officeDocument/2006/relationships/image" Target="../media/image52.svg"/><Relationship Id="rId19" Type="http://schemas.openxmlformats.org/officeDocument/2006/relationships/image" Target="../media/image60.svg"/><Relationship Id="rId4" Type="http://schemas.openxmlformats.org/officeDocument/2006/relationships/image" Target="../media/image46.svg"/><Relationship Id="rId9" Type="http://schemas.openxmlformats.org/officeDocument/2006/relationships/image" Target="../media/image51.svg"/><Relationship Id="rId14" Type="http://schemas.openxmlformats.org/officeDocument/2006/relationships/image" Target="../media/image5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6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7.svg"/><Relationship Id="rId3" Type="http://schemas.openxmlformats.org/officeDocument/2006/relationships/image" Target="../media/image6.jpg"/><Relationship Id="rId7" Type="http://schemas.openxmlformats.org/officeDocument/2006/relationships/image" Target="../media/image67.svg"/><Relationship Id="rId12" Type="http://schemas.openxmlformats.org/officeDocument/2006/relationships/image" Target="../media/image70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29.svg"/><Relationship Id="rId5" Type="http://schemas.openxmlformats.org/officeDocument/2006/relationships/image" Target="../media/image66.svg"/><Relationship Id="rId15" Type="http://schemas.openxmlformats.org/officeDocument/2006/relationships/image" Target="../media/image71.svg"/><Relationship Id="rId10" Type="http://schemas.openxmlformats.org/officeDocument/2006/relationships/image" Target="../media/image69.svg"/><Relationship Id="rId4" Type="http://schemas.openxmlformats.org/officeDocument/2006/relationships/chart" Target="../charts/chart2.xml"/><Relationship Id="rId9" Type="http://schemas.openxmlformats.org/officeDocument/2006/relationships/image" Target="../media/image68.svg"/><Relationship Id="rId1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.jpg"/><Relationship Id="rId7" Type="http://schemas.openxmlformats.org/officeDocument/2006/relationships/image" Target="../media/image7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73.svg"/><Relationship Id="rId4" Type="http://schemas.openxmlformats.org/officeDocument/2006/relationships/image" Target="../media/image6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svg"/><Relationship Id="rId5" Type="http://schemas.openxmlformats.org/officeDocument/2006/relationships/image" Target="../media/image13.svg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6.jp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svg"/><Relationship Id="rId5" Type="http://schemas.openxmlformats.org/officeDocument/2006/relationships/image" Target="../media/image79.svg"/><Relationship Id="rId4" Type="http://schemas.openxmlformats.org/officeDocument/2006/relationships/image" Target="../media/image78.svg"/><Relationship Id="rId9" Type="http://schemas.openxmlformats.org/officeDocument/2006/relationships/image" Target="../media/image8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1" name="Oval 90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06040" y="717804"/>
            <a:ext cx="1097280" cy="9144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840480" y="5669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300">
                <a:solidFill>
                  <a:srgbClr val="CFC6BA"/>
                </a:solidFill>
                <a:latin typeface="Segoe UI"/>
              </a:rPr>
              <a:t>SAMSUNG PRISM  ·  GENAI HACKATHON 3.0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41732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From a vague complaint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to a </a:t>
            </a:r>
            <a:r>
              <a:rPr sz="4400" b="0" i="0">
                <a:solidFill>
                  <a:srgbClr val="F2B66D"/>
                </a:solidFill>
                <a:latin typeface="Segoe UI Semibold"/>
              </a:rPr>
              <a:t>verified fix</a:t>
            </a:r>
            <a:r>
              <a:rPr sz="4400" b="0" i="0">
                <a:solidFill>
                  <a:srgbClr val="FFFFFF"/>
                </a:solidFill>
                <a:latin typeface="Segoe UI Semibold"/>
              </a:rPr>
              <a:t>,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in one tap.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384048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E6DDD1"/>
                </a:solidFill>
                <a:latin typeface="Segoe UI"/>
              </a:rPr>
              <a:t>A grounded troubleshooting engine for Samsung PRISM Theme 02: every step traced to its source, every Settings fix one exact deeplink away, every repeat answered from cache in milliseconds.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Evidence-locked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67128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Exact-screen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deeplinks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39112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648456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Relevance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29784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Contrastive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cache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01768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85800" y="6144768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85800" y="6236208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CFC6BA"/>
                </a:solidFill>
                <a:latin typeface="Segoe UI"/>
              </a:rPr>
              <a:t>THEME ID 02   |   TEAM TAPTRACE   |   THAPAR INSTITUTE OF ENGINEERING &amp; TECHNOLOGY   |   ARNAV JOSHI · ajoshi4_be23@thapar.edu   |   github.com/Arnav020/Tap-Trace   |   LIVE taptrace.onrender.com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6704C548-27D1-1BCE-2AA4-F35363E848D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4892040"/>
            <a:ext cx="329184" cy="32918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842BB945-A96E-F71C-43E6-6525DB53991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7128" y="4892040"/>
            <a:ext cx="329184" cy="32918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9CC48CD0-1FEC-D66B-8095-6784C2AEFE4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48456" y="4892040"/>
            <a:ext cx="329184" cy="32918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6CA15420-DE8F-7017-BE0C-807F13ACCBF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9784" y="489204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Oval 10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01  |  THEME · THE PROBLEM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One vague sentence costs an agent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~15 minutes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and the customer still hunts through Settings.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Theme 02 asks for a REST engine that turns such complaints into a grounded, ordered, one-tap plan under hard latency, cost and hygiene rules.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02 / 12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210312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95528" y="22677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THE INPUT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2560320"/>
            <a:ext cx="3200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F5EFE6"/>
                </a:solidFill>
                <a:latin typeface="Segoe UI"/>
              </a:rPr>
              <a:t>“My Nexa X1 screen inputs are delayed and the touch responsiveness is laggy, causing a noticeable delay when I try to interact with the phone.”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5528" y="39319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input.txt, line 19  +  SIIS ‘Touchscreen issues’ (9 sections)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5528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setting names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74519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technical terms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953512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order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315968" y="3611880"/>
            <a:ext cx="512064" cy="0"/>
          </a:xfrm>
          <a:prstGeom prst="line">
            <a:avLst/>
          </a:prstGeom>
          <a:ln w="25400">
            <a:solidFill>
              <a:srgbClr val="F2B6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4206240" y="32004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2B66D"/>
                </a:solidFill>
                <a:latin typeface="Segoe UI Semibold"/>
              </a:rPr>
              <a:t>1.3 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19472" y="2103120"/>
            <a:ext cx="6702552" cy="3017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138928" y="226771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THE REQUIRED OUTPUT (SCHEMA.PY CONTRACT)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38928" y="260604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goal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11696" y="260604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Follow these steps to perform this Touch Lag Troubleshooting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138928" y="290779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title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11696" y="290779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Touch lag recovery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266944" y="332841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449824" y="320954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actionName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022592" y="3209544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Configure Navigation Bar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266944" y="3630168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49824" y="351129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description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22592" y="3511296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It will stop gestures blocking your taps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66944" y="3931920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5449824" y="381304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category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022592" y="3813048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auto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577840" y="4233672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760720" y="41148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steps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33488" y="4114800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 Display → Tap Navigation bar → Select Buttons to turn off full scree…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77840" y="4535424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760720" y="44165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actionableDeeplink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33488" y="4416552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Consolas"/>
              </a:rPr>
              <a:t>voiceassist://masked/act/2f3dd95259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483717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760720" y="4718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validationDeeplink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333488" y="4718304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key = ‘Navigation bar’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6928" y="5330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HARD CONSTRAINTS WE ENFORCE IN CODE (THEME 2 PDF §4 AND §6)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94944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261872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0 URL leaks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regex gate on every field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88920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2916936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83864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5–7-word descriptions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validators + repair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10912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5138928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705856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Critical steps last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disruption-cost ordering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32904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ounded Rectangle 158"/>
          <p:cNvSpPr/>
          <p:nvPr/>
        </p:nvSpPr>
        <p:spPr>
          <a:xfrm>
            <a:off x="7360920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927848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300 ms cached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no LLM call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54896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9582912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149840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8 s cold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two parallel LLM calls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990DFEF0-117A-964A-8A3E-8772C98F060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" y="5843016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8888CAE2-5C6C-69C9-999D-EE285A7D7C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26664" y="5843016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EB465FC9-6BE6-3A1E-C328-F1C078999AF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48656" y="5843016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9E79063D-7CE2-D7CF-68EE-BF8863F5076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70648" y="5843016"/>
            <a:ext cx="237744" cy="23774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6F667CD0-B12F-7B3A-0B24-882AE3FF646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92640" y="5843016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02  |  EXISTING SOLUTIONS &amp; GAPS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provided data is adversarial - a textbook RAG pipeline walks into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six traps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We audited all 578 catalog rows and 20 SIIS articles before writing code (docs/DATA_AUDIT.md).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03 / 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2103120"/>
            <a:ext cx="2788920" cy="425196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768096" y="224942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TEXTBOOK PIPELINE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68096" y="257860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1207007" y="257860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LLM writes the steps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096" y="30815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207007" y="308152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Top-1 embedding match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8096" y="358444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207007" y="358444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One global cache threshold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68096" y="408736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207007" y="408736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Trust any SIIS article</a:t>
            </a:r>
          </a:p>
        </p:txBody>
      </p:sp>
      <p:graphicFrame>
        <p:nvGraphicFramePr>
          <p:cNvPr id="136" name="Chart 135"/>
          <p:cNvGraphicFramePr>
            <a:graphicFrameLocks noGrp="1"/>
          </p:cNvGraphicFramePr>
          <p:nvPr/>
        </p:nvGraphicFramePr>
        <p:xfrm>
          <a:off x="612648" y="4846320"/>
          <a:ext cx="269748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7" name="TextBox 136"/>
          <p:cNvSpPr txBox="1"/>
          <p:nvPr/>
        </p:nvSpPr>
        <p:spPr>
          <a:xfrm>
            <a:off x="768096" y="4681728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D9D2C7"/>
                </a:solidFill>
                <a:latin typeface="Segoe UI Semibold"/>
              </a:rPr>
              <a:t>Exact deeplinks, 37-case benchmark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538728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3703320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233672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03320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TV &amp; appliance screens hidden in the phone catalog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703320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DL-0468 … DL-0569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950208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Catalog Compiler quarantines them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45352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409944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6940296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09944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labels that name the wrong feature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09944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DL-0162 “Disable Grayscale” = mono audio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56832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Match on screen labels, never messages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951976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9116567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646919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0.94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116567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cosine of “won’t turn ON” vs “won’t turn OFF”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16567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embeddings are polarity-blind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63455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Facet guard + per-entry 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538728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3703320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233672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4/20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03320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SIIS articles are the wrong document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703320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row_8: TV mirroring for a small phone screen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950208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Relevance Gate → honest no_match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245352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6409944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940296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DL-0022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409944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nearest entry to “factory data reset”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409944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it is the AUTO reset after failed unlocks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56832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Abstain → dummy_positive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951976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9116567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9646919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12 words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16567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in the official sample description (5–7 allowed)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9116567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sample_output.json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363455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Every field rule enforced in code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BF826D7E-4CC9-6113-5BE8-BFCAB63CAAB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6112" y="2679191"/>
            <a:ext cx="219456" cy="21945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BECC0211-7894-7794-3DA8-65D2199BFC8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2697479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106B683B-F8D6-AF9A-0655-268BFE9B36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6112" y="3182112"/>
            <a:ext cx="219456" cy="21945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366CBD83-6237-CD8A-5CD8-51E95F41553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20040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A3030805-8920-FF43-297C-04A8BEB07ED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6112" y="3685032"/>
            <a:ext cx="219456" cy="21945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55AA77CA-E888-A7DA-295D-76741FD2AA9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703320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B115D2BA-2E5F-6152-7D21-39B8FE77271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6112" y="4187952"/>
            <a:ext cx="219456" cy="21945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4C6BDF48-C877-CF32-2A13-06ACC765E1E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4206240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01052164-D775-351C-7FFC-040FBEA19D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04269" y="2368661"/>
            <a:ext cx="218724" cy="21872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8302F47F-89FF-AEFB-485D-6CFFC3386AB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3749039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C9D08A88-8120-556D-E206-E1FA9C63B1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10893" y="2368661"/>
            <a:ext cx="218724" cy="21872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1477A7C7-1B93-530A-CDF1-8F7DD93819E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3749039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A4A8976C-A066-D1FB-BCD7-2747AB75F5B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17517" y="2368661"/>
            <a:ext cx="218724" cy="218724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480151E2-6DDE-3A1B-C670-F0440DD26C6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3749039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BB7918E4-28D9-E1DC-8748-00E23ECE8D4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04269" y="4526645"/>
            <a:ext cx="218724" cy="21872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8DE4F2DC-AC46-51F8-3235-9EE2BEC139F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5907024"/>
            <a:ext cx="182880" cy="182880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163B100B-B570-96A7-3372-556AE1B66A1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10893" y="4526645"/>
            <a:ext cx="218724" cy="21872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2070C135-F9A1-D850-EFBD-4C4A6D6AC87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5907024"/>
            <a:ext cx="182880" cy="182880"/>
          </a:xfrm>
          <a:prstGeom prst="rect">
            <a:avLst/>
          </a:prstGeom>
        </p:spPr>
      </p:pic>
      <p:pic>
        <p:nvPicPr>
          <p:cNvPr id="39" name="icon">
            <a:extLst>
              <a:ext uri="{FF2B5EF4-FFF2-40B4-BE49-F238E27FC236}">
                <a16:creationId xmlns:a16="http://schemas.microsoft.com/office/drawing/2014/main" id="{8FC7989C-7598-2C2E-4815-25780DF83E6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17517" y="4526645"/>
            <a:ext cx="218724" cy="218724"/>
          </a:xfrm>
          <a:prstGeom prst="rect">
            <a:avLst/>
          </a:prstGeom>
        </p:spPr>
      </p:pic>
      <p:pic>
        <p:nvPicPr>
          <p:cNvPr id="41" name="icon">
            <a:extLst>
              <a:ext uri="{FF2B5EF4-FFF2-40B4-BE49-F238E27FC236}">
                <a16:creationId xmlns:a16="http://schemas.microsoft.com/office/drawing/2014/main" id="{FD6CF39B-D0D8-A939-09A0-5E2F3960E6B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5907024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1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4" name="Oval 11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03  |  OUR SOLUTION &amp; ARCHITECTURE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A five-stage pipeline where the LLM may select and name - but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never write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 step.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Two LLM calls run in parallel on the cold path. Everything else is deterministic, tested code.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04 / 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6692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713232" y="2240280"/>
            <a:ext cx="365760" cy="365760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7043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Understand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8580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7043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Facet frame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symptom · part · component · on/off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9DBF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17043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A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canonical query, 10 paraphrases, hard negatives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8580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17043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hit in 4 ms, $0, no LLM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2679191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2804464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950768" y="2240280"/>
            <a:ext cx="365760" cy="36576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07968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Ground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923336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3407968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full · partial · none → no_match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3336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407968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SIIS normaliser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span ids, leak &amp; corrupt flags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923336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3407968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 units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verbatim steps + provenance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16728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5042001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188305" y="2240280"/>
            <a:ext cx="365760" cy="36576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45505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Resolve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60873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5645505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Catalog Compiler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397 screens × on/off/open/set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160873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5645505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Screen resolver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leaf label → fuzzy → abstain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160873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645505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+ probe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variant + validationDeeplink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154265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727953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425842" y="2240280"/>
            <a:ext cx="365760" cy="36576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8304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Compose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39841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EE9A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788304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B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select, group, name - no step text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9841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88304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Category &amp; order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auto → manual →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39841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788304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Computed score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fit × grounding × mapping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9391802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Rounded Rectangle 175"/>
          <p:cNvSpPr/>
          <p:nvPr/>
        </p:nvSpPr>
        <p:spPr>
          <a:xfrm>
            <a:off x="9517075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9663379" y="2240280"/>
            <a:ext cx="365760" cy="365760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120579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Guarantee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635947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0120579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Output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organisers’ schema · URI set · 0 leaks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635947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0120579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write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τ from own ± clouds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635947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0120579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REST API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/v1/troubleshoot · /health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66928" y="5257800"/>
            <a:ext cx="76352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749808" y="5367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LATENCY BUDGET (MEASURED)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49808" y="5650992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hit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984248" y="5669280"/>
            <a:ext cx="73152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normalise + facets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2715768" y="5669280"/>
            <a:ext cx="146304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embed (INT8 ONNX)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178808" y="5669280"/>
            <a:ext cx="82296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ANN + guard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93208" y="56509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P95 3.5 ms  ·  $0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749808" y="598932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Cold path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984248" y="6007608"/>
            <a:ext cx="640080" cy="219456"/>
          </a:xfrm>
          <a:prstGeom prst="rect">
            <a:avLst/>
          </a:prstGeom>
          <a:solidFill>
            <a:srgbClr val="C9C1B6">
              <a:alpha val="10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C9C1B6"/>
                </a:solidFill>
                <a:latin typeface="Segoe UI"/>
              </a:rPr>
              <a:t>gate + units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624328" y="6007608"/>
            <a:ext cx="2926080" cy="219456"/>
          </a:xfrm>
          <a:prstGeom prst="rect">
            <a:avLst/>
          </a:prstGeom>
          <a:solidFill>
            <a:srgbClr val="EE9A7E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EE9A7E"/>
                </a:solidFill>
                <a:latin typeface="Segoe UI"/>
              </a:rPr>
              <a:t>Stage A ∥ Stage B (LLM)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550408" y="6007608"/>
            <a:ext cx="914400" cy="219456"/>
          </a:xfrm>
          <a:prstGeom prst="rect">
            <a:avLst/>
          </a:prstGeom>
          <a:solidFill>
            <a:srgbClr val="93CDB9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93CDB9"/>
                </a:solidFill>
                <a:latin typeface="Segoe UI"/>
              </a:rPr>
              <a:t>resolve + compose + gate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556248" y="59893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EE9A7E"/>
                </a:solidFill>
                <a:latin typeface="Segoe UI Semibold"/>
              </a:rPr>
              <a:t>P50 1.3 s  ·  P95 3.8 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8412480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8531352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$0.00013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cold query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500615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9619488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cache hit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0588751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10707624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2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LLM calls per cold query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3E4F2CDD-CA0E-1716-CC6C-397B6317B5F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528" y="29260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C80B4C7C-1BF0-71A5-19AF-9A3923792AB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528" y="3685032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7B4A6591-68C2-6C61-3AFF-531D11A2BB3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528" y="4443984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EDDF799B-A66E-3DCB-EB6E-3855B3E5989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33064" y="29260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A00CD71B-C7CC-80F7-2697-51EDE35DD6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3064" y="3685032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903110DB-3AA7-6C07-A3B8-8FB1C784C92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3064" y="4443984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B75D180F-6FDE-345D-40BE-029B1E4D35E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70601" y="2926080"/>
            <a:ext cx="274320" cy="27432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151BE6FF-792A-FC8E-EE63-DD21FA9D14A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0601" y="3685032"/>
            <a:ext cx="274320" cy="27432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FB0124AF-BEFA-2679-8B21-D4F82AB4A2E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0601" y="4443984"/>
            <a:ext cx="274320" cy="27432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F21EBC7C-7016-3EEE-0B5D-93DA043E1F4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08138" y="2926080"/>
            <a:ext cx="274320" cy="27432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2F6DB620-033F-4741-5416-F6E1B502A2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08138" y="3685032"/>
            <a:ext cx="274320" cy="27432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7BCBE110-87D7-A4DB-4BE0-7E331C554E4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08138" y="4443984"/>
            <a:ext cx="274320" cy="27432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7D323BCB-F9EE-DD5D-2F1B-6B8416BB91F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45675" y="2926080"/>
            <a:ext cx="274320" cy="27432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AD49AA69-13BE-FEA0-963F-CD4342B5C0C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45675" y="3685032"/>
            <a:ext cx="274320" cy="27432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0A7197F5-621D-CFF2-A6AB-0E8EA71811E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45675" y="4443984"/>
            <a:ext cx="274320" cy="27432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96DD29A1-1017-360D-B8B9-998B412688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31352" y="5376672"/>
            <a:ext cx="219456" cy="219456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F9D9B2CA-260A-0ED6-1452-000985D50B6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19488" y="5376672"/>
            <a:ext cx="219456" cy="219456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2013B34A-DA53-BCA5-5928-69F836439F2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707624" y="537667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0" name="Oval 11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04  |  DEMO &amp; PRODUCT WALKTHROUGH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live console shows every step’s source sentence and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closes the loop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with a probe.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Real screenshot of demo/ served by the same container (device simulated in the browser).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05 / 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2057400"/>
            <a:ext cx="5856549" cy="4334256"/>
          </a:xfrm>
          <a:prstGeom prst="roundRect">
            <a:avLst>
              <a:gd name="adj" fmla="val 3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04088" y="2148840"/>
            <a:ext cx="91440" cy="9144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868680" y="2148840"/>
            <a:ext cx="91440" cy="9144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033271" y="2148840"/>
            <a:ext cx="91440" cy="9144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1298448" y="2112264"/>
            <a:ext cx="2926080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00" b="0" i="0">
                <a:solidFill>
                  <a:srgbClr val="A89F93"/>
                </a:solidFill>
                <a:latin typeface="Segoe UI"/>
              </a:rPr>
              <a:t>localhost:8000  ·  TapTrace console</a:t>
            </a:r>
          </a:p>
        </p:txBody>
      </p:sp>
      <p:pic>
        <p:nvPicPr>
          <p:cNvPr id="135" name="Picture 134" descr="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331720"/>
            <a:ext cx="5819973" cy="4041648"/>
          </a:xfrm>
          <a:prstGeom prst="rect">
            <a:avLst/>
          </a:prstGeom>
        </p:spPr>
      </p:pic>
      <p:sp>
        <p:nvSpPr>
          <p:cNvPr id="136" name="Oval 135"/>
          <p:cNvSpPr/>
          <p:nvPr/>
        </p:nvSpPr>
        <p:spPr>
          <a:xfrm>
            <a:off x="528888" y="533896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37" name="Oval 136"/>
          <p:cNvSpPr/>
          <p:nvPr/>
        </p:nvSpPr>
        <p:spPr>
          <a:xfrm>
            <a:off x="2084923" y="3757415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8" name="Oval 137"/>
          <p:cNvSpPr/>
          <p:nvPr/>
        </p:nvSpPr>
        <p:spPr>
          <a:xfrm>
            <a:off x="4385078" y="457913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39" name="Oval 138"/>
          <p:cNvSpPr/>
          <p:nvPr/>
        </p:nvSpPr>
        <p:spPr>
          <a:xfrm>
            <a:off x="4385078" y="3750594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697797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6862389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62389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Provenance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every plan step is highlighted in its source SIIS sentence, with span ids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243578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9408170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08170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Cache decision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exact or semantic hit with similarity ≥ per-entry τ at $0, or the guard that refused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697797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6862389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62389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One tap + probe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an auto step runs its deeplink; the validationDeeplink probe turns ✓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243578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9408170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08170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Conditional options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one screen, two step groups: ON with a screen protector, OFF without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697797" y="4946904"/>
            <a:ext cx="4926970" cy="1444752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6880677" y="5074920"/>
            <a:ext cx="456121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WHAT THE PHONE RECEIVED (RESULTS.JSONL, LINE 19)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880677" y="5367528"/>
            <a:ext cx="456121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"actionName": "Adjust Touch Sensitivity",  "category": "auto",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"deeplink": "voiceassist://masked/act/14eb42b895",  "originalType": "onURL",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"validationDeeplink": {"key": "Touch sensitivity",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    "condition": "equal", "value": "True"}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105180D1-1CC4-129D-3195-2A17C9B65F2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8362" y="2240280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92760B94-9DFB-DF61-5CA4-EF832B49460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04143" y="2240280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55CCD29B-DCD3-63B9-2C91-D619540E5BE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58362" y="3685032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01E1CDC3-8624-7D12-39F4-03C8A50194F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04143" y="368503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2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6" name="Oval 12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05  |  TOOLS AND TECH STACK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Small,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CPU-only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and reproducible - one container, no GPU, and it runs even without an API key.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Every dependency is pinned in requirements.txt; the INT8 embedder and pre-warmed cache ship in the image.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06 /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SERVING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49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49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FastAPI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92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892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Uvicorn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49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49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Pydantic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892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892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ORJSON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154680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3337560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INTELLIGENCE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337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337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gpt-oss-120b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80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4480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Groq API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337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3337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MiniLM-L6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80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480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ONNX Runtime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742432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5925312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DATA &amp; QUALITY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925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925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Python 3.12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068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068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NumPy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925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5925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SQLite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068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068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5193792"/>
            <a:ext cx="7653527" cy="1188720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768096" y="530352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93CDB9"/>
                </a:solidFill>
                <a:latin typeface="Consolas"/>
              </a:rPr>
              <a:t>taptrace/  catalog.py · siis.py · facets.py · resolver.py · plan.py · cache.py · engine.py · api.py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scripts/   build_results · evaluate · stress_test · audit_report · build_deck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eval/      gold · mapping_benchmark · heldout + test paraphrases · hard_negatives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Dockerfile · docker-compose.yml · results.jsonl · metrics.md · tests/ (27 gates)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430768" y="214883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9015984" y="210312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23 MB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INT8 ONNX embedder, 0.97 cosine vs FP32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8430768" y="30175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9015984" y="29718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1.6 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container cold start to healthy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430768" y="388619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9015984" y="384047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495 req/s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16 concurrent clients, 0 errors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430768" y="475487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9015984" y="470915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27 gates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pytest: contract, traps, gate, cache, API, unseen domains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8430768" y="562355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9015984" y="55778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0 keys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needed to run: deterministic path + cache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AB7E8110-2823-65A0-83AF-36F8A554367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" y="2734056"/>
            <a:ext cx="402336" cy="40233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948A5777-2736-5663-5CEF-AB3DFCE85B5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4560" y="2734056"/>
            <a:ext cx="402336" cy="402336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02D8E209-F915-55DE-5AD6-5CAB1E3099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3904487"/>
            <a:ext cx="402336" cy="40233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D5BE2410-B5D2-237C-FFCB-FB5AB7A58DD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4560" y="3904487"/>
            <a:ext cx="402336" cy="402336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16FB6DFC-31CE-7FD6-2F21-CB9839A3A3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39312" y="2734056"/>
            <a:ext cx="402336" cy="40233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2A842747-C740-C6CA-7414-CD9B6382218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82312" y="2734056"/>
            <a:ext cx="402336" cy="402336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0ED39319-5A51-7062-E21D-9AA9DA6D431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312" y="3904487"/>
            <a:ext cx="402336" cy="40233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0C08F061-06AA-BD2A-10D4-2B5F3C63A6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82312" y="3904487"/>
            <a:ext cx="402336" cy="402336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EBC8E17C-824D-7033-9A87-A6D21B7C06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27064" y="2734056"/>
            <a:ext cx="402336" cy="402336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90EF38E2-F35C-767D-AD55-7134F9392FC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70064" y="2734056"/>
            <a:ext cx="402336" cy="402336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E9C4292A-0BDE-FAD7-84C1-E45AB7EB1B6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7064" y="3904487"/>
            <a:ext cx="402336" cy="402336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B2B6B2FE-BC8A-09E7-630E-8565162A035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370064" y="3904487"/>
            <a:ext cx="402336" cy="402336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80886F7C-7FF1-C9ED-754A-15F765EAE1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589520" y="5349240"/>
            <a:ext cx="457200" cy="45720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2495920A-4F40-229E-347B-250F794F987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540496" y="2258568"/>
            <a:ext cx="237744" cy="237744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5BF4480A-4E5D-F1D9-94F0-FF511AD83B8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40496" y="3127248"/>
            <a:ext cx="237744" cy="23774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2F4BF468-A07D-001C-2F85-40BEBD7E32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40496" y="3995927"/>
            <a:ext cx="237744" cy="237744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0491A845-8532-36AF-CFAC-E5B52290F07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496" y="4864607"/>
            <a:ext cx="237744" cy="23774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2352CFF3-1B4B-5A28-F4FD-62746BD35A2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496" y="573328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3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2" name="Oval 13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06  |  IMPACT &amp; USE CASE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~15 minutes of manual triage 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~1 seconds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and $0 for every repeat complaint.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About 674× faster on a new complaint; a cache hit is served in 2 ms.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07 / 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210312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95528" y="22402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TIME TO AN ACTIONABLE PLAN (TO SCALE)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95528" y="26517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21408" y="2724912"/>
            <a:ext cx="3291840" cy="219456"/>
          </a:xfrm>
          <a:prstGeom prst="rect">
            <a:avLst/>
          </a:prstGeom>
          <a:solidFill>
            <a:srgbClr val="6B6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486400" y="26517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D9D2C7"/>
                </a:solidFill>
                <a:latin typeface="Segoe UI Semibold"/>
              </a:rPr>
              <a:t>≈ 15 min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5528" y="3200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new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21408" y="3273552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240279" y="320040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1.3 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5528" y="37490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repeat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121408" y="3822191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240279" y="3749039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2 ms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5528" y="4114800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8A8176"/>
                </a:solidFill>
                <a:latin typeface="Segoe UI"/>
              </a:rPr>
              <a:t>New-complaint time is the measured cold-path P50; repeat time is the measured cache-hit P50.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81928" y="2103120"/>
            <a:ext cx="5340096" cy="23317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492240" y="224028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AT PRODUCTION SCALE: 10,000 SCENARIOS (BROCHURE TARGET)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92240" y="2606040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29600" y="260604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2,500 agent-hours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at 15 min each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492240" y="3017520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492240" y="303580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 first pass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29600" y="3035808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≈ $1.30 LLM cost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3.7 h sequential; parallelisable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92240" y="3447288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492240" y="3465576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Every repeat after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0" y="3465576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$0  ·  milliseconds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served from the contrastive cache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492240" y="3877056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492240" y="3895344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Mapping reuse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0" y="3895344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shared step-path memo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screens resolved once, reused everywhere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ounded Rectangle 167"/>
          <p:cNvSpPr/>
          <p:nvPr/>
        </p:nvSpPr>
        <p:spPr>
          <a:xfrm>
            <a:off x="749808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344168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Customer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49808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 text steps, then hunts nested menus.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49808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Taps once: the exact screen and toggle state opens; a probe confirms the fix.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288536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ounded Rectangle 173"/>
          <p:cNvSpPr/>
          <p:nvPr/>
        </p:nvSpPr>
        <p:spPr>
          <a:xfrm>
            <a:off x="4471416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5065776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Support agent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471416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Reads, selects and orders steps by hand.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71416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Gets an ordered plan with every step highlighted in its source article.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8010144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ounded Rectangle 179"/>
          <p:cNvSpPr/>
          <p:nvPr/>
        </p:nvSpPr>
        <p:spPr>
          <a:xfrm>
            <a:off x="8193023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8787384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Operations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3023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Wrong articles turn into wrong advice.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3023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Wrong-document tickets return no_match; ≈$0.0001 per new scenario.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61205233-B930-E69F-6F11-B2CB35280A9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9536" y="4864608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978A9BCA-3748-12F2-97A2-F0DD8D5748D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81144" y="4864608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A484F624-35C8-2F9B-C656-565029CCD3A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2751" y="486460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3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8" name="Oval 13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07  |  INNOVATION HIGHLIGHTS, RESULTS AND LIMITATIONS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2B66D"/>
                </a:solidFill>
                <a:latin typeface="Segoe UI Semibold"/>
              </a:rPr>
              <a:t>Every target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in the brief is met - measured on the provided data and a frozen test set.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All numbers are produced by scripts/evaluate.py and artifacts/stress.json; nothing is typed by hand.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08 / 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6692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3152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3152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schema-valid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≥ 99%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427732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592324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592324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URL leaks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0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288536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4453128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3.00/3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53128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step accuracy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vs hand-annotated gold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49340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3932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13932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exact deeplinks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37 cases, 5 domains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010144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8174736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80%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74736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paraphrase hits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frozen test, target ≥ 80%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87094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003554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3.8 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03554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cold-path P95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≤ 8 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6928" y="35661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INNOVATION HIGHLIGHTS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2688" y="388620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Evidence-locked steps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the LLM can never author a step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32688" y="430682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Compiled catalog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397 screens × on / off / open / 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2688" y="472744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honest no_match on wrong articles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2688" y="514807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per-entry τ + symbolic facet guard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2688" y="556869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Conditional polarity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one screen, two step groups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32688" y="598932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Closed loop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verbatim validation probes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069080" y="3566160"/>
            <a:ext cx="402336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4251960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EXACT DEEPLINKS · SAME 37 INPUTS</a:t>
            </a:r>
          </a:p>
        </p:txBody>
      </p:sp>
      <p:graphicFrame>
        <p:nvGraphicFramePr>
          <p:cNvPr id="187" name="Chart 186"/>
          <p:cNvGraphicFramePr>
            <a:graphicFrameLocks noGrp="1"/>
          </p:cNvGraphicFramePr>
          <p:nvPr/>
        </p:nvGraphicFramePr>
        <p:xfrm>
          <a:off x="4160520" y="3931920"/>
          <a:ext cx="384048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8" name="Rounded Rectangle 187"/>
          <p:cNvSpPr/>
          <p:nvPr/>
        </p:nvSpPr>
        <p:spPr>
          <a:xfrm>
            <a:off x="8275320" y="3566160"/>
            <a:ext cx="3346704" cy="27889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8485632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EE9A7E"/>
                </a:solidFill>
                <a:latin typeface="Segoe UI Semibold"/>
              </a:rPr>
              <a:t>LIMITATIONS (HONEST)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759952" y="400507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Free-tier LLM: ~3 new scenarios per minute; overflow degrades to deterministic wording, never fails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59952" y="4581144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22% of unseen rewordings still miss or mis-hit (frozen test)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759952" y="5157216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Facet lexicons cover six domains; new vocabulary relies on embeddings alone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759952" y="573328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Validation probes shown on a simulated device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566CE7DE-D2C5-4D7D-F820-D90B6996E5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22402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F8D6A096-C6E7-4463-E5D3-FFDDE18262E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324" y="2240280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3AC45067-0208-A0F7-656A-022615BEB96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3128" y="2240280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C5AB2876-FD24-965A-4994-F452FB0A10D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3932" y="22402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6DBA30CE-5B85-0571-26FA-2AD2C63449A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74736" y="2240280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9A29BEE6-A103-A425-EE40-785ED1BB5D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035540" y="2240280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BD9E02AF-3E4A-21C8-55A1-AB6F90BEC12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6928" y="3941063"/>
            <a:ext cx="237744" cy="237744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FF2EBEA7-A859-2839-A551-25F93B83473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6928" y="4361688"/>
            <a:ext cx="237744" cy="237744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DA64C7AE-7C35-444D-1A16-099D5169BAC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6928" y="4782312"/>
            <a:ext cx="237744" cy="23774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4163B58C-F529-C48F-010D-50701D59ADF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6928" y="5202936"/>
            <a:ext cx="237744" cy="237744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FBB6F45B-0171-2D92-1065-91E23376E40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6928" y="5623559"/>
            <a:ext cx="237744" cy="23774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015055C6-EB74-3FED-CBAB-715730BE870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928" y="6044184"/>
            <a:ext cx="237744" cy="237744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9FC4BDD8-FE47-8609-0C36-8E64AD9C968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032504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B45683B7-C1FA-EDC3-7419-9CA8A315DDE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608576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6D193CD4-A892-1DB8-E9FD-6CDA9926069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184648"/>
            <a:ext cx="182880" cy="18288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2987C0D7-940D-184B-8211-17FC166BA5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76072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44" name="Oval 14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08  |  WHAT'S NEXT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hackathon engine to Galaxy support worklet - every next step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reuses what is built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phase extends an existing component rather than adding a new system.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09 / 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49808" y="2487168"/>
            <a:ext cx="10689336" cy="2286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435607" y="2377440"/>
            <a:ext cx="237744" cy="237744"/>
          </a:xfrm>
          <a:prstGeom prst="ellipse">
            <a:avLst/>
          </a:prstGeom>
          <a:solidFill>
            <a:srgbClr val="F2B66D"/>
          </a:solidFill>
          <a:ln w="22225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566928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F2B66D"/>
                </a:solidFill>
                <a:latin typeface="Segoe UI Semibold"/>
              </a:rPr>
              <a:t>NOW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66928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49808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2B66D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749808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TapTrace v1</a:t>
            </a:r>
          </a:p>
        </p:txBody>
      </p:sp>
      <p:sp>
        <p:nvSpPr>
          <p:cNvPr id="161" name="Oval 160"/>
          <p:cNvSpPr/>
          <p:nvPr/>
        </p:nvSpPr>
        <p:spPr>
          <a:xfrm>
            <a:off x="768096" y="417880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14400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REST API + cache + gate</a:t>
            </a:r>
          </a:p>
        </p:txBody>
      </p:sp>
      <p:sp>
        <p:nvSpPr>
          <p:cNvPr id="163" name="Oval 162"/>
          <p:cNvSpPr/>
          <p:nvPr/>
        </p:nvSpPr>
        <p:spPr>
          <a:xfrm>
            <a:off x="768096" y="468172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914400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37/37 deeplink benchmark</a:t>
            </a:r>
          </a:p>
        </p:txBody>
      </p:sp>
      <p:sp>
        <p:nvSpPr>
          <p:cNvPr id="165" name="Oval 164"/>
          <p:cNvSpPr/>
          <p:nvPr/>
        </p:nvSpPr>
        <p:spPr>
          <a:xfrm>
            <a:off x="768096" y="518464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914400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metrics.md, Docker</a:t>
            </a:r>
          </a:p>
        </p:txBody>
      </p:sp>
      <p:sp>
        <p:nvSpPr>
          <p:cNvPr id="167" name="Oval 166"/>
          <p:cNvSpPr/>
          <p:nvPr/>
        </p:nvSpPr>
        <p:spPr>
          <a:xfrm>
            <a:off x="3666744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DB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798064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DBFE3"/>
                </a:solidFill>
                <a:latin typeface="Segoe UI Semibold"/>
              </a:rPr>
              <a:t>NEXT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798064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2980944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DBFE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2980944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Learn from probes</a:t>
            </a:r>
          </a:p>
        </p:txBody>
      </p:sp>
      <p:sp>
        <p:nvSpPr>
          <p:cNvPr id="173" name="Oval 172"/>
          <p:cNvSpPr/>
          <p:nvPr/>
        </p:nvSpPr>
        <p:spPr>
          <a:xfrm>
            <a:off x="2999232" y="417880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145536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validation results as labels</a:t>
            </a:r>
          </a:p>
        </p:txBody>
      </p:sp>
      <p:sp>
        <p:nvSpPr>
          <p:cNvPr id="175" name="Oval 174"/>
          <p:cNvSpPr/>
          <p:nvPr/>
        </p:nvSpPr>
        <p:spPr>
          <a:xfrm>
            <a:off x="2999232" y="468172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3145536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rank actions by fix rate</a:t>
            </a:r>
          </a:p>
        </p:txBody>
      </p:sp>
      <p:sp>
        <p:nvSpPr>
          <p:cNvPr id="177" name="Oval 176"/>
          <p:cNvSpPr/>
          <p:nvPr/>
        </p:nvSpPr>
        <p:spPr>
          <a:xfrm>
            <a:off x="2999232" y="518464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145536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per-model feedback</a:t>
            </a:r>
          </a:p>
        </p:txBody>
      </p:sp>
      <p:sp>
        <p:nvSpPr>
          <p:cNvPr id="179" name="Oval 178"/>
          <p:cNvSpPr/>
          <p:nvPr/>
        </p:nvSpPr>
        <p:spPr>
          <a:xfrm>
            <a:off x="5897880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3CD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5029200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3CDB9"/>
                </a:solidFill>
                <a:latin typeface="Segoe UI Semibold"/>
              </a:rPr>
              <a:t>THEN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029200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5212080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3CDB9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5212080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Live SIIS retrieval</a:t>
            </a:r>
          </a:p>
        </p:txBody>
      </p:sp>
      <p:sp>
        <p:nvSpPr>
          <p:cNvPr id="185" name="Oval 184"/>
          <p:cNvSpPr/>
          <p:nvPr/>
        </p:nvSpPr>
        <p:spPr>
          <a:xfrm>
            <a:off x="5230368" y="417880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5376672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hybrid search over the store</a:t>
            </a:r>
          </a:p>
        </p:txBody>
      </p:sp>
      <p:sp>
        <p:nvSpPr>
          <p:cNvPr id="187" name="Oval 186"/>
          <p:cNvSpPr/>
          <p:nvPr/>
        </p:nvSpPr>
        <p:spPr>
          <a:xfrm>
            <a:off x="5230368" y="468172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5376672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gate already scores fit</a:t>
            </a:r>
          </a:p>
        </p:txBody>
      </p:sp>
      <p:sp>
        <p:nvSpPr>
          <p:cNvPr id="189" name="Oval 188"/>
          <p:cNvSpPr/>
          <p:nvPr/>
        </p:nvSpPr>
        <p:spPr>
          <a:xfrm>
            <a:off x="5230368" y="518464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5376672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multi-document goals</a:t>
            </a:r>
          </a:p>
        </p:txBody>
      </p:sp>
      <p:sp>
        <p:nvSpPr>
          <p:cNvPr id="191" name="Oval 190"/>
          <p:cNvSpPr/>
          <p:nvPr/>
        </p:nvSpPr>
        <p:spPr>
          <a:xfrm>
            <a:off x="8129016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EE9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7260336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E9A7E"/>
                </a:solidFill>
                <a:latin typeface="Segoe UI Semibold"/>
              </a:rPr>
              <a:t>LATER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7260336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3"/>
          <p:cNvSpPr/>
          <p:nvPr/>
        </p:nvSpPr>
        <p:spPr>
          <a:xfrm>
            <a:off x="7443216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9A7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7443216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Multilingual</a:t>
            </a:r>
          </a:p>
        </p:txBody>
      </p:sp>
      <p:sp>
        <p:nvSpPr>
          <p:cNvPr id="197" name="Oval 196"/>
          <p:cNvSpPr/>
          <p:nvPr/>
        </p:nvSpPr>
        <p:spPr>
          <a:xfrm>
            <a:off x="7461504" y="417880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/>
          <p:cNvSpPr txBox="1"/>
          <p:nvPr/>
        </p:nvSpPr>
        <p:spPr>
          <a:xfrm>
            <a:off x="7607808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Hindi / Hinglish complaints</a:t>
            </a:r>
          </a:p>
        </p:txBody>
      </p:sp>
      <p:sp>
        <p:nvSpPr>
          <p:cNvPr id="199" name="Oval 198"/>
          <p:cNvSpPr/>
          <p:nvPr/>
        </p:nvSpPr>
        <p:spPr>
          <a:xfrm>
            <a:off x="7461504" y="468172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7607808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multilingual embedder</a:t>
            </a:r>
          </a:p>
        </p:txBody>
      </p:sp>
      <p:sp>
        <p:nvSpPr>
          <p:cNvPr id="201" name="Oval 200"/>
          <p:cNvSpPr/>
          <p:nvPr/>
        </p:nvSpPr>
        <p:spPr>
          <a:xfrm>
            <a:off x="7461504" y="518464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7607808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lexicons are data</a:t>
            </a:r>
          </a:p>
        </p:txBody>
      </p:sp>
      <p:sp>
        <p:nvSpPr>
          <p:cNvPr id="203" name="Oval 202"/>
          <p:cNvSpPr/>
          <p:nvPr/>
        </p:nvSpPr>
        <p:spPr>
          <a:xfrm>
            <a:off x="10360151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C9C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9491472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C9C1B6"/>
                </a:solidFill>
                <a:latin typeface="Segoe UI Semibold"/>
              </a:rPr>
              <a:t>WORKLET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9491472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ounded Rectangle 205"/>
          <p:cNvSpPr/>
          <p:nvPr/>
        </p:nvSpPr>
        <p:spPr>
          <a:xfrm>
            <a:off x="9674351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C9C1B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9674351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On-device</a:t>
            </a:r>
          </a:p>
        </p:txBody>
      </p:sp>
      <p:sp>
        <p:nvSpPr>
          <p:cNvPr id="209" name="Oval 208"/>
          <p:cNvSpPr/>
          <p:nvPr/>
        </p:nvSpPr>
        <p:spPr>
          <a:xfrm>
            <a:off x="9692640" y="417880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/>
          <p:cNvSpPr txBox="1"/>
          <p:nvPr/>
        </p:nvSpPr>
        <p:spPr>
          <a:xfrm>
            <a:off x="9838944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~30 MB ONNX + ontology + cache</a:t>
            </a:r>
          </a:p>
        </p:txBody>
      </p:sp>
      <p:sp>
        <p:nvSpPr>
          <p:cNvPr id="211" name="Oval 210"/>
          <p:cNvSpPr/>
          <p:nvPr/>
        </p:nvSpPr>
        <p:spPr>
          <a:xfrm>
            <a:off x="9692640" y="468172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838944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voice in, confirmed taps out</a:t>
            </a:r>
          </a:p>
        </p:txBody>
      </p:sp>
      <p:sp>
        <p:nvSpPr>
          <p:cNvPr id="213" name="Oval 212"/>
          <p:cNvSpPr/>
          <p:nvPr/>
        </p:nvSpPr>
        <p:spPr>
          <a:xfrm>
            <a:off x="9692640" y="518464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9838944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offline Galaxy support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566928" y="5943600"/>
            <a:ext cx="11055096" cy="438912"/>
          </a:xfrm>
          <a:prstGeom prst="roundRect">
            <a:avLst>
              <a:gd name="adj" fmla="val 20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841247" y="5943600"/>
            <a:ext cx="105064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2B66D"/>
                </a:solidFill>
                <a:latin typeface="Segoe UI Semibold"/>
              </a:rPr>
              <a:t>Why it can become a worklet:  </a:t>
            </a:r>
            <a:r>
              <a:rPr sz="1050" b="0" i="0">
                <a:solidFill>
                  <a:srgbClr val="EDE5DA"/>
                </a:solidFill>
                <a:latin typeface="Segoe UI"/>
              </a:rPr>
              <a:t>the data audit, relevance gate and compiled ontology transfer to any catalog, and every decision is traceable for review.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E9B8B186-D974-0978-5739-6C872FB487F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25" y="3058485"/>
            <a:ext cx="247253" cy="247253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65BB8241-FDBF-6CC9-00F4-8139810F7C2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95061" y="3058485"/>
            <a:ext cx="247253" cy="247253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DA8C885C-59B1-D70B-E4BE-7A1BB9A6383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6197" y="3058485"/>
            <a:ext cx="247253" cy="247253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37DCA56D-4EFD-3206-59BA-69F3DF5FFAE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57333" y="3058485"/>
            <a:ext cx="247253" cy="247253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4F4FC907-E6F9-6F18-1A4A-B69A4A683F6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88469" y="3058485"/>
            <a:ext cx="247253" cy="2472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Picture 14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0" name="Oval 14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09  |  BROWNIE POINTS (DIFFERENTIATION)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Where TapTrace differs from a typical pipeline -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with the evidence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for each.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row points at code, data or a measurement in the repository.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10 / 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66928" y="2103120"/>
            <a:ext cx="7589520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49808" y="221284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CAPABILITY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926080" y="22128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TYPICAL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09160" y="221284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F2B66D"/>
                </a:solidFill>
                <a:latin typeface="Segoe UI Semibold"/>
              </a:rPr>
              <a:t>TAPTRACE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95160" y="221284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EVIDENCE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4088" y="2542032"/>
            <a:ext cx="7315200" cy="13716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49808" y="261518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Hallucinated steps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82112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possible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965192" y="261518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impossible by construction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95160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taptrace/siis.py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04088" y="312724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49808" y="314553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Wrong-document article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182112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extracts anyway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965192" y="314553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no_match on 4/20, all as gold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995160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eval/gold.json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04088" y="3657600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749808" y="3675887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On / off twin deeplinks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coin flip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65192" y="3675887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picks the variant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995160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resolver.py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4088" y="4187952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749808" y="4206240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Near-miss reset screen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82112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DL-0022 (wrong)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65192" y="4206240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abstains to dummy_positive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995160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M20 in benchmark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04088" y="4718304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749808" y="4736592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Cache false hits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182112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32% (dev)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65192" y="473659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5% (dev)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95160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metrics.md §5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04088" y="5248656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749808" y="526694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validationDeeplink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182112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left null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965192" y="526694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verbatim probe + demo ✓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995160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results.jsonl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04088" y="577900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49808" y="579729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Runs without API key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182112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965192" y="57972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yes - deterministic + cache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995160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TAPTRACE_OFFLINE=1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321040" y="2103120"/>
            <a:ext cx="3300984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503920" y="221284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SEMANTIC CACHE · DEV SET</a:t>
            </a:r>
          </a:p>
        </p:txBody>
      </p:sp>
      <p:graphicFrame>
        <p:nvGraphicFramePr>
          <p:cNvPr id="216" name="Chart 215"/>
          <p:cNvGraphicFramePr>
            <a:graphicFrameLocks noGrp="1"/>
          </p:cNvGraphicFramePr>
          <p:nvPr/>
        </p:nvGraphicFramePr>
        <p:xfrm>
          <a:off x="8412480" y="2468880"/>
          <a:ext cx="31546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7" name="TextBox 216"/>
          <p:cNvSpPr txBox="1"/>
          <p:nvPr/>
        </p:nvSpPr>
        <p:spPr>
          <a:xfrm>
            <a:off x="8503920" y="5577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Frozen test (never tuned on): 80% hits, 77.5% correct, 6.7% false hits.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EAB1DEC9-61A5-3477-0CBF-6A9F101D092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2761488"/>
            <a:ext cx="182880" cy="18288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D440D650-1DDD-3698-9DC9-EA23D69FD15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2761488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A6FEB0E5-17B1-5DDF-2CE0-E3CE36C671E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291840"/>
            <a:ext cx="182880" cy="18288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6682AA99-0A5E-C918-6AC5-7129B21B619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29184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FD0E5D60-0991-FB37-0520-8D5AA4A0DBC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822191"/>
            <a:ext cx="182880" cy="18288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B830816E-F056-EFF3-5953-2CC79AEA55E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822191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AE22BBF6-D79A-95AD-4D39-C1B5D220F04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352544"/>
            <a:ext cx="182880" cy="18288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4B5762B9-2498-25D4-B211-C2E82C4AD1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352544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BDE62337-E7DB-E593-DF68-CA9234B2A62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882896"/>
            <a:ext cx="182880" cy="18288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24BDB4A0-998C-DE16-2E5D-480C20C1D6A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882896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458BBE05-A489-FCB2-918F-39AA584D40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413248"/>
            <a:ext cx="182880" cy="18288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AB2DDA40-710D-6EAA-9588-2E7C7121ED2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413248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CDFA0671-E8E8-5395-0A66-FE96B460304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943600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9A9AC4A7-08DD-AC5C-0D5D-A592B1BFA43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94360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15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10  |  CHECKLIST - UPDATED ON PUBLIC GITHUB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Everything the submission guideline asks for is in the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tagged commit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Release tag PRISM_GENAI_HACKATHON_Y2026 marks the judged commit.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11 / 12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66928" y="210312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694944" y="219456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298448" y="210312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Working prototype code - public or shared GitHub repo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040880" y="210312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github.com/Arnav020/Tap-Trace  ·  live: taptrace.onrender.com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0561320" y="224942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2807208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694944" y="289864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298448" y="2807208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README with reproducible setup: Docker, compose, venv, tests, evaluation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040880" y="2807208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README.md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561320" y="29535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3511296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694944" y="36027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298448" y="3511296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Demo video, max 5 minutes (YouTube or Drive)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040880" y="3511296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YouTube / Drive link in the submission form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561320" y="365760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566928" y="4215383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ounded Rectangle 184"/>
          <p:cNvSpPr/>
          <p:nvPr/>
        </p:nvSpPr>
        <p:spPr>
          <a:xfrm>
            <a:off x="694944" y="4306823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298448" y="4215383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Presentation file named CollegeName_TeamName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0" y="4215383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submission/TIET_TapTrace.pptx + .pdf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561320" y="4361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566928" y="4919472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ounded Rectangle 190"/>
          <p:cNvSpPr/>
          <p:nvPr/>
        </p:nvSpPr>
        <p:spPr>
          <a:xfrm>
            <a:off x="694944" y="50109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298448" y="4919472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Release tag PRISM_GENAI_HACKATHON_Y2026 on the final commit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040880" y="4919472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everything referenced is in the tagged commit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10561320" y="506577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66928" y="562356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ounded Rectangle 196"/>
          <p:cNvSpPr/>
          <p:nvPr/>
        </p:nvSpPr>
        <p:spPr>
          <a:xfrm>
            <a:off x="694944" y="5715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1298448" y="562356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results.jsonl · metrics.md · AI disclosure form · docs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040880" y="562356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repository root · submission/ · docs/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561320" y="576986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9FED3075-52E7-11DE-7CDA-69D7A7AD4D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893" y="2295509"/>
            <a:ext cx="218724" cy="21872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2DF68F99-EE98-C718-447C-CC139AACCB2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893" y="2999597"/>
            <a:ext cx="218724" cy="21872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B09CD20C-D145-386E-29A4-C3A6EF4B6F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893" y="3703685"/>
            <a:ext cx="218724" cy="21872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22BC7D2E-7ABD-8D21-A6B2-219F17467B5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5893" y="4407773"/>
            <a:ext cx="218724" cy="21872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11622203-5B5E-1838-AB44-61FD08E2168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893" y="5111861"/>
            <a:ext cx="218724" cy="218724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9FBCC454-4037-6FB2-DF66-4D4EE5C800A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893" y="5815949"/>
            <a:ext cx="218724" cy="2187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Picture 161" descr="hero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63" name="Oval 162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85800" y="155448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85800" y="251460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6DDD1"/>
                </a:solidFill>
                <a:latin typeface="Segoe UI"/>
              </a:rPr>
              <a:t>Grounded steps. Exact screens. Honest answers when the knowledge does not fit.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858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2B66D"/>
                </a:solidFill>
                <a:latin typeface="Segoe UI Semibold"/>
              </a:rPr>
              <a:t>100%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858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exact deeplinks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2860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2860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paraphrase cache hits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862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8862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URL leaks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864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4/20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4864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wrong articles refused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85800" y="5806440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85800" y="589788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CFC6BA"/>
                </a:solidFill>
                <a:latin typeface="Segoe UI"/>
              </a:rPr>
              <a:t>ARNAV JOSHI  ·  ajoshi4_be23@thapar.edu  ·  THAPAR INSTITUTE OF ENGINEERING &amp; TECHNOLOGY  ·  github.com/Arnav020/Tap-Trace  ·  LIVE taptrace.onrender.com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85800" y="626364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8A8176"/>
                </a:solidFill>
                <a:latin typeface="Segoe UI"/>
              </a:rPr>
              <a:t>Organised by the Language AI Team and the PRISM Team, Samsung R&amp;D Institute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2445</Words>
  <Application>Microsoft Office PowerPoint</Application>
  <PresentationFormat>Widescreen</PresentationFormat>
  <Paragraphs>413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Arnav Joshi</cp:lastModifiedBy>
  <cp:revision>1</cp:revision>
  <dcterms:created xsi:type="dcterms:W3CDTF">2026-09-07T12:01:01Z</dcterms:created>
  <dcterms:modified xsi:type="dcterms:W3CDTF">2026-09-30T17:41:12Z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