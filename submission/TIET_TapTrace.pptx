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6B6259"/>
              </a:solidFill>
            </c:spPr>
            <c:extLst>
              <c:ext xmlns:c16="http://schemas.microsoft.com/office/drawing/2014/chart" uri="{C3380CC4-5D6E-409C-BE32-E72D297353CC}">
                <c16:uniqueId val="{00000001-2B4E-40EE-A626-FF55BF1396FF}"/>
              </c:ext>
            </c:extLst>
          </c:dPt>
          <c:dPt>
            <c:idx val="1"/>
            <c:invertIfNegative val="1"/>
            <c:bubble3D val="0"/>
            <c:spPr>
              <a:solidFill>
                <a:srgbClr val="6B6259"/>
              </a:solidFill>
            </c:spPr>
            <c:extLst>
              <c:ext xmlns:c16="http://schemas.microsoft.com/office/drawing/2014/chart" uri="{C3380CC4-5D6E-409C-BE32-E72D297353CC}">
                <c16:uniqueId val="{00000003-2B4E-40EE-A626-FF55BF1396FF}"/>
              </c:ext>
            </c:extLst>
          </c:dPt>
          <c:dPt>
            <c:idx val="2"/>
            <c:invertIfNegative val="1"/>
            <c:bubble3D val="0"/>
            <c:spPr>
              <a:solidFill>
                <a:srgbClr val="6B6259"/>
              </a:solidFill>
            </c:spPr>
            <c:extLst>
              <c:ext xmlns:c16="http://schemas.microsoft.com/office/drawing/2014/chart" uri="{C3380CC4-5D6E-409C-BE32-E72D297353CC}">
                <c16:uniqueId val="{00000005-2B4E-40EE-A626-FF55BF1396FF}"/>
              </c:ext>
            </c:extLst>
          </c:dPt>
          <c:dPt>
            <c:idx val="3"/>
            <c:invertIfNegative val="1"/>
            <c:bubble3D val="0"/>
            <c:spPr>
              <a:solidFill>
                <a:srgbClr val="F2B66D"/>
              </a:solidFill>
            </c:spPr>
            <c:extLst>
              <c:ext xmlns:c16="http://schemas.microsoft.com/office/drawing/2014/chart" uri="{C3380CC4-5D6E-409C-BE32-E72D297353CC}">
                <c16:uniqueId val="{00000007-2B4E-40EE-A626-FF55BF1396FF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1">
                    <a:solidFill>
                      <a:srgbClr val="F5EFE6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Pure rules</c:v>
                </c:pt>
                <c:pt idx="1">
                  <c:v>Hybrid</c:v>
                </c:pt>
                <c:pt idx="2">
                  <c:v>Full LLM</c:v>
                </c:pt>
                <c:pt idx="3">
                  <c:v>TapTrace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</c:v>
                </c:pt>
                <c:pt idx="1">
                  <c:v>46</c:v>
                </c:pt>
                <c:pt idx="2">
                  <c:v>81</c:v>
                </c:pt>
                <c:pt idx="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B4E-40EE-A626-FF55BF1396F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5A534B"/>
            </a:solidFill>
          </a:ln>
        </c:spPr>
        <c:txPr>
          <a:bodyPr/>
          <a:lstStyle/>
          <a:p>
            <a:pPr>
              <a:defRPr sz="950">
                <a:solidFill>
                  <a:srgbClr val="D9D2C7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5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950">
          <a:solidFill>
            <a:srgbClr val="D9D2C7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6B6259"/>
              </a:solidFill>
            </c:spPr>
            <c:extLst>
              <c:ext xmlns:c16="http://schemas.microsoft.com/office/drawing/2014/chart" uri="{C3380CC4-5D6E-409C-BE32-E72D297353CC}">
                <c16:uniqueId val="{00000001-D58B-4FB7-B73A-0C666BE55702}"/>
              </c:ext>
            </c:extLst>
          </c:dPt>
          <c:dPt>
            <c:idx val="1"/>
            <c:invertIfNegative val="1"/>
            <c:bubble3D val="0"/>
            <c:spPr>
              <a:solidFill>
                <a:srgbClr val="6B6259"/>
              </a:solidFill>
            </c:spPr>
            <c:extLst>
              <c:ext xmlns:c16="http://schemas.microsoft.com/office/drawing/2014/chart" uri="{C3380CC4-5D6E-409C-BE32-E72D297353CC}">
                <c16:uniqueId val="{00000003-D58B-4FB7-B73A-0C666BE55702}"/>
              </c:ext>
            </c:extLst>
          </c:dPt>
          <c:dPt>
            <c:idx val="2"/>
            <c:invertIfNegative val="1"/>
            <c:bubble3D val="0"/>
            <c:spPr>
              <a:solidFill>
                <a:srgbClr val="6B6259"/>
              </a:solidFill>
            </c:spPr>
            <c:extLst>
              <c:ext xmlns:c16="http://schemas.microsoft.com/office/drawing/2014/chart" uri="{C3380CC4-5D6E-409C-BE32-E72D297353CC}">
                <c16:uniqueId val="{00000005-D58B-4FB7-B73A-0C666BE55702}"/>
              </c:ext>
            </c:extLst>
          </c:dPt>
          <c:dPt>
            <c:idx val="3"/>
            <c:invertIfNegative val="1"/>
            <c:bubble3D val="0"/>
            <c:spPr>
              <a:solidFill>
                <a:srgbClr val="F2B66D"/>
              </a:solidFill>
            </c:spPr>
            <c:extLst>
              <c:ext xmlns:c16="http://schemas.microsoft.com/office/drawing/2014/chart" uri="{C3380CC4-5D6E-409C-BE32-E72D297353CC}">
                <c16:uniqueId val="{00000007-D58B-4FB7-B73A-0C666BE55702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1">
                    <a:solidFill>
                      <a:srgbClr val="F5EFE6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Pure rules</c:v>
                </c:pt>
                <c:pt idx="1">
                  <c:v>Hybrid BM25 + dense</c:v>
                </c:pt>
                <c:pt idx="2">
                  <c:v>Full-LLM mapping</c:v>
                </c:pt>
                <c:pt idx="3">
                  <c:v>TapTrace resolver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59.5</c:v>
                </c:pt>
                <c:pt idx="1">
                  <c:v>45.9</c:v>
                </c:pt>
                <c:pt idx="2">
                  <c:v>81.099999999999994</c:v>
                </c:pt>
                <c:pt idx="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D58B-4FB7-B73A-0C666BE557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5A534B"/>
            </a:solidFill>
          </a:ln>
        </c:spPr>
        <c:txPr>
          <a:bodyPr/>
          <a:lstStyle/>
          <a:p>
            <a:pPr>
              <a:defRPr sz="950">
                <a:solidFill>
                  <a:srgbClr val="D9D2C7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5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950">
          <a:solidFill>
            <a:srgbClr val="D9D2C7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Global threshold</c:v>
                </c:pt>
              </c:strCache>
            </c:strRef>
          </c:tx>
          <c:spPr>
            <a:solidFill>
              <a:srgbClr val="6B6259"/>
            </a:solidFill>
          </c:spPr>
          <c:invertIfNegative val="1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>
                    <a:solidFill>
                      <a:srgbClr val="F5EFE6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Correct hits</c:v>
                </c:pt>
                <c:pt idx="1">
                  <c:v>False hits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</c:v>
                </c:pt>
                <c:pt idx="1">
                  <c:v>31.8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BC00-40E4-B368-BED54B2AD55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TapTrace</c:v>
                </c:pt>
              </c:strCache>
            </c:strRef>
          </c:tx>
          <c:spPr>
            <a:solidFill>
              <a:srgbClr val="F2B66D"/>
            </a:solidFill>
          </c:spPr>
          <c:invertIfNegative val="1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>
                    <a:solidFill>
                      <a:srgbClr val="F5EFE6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Correct hits</c:v>
                </c:pt>
                <c:pt idx="1">
                  <c:v>False hits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86.7</c:v>
                </c:pt>
                <c:pt idx="1">
                  <c:v>4.5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BC00-40E4-B368-BED54B2AD55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5A534B"/>
            </a:solidFill>
          </a:ln>
        </c:spPr>
        <c:txPr>
          <a:bodyPr/>
          <a:lstStyle/>
          <a:p>
            <a:pPr>
              <a:defRPr sz="900">
                <a:solidFill>
                  <a:srgbClr val="D9D2C7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D9D2C7"/>
              </a:solidFill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900">
          <a:solidFill>
            <a:srgbClr val="D9D2C7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jp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13" Type="http://schemas.openxmlformats.org/officeDocument/2006/relationships/image" Target="../media/image20.svg"/><Relationship Id="rId3" Type="http://schemas.openxmlformats.org/officeDocument/2006/relationships/image" Target="../media/image6.jpg"/><Relationship Id="rId7" Type="http://schemas.openxmlformats.org/officeDocument/2006/relationships/image" Target="../media/image14.svg"/><Relationship Id="rId12" Type="http://schemas.openxmlformats.org/officeDocument/2006/relationships/image" Target="../media/image19.sv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5" Type="http://schemas.openxmlformats.org/officeDocument/2006/relationships/image" Target="../media/image22.svg"/><Relationship Id="rId10" Type="http://schemas.openxmlformats.org/officeDocument/2006/relationships/image" Target="../media/image17.svg"/><Relationship Id="rId4" Type="http://schemas.openxmlformats.org/officeDocument/2006/relationships/chart" Target="../charts/chart1.xml"/><Relationship Id="rId9" Type="http://schemas.openxmlformats.org/officeDocument/2006/relationships/image" Target="../media/image16.svg"/><Relationship Id="rId14" Type="http://schemas.openxmlformats.org/officeDocument/2006/relationships/image" Target="../media/image21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13" Type="http://schemas.openxmlformats.org/officeDocument/2006/relationships/image" Target="../media/image33.svg"/><Relationship Id="rId18" Type="http://schemas.openxmlformats.org/officeDocument/2006/relationships/image" Target="../media/image38.svg"/><Relationship Id="rId3" Type="http://schemas.openxmlformats.org/officeDocument/2006/relationships/image" Target="../media/image6.jpg"/><Relationship Id="rId21" Type="http://schemas.openxmlformats.org/officeDocument/2006/relationships/image" Target="../media/image40.svg"/><Relationship Id="rId7" Type="http://schemas.openxmlformats.org/officeDocument/2006/relationships/image" Target="../media/image27.svg"/><Relationship Id="rId12" Type="http://schemas.openxmlformats.org/officeDocument/2006/relationships/image" Target="../media/image32.svg"/><Relationship Id="rId17" Type="http://schemas.openxmlformats.org/officeDocument/2006/relationships/image" Target="../media/image37.sv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6.svg"/><Relationship Id="rId20" Type="http://schemas.openxmlformats.org/officeDocument/2006/relationships/image" Target="../media/image10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11" Type="http://schemas.openxmlformats.org/officeDocument/2006/relationships/image" Target="../media/image31.svg"/><Relationship Id="rId5" Type="http://schemas.openxmlformats.org/officeDocument/2006/relationships/image" Target="../media/image25.svg"/><Relationship Id="rId15" Type="http://schemas.openxmlformats.org/officeDocument/2006/relationships/image" Target="../media/image35.svg"/><Relationship Id="rId10" Type="http://schemas.openxmlformats.org/officeDocument/2006/relationships/image" Target="../media/image30.svg"/><Relationship Id="rId19" Type="http://schemas.openxmlformats.org/officeDocument/2006/relationships/image" Target="../media/image39.svg"/><Relationship Id="rId4" Type="http://schemas.openxmlformats.org/officeDocument/2006/relationships/image" Target="../media/image24.svg"/><Relationship Id="rId9" Type="http://schemas.openxmlformats.org/officeDocument/2006/relationships/image" Target="../media/image29.svg"/><Relationship Id="rId14" Type="http://schemas.openxmlformats.org/officeDocument/2006/relationships/image" Target="../media/image3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3" Type="http://schemas.openxmlformats.org/officeDocument/2006/relationships/image" Target="../media/image6.jpg"/><Relationship Id="rId7" Type="http://schemas.openxmlformats.org/officeDocument/2006/relationships/image" Target="../media/image44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svg"/><Relationship Id="rId5" Type="http://schemas.openxmlformats.org/officeDocument/2006/relationships/image" Target="../media/image42.svg"/><Relationship Id="rId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svg"/><Relationship Id="rId13" Type="http://schemas.openxmlformats.org/officeDocument/2006/relationships/image" Target="../media/image55.svg"/><Relationship Id="rId18" Type="http://schemas.openxmlformats.org/officeDocument/2006/relationships/image" Target="../media/image11.svg"/><Relationship Id="rId3" Type="http://schemas.openxmlformats.org/officeDocument/2006/relationships/image" Target="../media/image6.jpg"/><Relationship Id="rId21" Type="http://schemas.openxmlformats.org/officeDocument/2006/relationships/image" Target="../media/image62.svg"/><Relationship Id="rId7" Type="http://schemas.openxmlformats.org/officeDocument/2006/relationships/image" Target="../media/image49.svg"/><Relationship Id="rId12" Type="http://schemas.openxmlformats.org/officeDocument/2006/relationships/image" Target="../media/image54.svg"/><Relationship Id="rId17" Type="http://schemas.openxmlformats.org/officeDocument/2006/relationships/image" Target="../media/image59.sv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58.svg"/><Relationship Id="rId20" Type="http://schemas.openxmlformats.org/officeDocument/2006/relationships/image" Target="../media/image6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svg"/><Relationship Id="rId11" Type="http://schemas.openxmlformats.org/officeDocument/2006/relationships/image" Target="../media/image53.svg"/><Relationship Id="rId5" Type="http://schemas.openxmlformats.org/officeDocument/2006/relationships/image" Target="../media/image47.svg"/><Relationship Id="rId15" Type="http://schemas.openxmlformats.org/officeDocument/2006/relationships/image" Target="../media/image57.svg"/><Relationship Id="rId10" Type="http://schemas.openxmlformats.org/officeDocument/2006/relationships/image" Target="../media/image52.svg"/><Relationship Id="rId19" Type="http://schemas.openxmlformats.org/officeDocument/2006/relationships/image" Target="../media/image60.svg"/><Relationship Id="rId4" Type="http://schemas.openxmlformats.org/officeDocument/2006/relationships/image" Target="../media/image46.svg"/><Relationship Id="rId9" Type="http://schemas.openxmlformats.org/officeDocument/2006/relationships/image" Target="../media/image51.svg"/><Relationship Id="rId14" Type="http://schemas.openxmlformats.org/officeDocument/2006/relationships/image" Target="../media/image5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svg"/><Relationship Id="rId5" Type="http://schemas.openxmlformats.org/officeDocument/2006/relationships/image" Target="../media/image64.svg"/><Relationship Id="rId4" Type="http://schemas.openxmlformats.org/officeDocument/2006/relationships/image" Target="../media/image63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13" Type="http://schemas.openxmlformats.org/officeDocument/2006/relationships/image" Target="../media/image27.svg"/><Relationship Id="rId3" Type="http://schemas.openxmlformats.org/officeDocument/2006/relationships/image" Target="../media/image6.jpg"/><Relationship Id="rId7" Type="http://schemas.openxmlformats.org/officeDocument/2006/relationships/image" Target="../media/image67.svg"/><Relationship Id="rId12" Type="http://schemas.openxmlformats.org/officeDocument/2006/relationships/image" Target="../media/image70.sv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7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11" Type="http://schemas.openxmlformats.org/officeDocument/2006/relationships/image" Target="../media/image29.svg"/><Relationship Id="rId5" Type="http://schemas.openxmlformats.org/officeDocument/2006/relationships/image" Target="../media/image66.svg"/><Relationship Id="rId15" Type="http://schemas.openxmlformats.org/officeDocument/2006/relationships/image" Target="../media/image71.svg"/><Relationship Id="rId10" Type="http://schemas.openxmlformats.org/officeDocument/2006/relationships/image" Target="../media/image69.svg"/><Relationship Id="rId4" Type="http://schemas.openxmlformats.org/officeDocument/2006/relationships/chart" Target="../charts/chart2.xml"/><Relationship Id="rId9" Type="http://schemas.openxmlformats.org/officeDocument/2006/relationships/image" Target="../media/image68.svg"/><Relationship Id="rId14" Type="http://schemas.openxmlformats.org/officeDocument/2006/relationships/image" Target="../media/image10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svg"/><Relationship Id="rId3" Type="http://schemas.openxmlformats.org/officeDocument/2006/relationships/image" Target="../media/image6.jpg"/><Relationship Id="rId7" Type="http://schemas.openxmlformats.org/officeDocument/2006/relationships/image" Target="../media/image7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svg"/><Relationship Id="rId5" Type="http://schemas.openxmlformats.org/officeDocument/2006/relationships/image" Target="../media/image73.svg"/><Relationship Id="rId4" Type="http://schemas.openxmlformats.org/officeDocument/2006/relationships/image" Target="../media/image6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svg"/><Relationship Id="rId5" Type="http://schemas.openxmlformats.org/officeDocument/2006/relationships/image" Target="../media/image13.svg"/><Relationship Id="rId4" Type="http://schemas.openxmlformats.org/officeDocument/2006/relationships/chart" Target="../charts/char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svg"/><Relationship Id="rId3" Type="http://schemas.openxmlformats.org/officeDocument/2006/relationships/image" Target="../media/image6.jpg"/><Relationship Id="rId7" Type="http://schemas.openxmlformats.org/officeDocument/2006/relationships/image" Target="../media/image28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svg"/><Relationship Id="rId5" Type="http://schemas.openxmlformats.org/officeDocument/2006/relationships/image" Target="../media/image79.svg"/><Relationship Id="rId4" Type="http://schemas.openxmlformats.org/officeDocument/2006/relationships/image" Target="../media/image78.svg"/><Relationship Id="rId9" Type="http://schemas.openxmlformats.org/officeDocument/2006/relationships/image" Target="../media/image82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89" descr="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91" name="Oval 90"/>
          <p:cNvSpPr/>
          <p:nvPr/>
        </p:nvSpPr>
        <p:spPr>
          <a:xfrm>
            <a:off x="685800" y="566928"/>
            <a:ext cx="310896" cy="310896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779068" y="660196"/>
            <a:ext cx="124358" cy="124358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1097280" y="530352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Segoe UI Semibold"/>
              </a:rPr>
              <a:t>TapTrace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606040" y="717804"/>
            <a:ext cx="1097280" cy="9144"/>
          </a:xfrm>
          <a:prstGeom prst="rect">
            <a:avLst/>
          </a:prstGeom>
          <a:solidFill>
            <a:srgbClr val="8A7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3840480" y="566928"/>
            <a:ext cx="38404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300">
                <a:solidFill>
                  <a:srgbClr val="CFC6BA"/>
                </a:solidFill>
                <a:latin typeface="Segoe UI"/>
              </a:rPr>
              <a:t>SAMSUNG PRISM  ·  GENAI HACKATHON 3.0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" y="1417320"/>
            <a:ext cx="64008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0" i="0">
                <a:solidFill>
                  <a:srgbClr val="FFFFFF"/>
                </a:solidFill>
                <a:latin typeface="Segoe UI Semibold"/>
              </a:rPr>
              <a:t>From a vague complaint</a:t>
            </a:r>
          </a:p>
          <a:p>
            <a:pPr algn="l">
              <a:lnSpc>
                <a:spcPct val="95000"/>
              </a:lnSpc>
            </a:pPr>
            <a:r>
              <a:rPr sz="4400" b="0" i="0">
                <a:solidFill>
                  <a:srgbClr val="FFFFFF"/>
                </a:solidFill>
                <a:latin typeface="Segoe UI Semibold"/>
              </a:rPr>
              <a:t>to a </a:t>
            </a:r>
            <a:r>
              <a:rPr sz="4400" b="0" i="0">
                <a:solidFill>
                  <a:srgbClr val="F2B66D"/>
                </a:solidFill>
                <a:latin typeface="Segoe UI Semibold"/>
              </a:rPr>
              <a:t>verified fix</a:t>
            </a:r>
            <a:r>
              <a:rPr sz="4400" b="0" i="0">
                <a:solidFill>
                  <a:srgbClr val="FFFFFF"/>
                </a:solidFill>
                <a:latin typeface="Segoe UI Semibold"/>
              </a:rPr>
              <a:t>,</a:t>
            </a:r>
          </a:p>
          <a:p>
            <a:pPr algn="l">
              <a:lnSpc>
                <a:spcPct val="95000"/>
              </a:lnSpc>
            </a:pPr>
            <a:r>
              <a:rPr sz="4400" b="0" i="0">
                <a:solidFill>
                  <a:srgbClr val="FFFFFF"/>
                </a:solidFill>
                <a:latin typeface="Segoe UI Semibold"/>
              </a:rPr>
              <a:t>in one tap.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5800" y="3840480"/>
            <a:ext cx="5669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E6DDD1"/>
                </a:solidFill>
                <a:latin typeface="Segoe UI"/>
              </a:rPr>
              <a:t>A grounded troubleshooting engine for Samsung PRISM Theme 02: every step traced to its source, every Settings fix one exact deeplink away, every repeat answered from cache in milliseconds.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85800" y="5321808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Evidence-locked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steps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167128" y="5321808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Exact-screen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deeplinks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039112" y="4919472"/>
            <a:ext cx="9144" cy="777240"/>
          </a:xfrm>
          <a:prstGeom prst="rect">
            <a:avLst/>
          </a:prstGeom>
          <a:solidFill>
            <a:srgbClr val="5A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3648456" y="5321808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Relevance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gate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520440" y="4919472"/>
            <a:ext cx="9144" cy="777240"/>
          </a:xfrm>
          <a:prstGeom prst="rect">
            <a:avLst/>
          </a:prstGeom>
          <a:solidFill>
            <a:srgbClr val="5A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5129784" y="5321808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Contrastive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cache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001768" y="4919472"/>
            <a:ext cx="9144" cy="777240"/>
          </a:xfrm>
          <a:prstGeom prst="rect">
            <a:avLst/>
          </a:prstGeom>
          <a:solidFill>
            <a:srgbClr val="5A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685800" y="6144768"/>
            <a:ext cx="10835640" cy="9144"/>
          </a:xfrm>
          <a:prstGeom prst="rect">
            <a:avLst/>
          </a:prstGeom>
          <a:solidFill>
            <a:srgbClr val="5A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685800" y="6217920"/>
            <a:ext cx="10835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 spc="120">
                <a:solidFill>
                  <a:srgbClr val="CFC6BA"/>
                </a:solidFill>
                <a:latin typeface="Segoe UI"/>
              </a:rPr>
              <a:t>THEME ID 02   |   TEAM TAPTRACE   |   THAPAR INSTITUTE OF ENGINEERING &amp; TECHNOLOGY   |   ARNAV JOSHI · ajoshi4_be23@thapar.edu</a:t>
            </a:r>
          </a:p>
          <a:p>
            <a:pPr algn="l"/>
            <a:r>
              <a:rPr sz="850" b="0" i="0" spc="120">
                <a:solidFill>
                  <a:srgbClr val="F2B66D"/>
                </a:solidFill>
                <a:latin typeface="Segoe UI"/>
              </a:rPr>
              <a:t>CODE  github.com/Arnav020/Tap-Trace   |   LIVE DEMO  taptrace.onrender.com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0B583B85-FD95-F7F8-23CD-3DBFE4FFD97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800" y="4892040"/>
            <a:ext cx="329184" cy="329184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ACC8B534-578D-981F-2D0F-ADA4E7A37ED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67128" y="4892040"/>
            <a:ext cx="329184" cy="329184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D78F132A-64FB-ECFE-90B8-72358678ACA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48456" y="4892040"/>
            <a:ext cx="329184" cy="329184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5A850024-1775-6627-56F3-20CD02EF637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29784" y="489204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00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Oval 101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01  |  THEME · THE PROBLEM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One vague sentence costs an agent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~15 minutes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 - and the customer still hunts through Settings.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Theme 02 asks for a REST engine that turns such complaints into a grounded, ordered, one-tap plan under hard latency, cost and hygiene rules.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02 / 12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66928" y="2103120"/>
            <a:ext cx="3611880" cy="3017520"/>
          </a:xfrm>
          <a:prstGeom prst="roundRect">
            <a:avLst>
              <a:gd name="adj" fmla="val 6000"/>
            </a:avLst>
          </a:prstGeom>
          <a:solidFill>
            <a:srgbClr val="000000">
              <a:alpha val="26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795528" y="226771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THE INPUT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95528" y="2560320"/>
            <a:ext cx="32004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1">
                <a:solidFill>
                  <a:srgbClr val="F5EFE6"/>
                </a:solidFill>
                <a:latin typeface="Segoe UI"/>
              </a:rPr>
              <a:t>“My Nexa X1 screen inputs are delayed and the touch responsiveness is laggy, causing a noticeable delay when I try to interact with the phone.”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95528" y="393192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A89F93"/>
                </a:solidFill>
                <a:latin typeface="Segoe UI"/>
              </a:rPr>
              <a:t>input.txt, line 19  +  SIIS ‘Touchscreen issues’ (9 sections)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795528" y="438912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 i="0">
                <a:solidFill>
                  <a:srgbClr val="D9D2C7"/>
                </a:solidFill>
                <a:latin typeface="Segoe UI"/>
              </a:rPr>
              <a:t>no setting names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74519" y="438912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 i="0">
                <a:solidFill>
                  <a:srgbClr val="D9D2C7"/>
                </a:solidFill>
                <a:latin typeface="Segoe UI"/>
              </a:rPr>
              <a:t>no technical terms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953512" y="438912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 i="0">
                <a:solidFill>
                  <a:srgbClr val="D9D2C7"/>
                </a:solidFill>
                <a:latin typeface="Segoe UI"/>
              </a:rPr>
              <a:t>no order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4315968" y="3611880"/>
            <a:ext cx="512064" cy="0"/>
          </a:xfrm>
          <a:prstGeom prst="line">
            <a:avLst/>
          </a:prstGeom>
          <a:ln w="25400">
            <a:solidFill>
              <a:srgbClr val="F2B6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/>
          <p:cNvSpPr txBox="1"/>
          <p:nvPr/>
        </p:nvSpPr>
        <p:spPr>
          <a:xfrm>
            <a:off x="4206240" y="32004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F2B66D"/>
                </a:solidFill>
                <a:latin typeface="Segoe UI Semibold"/>
              </a:rPr>
              <a:t>1.3 s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919472" y="2103120"/>
            <a:ext cx="6702552" cy="30175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5138928" y="226771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F2B66D"/>
                </a:solidFill>
                <a:latin typeface="Segoe UI Semibold"/>
              </a:rPr>
              <a:t>THE REQUIRED OUTPUT (SCHEMA.PY CONTRACT)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138928" y="260604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goal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711696" y="2606040"/>
            <a:ext cx="4800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"/>
              </a:rPr>
              <a:t>Follow these steps to perform this Touch Lag Troubleshooting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138928" y="2907792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title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11696" y="2907792"/>
            <a:ext cx="4800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"/>
              </a:rPr>
              <a:t>Touch lag recovery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266944" y="3328416"/>
            <a:ext cx="109728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5449824" y="3209544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actionName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022592" y="3209544"/>
            <a:ext cx="448970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"/>
              </a:rPr>
              <a:t>Configure Navigation Bar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266944" y="3630168"/>
            <a:ext cx="109728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5449824" y="3511296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description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022592" y="3511296"/>
            <a:ext cx="448970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"/>
              </a:rPr>
              <a:t>It will stop gestures blocking your taps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266944" y="3931920"/>
            <a:ext cx="109728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5449824" y="3813048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category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022592" y="3813048"/>
            <a:ext cx="448970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2B66D"/>
                </a:solidFill>
                <a:latin typeface="Segoe UI"/>
              </a:rPr>
              <a:t>auto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577840" y="4233672"/>
            <a:ext cx="109728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5760720" y="411480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steps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33488" y="4114800"/>
            <a:ext cx="417880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Tap Display → Tap Navigation bar → Select Buttons to turn off full scree…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577840" y="4535424"/>
            <a:ext cx="109728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5760720" y="4416552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actionableDeeplink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333488" y="4416552"/>
            <a:ext cx="417880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2B66D"/>
                </a:solidFill>
                <a:latin typeface="Consolas"/>
              </a:rPr>
              <a:t>voiceassist://masked/act/2f3dd95259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577840" y="4837176"/>
            <a:ext cx="109728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5760720" y="4718304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validationDeeplink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333488" y="4718304"/>
            <a:ext cx="417880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2B66D"/>
                </a:solidFill>
                <a:latin typeface="Segoe UI"/>
              </a:rPr>
              <a:t>key = ‘Navigation bar’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66928" y="5330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HARD CONSTRAINTS WE ENFORCE IN CODE (THEME 2 PDF §4 AND §6)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66928" y="5596128"/>
            <a:ext cx="2130552" cy="7315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ounded Rectangle 146"/>
          <p:cNvSpPr/>
          <p:nvPr/>
        </p:nvSpPr>
        <p:spPr>
          <a:xfrm>
            <a:off x="694944" y="57332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1261872" y="5687568"/>
            <a:ext cx="138988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5EFE6"/>
                </a:solidFill>
                <a:latin typeface="Segoe UI Semibold"/>
              </a:rPr>
              <a:t>0 URL leaks</a:t>
            </a:r>
          </a:p>
          <a:p>
            <a:pPr algn="l"/>
            <a:r>
              <a:rPr sz="850" b="0" i="0">
                <a:solidFill>
                  <a:srgbClr val="A89F93"/>
                </a:solidFill>
                <a:latin typeface="Segoe UI"/>
              </a:rPr>
              <a:t>regex gate on every field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2788920" y="5596128"/>
            <a:ext cx="2130552" cy="7315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Rounded Rectangle 150"/>
          <p:cNvSpPr/>
          <p:nvPr/>
        </p:nvSpPr>
        <p:spPr>
          <a:xfrm>
            <a:off x="2916936" y="57332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3483864" y="5687568"/>
            <a:ext cx="138988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5EFE6"/>
                </a:solidFill>
                <a:latin typeface="Segoe UI Semibold"/>
              </a:rPr>
              <a:t>5–7-word descriptions</a:t>
            </a:r>
          </a:p>
          <a:p>
            <a:pPr algn="l"/>
            <a:r>
              <a:rPr sz="850" b="0" i="0">
                <a:solidFill>
                  <a:srgbClr val="A89F93"/>
                </a:solidFill>
                <a:latin typeface="Segoe UI"/>
              </a:rPr>
              <a:t>validators + repair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010912" y="5596128"/>
            <a:ext cx="2130552" cy="7315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4"/>
          <p:cNvSpPr/>
          <p:nvPr/>
        </p:nvSpPr>
        <p:spPr>
          <a:xfrm>
            <a:off x="5138928" y="57332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5705856" y="5687568"/>
            <a:ext cx="138988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5EFE6"/>
                </a:solidFill>
                <a:latin typeface="Segoe UI Semibold"/>
              </a:rPr>
              <a:t>Critical steps last</a:t>
            </a:r>
          </a:p>
          <a:p>
            <a:pPr algn="l"/>
            <a:r>
              <a:rPr sz="850" b="0" i="0">
                <a:solidFill>
                  <a:srgbClr val="A89F93"/>
                </a:solidFill>
                <a:latin typeface="Segoe UI"/>
              </a:rPr>
              <a:t>disruption-cost ordering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7232904" y="5596128"/>
            <a:ext cx="2130552" cy="7315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Rounded Rectangle 158"/>
          <p:cNvSpPr/>
          <p:nvPr/>
        </p:nvSpPr>
        <p:spPr>
          <a:xfrm>
            <a:off x="7360920" y="57332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7927848" y="5687568"/>
            <a:ext cx="138988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5EFE6"/>
                </a:solidFill>
                <a:latin typeface="Segoe UI Semibold"/>
              </a:rPr>
              <a:t>≤ 300 ms cached</a:t>
            </a:r>
          </a:p>
          <a:p>
            <a:pPr algn="l"/>
            <a:r>
              <a:rPr sz="850" b="0" i="0">
                <a:solidFill>
                  <a:srgbClr val="A89F93"/>
                </a:solidFill>
                <a:latin typeface="Segoe UI"/>
              </a:rPr>
              <a:t>P95, no LLM call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9454896" y="5596128"/>
            <a:ext cx="2130552" cy="7315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ounded Rectangle 162"/>
          <p:cNvSpPr/>
          <p:nvPr/>
        </p:nvSpPr>
        <p:spPr>
          <a:xfrm>
            <a:off x="9582912" y="57332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10149840" y="5687568"/>
            <a:ext cx="138988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5EFE6"/>
                </a:solidFill>
                <a:latin typeface="Segoe UI Semibold"/>
              </a:rPr>
              <a:t>≤ 8 s cold</a:t>
            </a:r>
          </a:p>
          <a:p>
            <a:pPr algn="l"/>
            <a:r>
              <a:rPr sz="850" b="0" i="0">
                <a:solidFill>
                  <a:srgbClr val="A89F93"/>
                </a:solidFill>
                <a:latin typeface="Segoe UI"/>
              </a:rPr>
              <a:t>P95, two parallel LLM calls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C5B66C33-6D62-EF9C-D830-CC8D9AB9B11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" y="5843016"/>
            <a:ext cx="237744" cy="237744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85B3B52B-B93A-02F4-5CDF-75A95661D45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26664" y="5843016"/>
            <a:ext cx="237744" cy="237744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4B95E9FC-3EAF-DD18-7E0F-B9EF331F3FB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48656" y="5843016"/>
            <a:ext cx="237744" cy="237744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12A2038B-530A-4467-1E68-8F5C8A8BA8F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70648" y="5843016"/>
            <a:ext cx="237744" cy="237744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65DFEF2B-9800-6933-5EF9-7C6D375D539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92640" y="5843016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Picture 106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8" name="Oval 107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02  |  EXISTING SOLUTIONS &amp; GAPS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The provided data is adversarial - a textbook RAG pipeline walks into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six traps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We audited all 578 catalog rows and 20 SIIS articles before writing code (docs/DATA_AUDIT.md).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03 / 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66928" y="2103120"/>
            <a:ext cx="2788920" cy="4251960"/>
          </a:xfrm>
          <a:prstGeom prst="roundRect">
            <a:avLst>
              <a:gd name="adj" fmla="val 6000"/>
            </a:avLst>
          </a:prstGeom>
          <a:solidFill>
            <a:srgbClr val="000000">
              <a:alpha val="26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768096" y="2249424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TEXTBOOK PIPELINE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768096" y="2578608"/>
            <a:ext cx="2377440" cy="402336"/>
          </a:xfrm>
          <a:prstGeom prst="roundRect">
            <a:avLst>
              <a:gd name="adj" fmla="val 20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1207007" y="2578608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"/>
              </a:rPr>
              <a:t>LLM writes the steps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768096" y="3081528"/>
            <a:ext cx="2377440" cy="402336"/>
          </a:xfrm>
          <a:prstGeom prst="roundRect">
            <a:avLst>
              <a:gd name="adj" fmla="val 20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1207007" y="3081528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"/>
              </a:rPr>
              <a:t>Top-1 embedding match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768096" y="3584448"/>
            <a:ext cx="2377440" cy="402336"/>
          </a:xfrm>
          <a:prstGeom prst="roundRect">
            <a:avLst>
              <a:gd name="adj" fmla="val 20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1207007" y="3584448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"/>
              </a:rPr>
              <a:t>One global cache threshold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68096" y="4087368"/>
            <a:ext cx="2377440" cy="402336"/>
          </a:xfrm>
          <a:prstGeom prst="roundRect">
            <a:avLst>
              <a:gd name="adj" fmla="val 20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1207007" y="4087368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"/>
              </a:rPr>
              <a:t>Trust any SIIS article</a:t>
            </a:r>
          </a:p>
        </p:txBody>
      </p:sp>
      <p:graphicFrame>
        <p:nvGraphicFramePr>
          <p:cNvPr id="136" name="Chart 135"/>
          <p:cNvGraphicFramePr>
            <a:graphicFrameLocks noGrp="1"/>
          </p:cNvGraphicFramePr>
          <p:nvPr/>
        </p:nvGraphicFramePr>
        <p:xfrm>
          <a:off x="612648" y="4846320"/>
          <a:ext cx="2697480" cy="1463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7" name="TextBox 136"/>
          <p:cNvSpPr txBox="1"/>
          <p:nvPr/>
        </p:nvSpPr>
        <p:spPr>
          <a:xfrm>
            <a:off x="768096" y="4681728"/>
            <a:ext cx="2560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D9D2C7"/>
                </a:solidFill>
                <a:latin typeface="Segoe UI Semibold"/>
              </a:rPr>
              <a:t>Exact deeplinks, 37-case benchmark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3538728" y="2103120"/>
            <a:ext cx="2596896" cy="202996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3703320" y="2267712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4233672" y="2231136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F5EFE6"/>
                </a:solidFill>
                <a:latin typeface="Segoe UI Semibold"/>
              </a:rP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703320" y="2798063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5EFE6"/>
                </a:solidFill>
                <a:latin typeface="Segoe UI Semibold"/>
              </a:rPr>
              <a:t>TV &amp; appliance screens hidden in the phone catalog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703320" y="3291839"/>
            <a:ext cx="2286000" cy="310896"/>
          </a:xfrm>
          <a:prstGeom prst="roundRect">
            <a:avLst>
              <a:gd name="adj" fmla="val 25000"/>
            </a:avLst>
          </a:prstGeom>
          <a:solidFill>
            <a:srgbClr val="00000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750" b="0" i="0">
                <a:solidFill>
                  <a:srgbClr val="D9D2C7"/>
                </a:solidFill>
                <a:latin typeface="Consolas"/>
              </a:rPr>
              <a:t>DL-0468 … DL-0569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950208" y="3694176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Catalog Compiler quarantines them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45352" y="2103120"/>
            <a:ext cx="2596896" cy="202996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ounded Rectangle 146"/>
          <p:cNvSpPr/>
          <p:nvPr/>
        </p:nvSpPr>
        <p:spPr>
          <a:xfrm>
            <a:off x="6409944" y="2267712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6940296" y="2231136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F5EFE6"/>
                </a:solidFill>
                <a:latin typeface="Segoe UI Semibold"/>
              </a:rPr>
              <a:t>14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409944" y="2798063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5EFE6"/>
                </a:solidFill>
                <a:latin typeface="Segoe UI Semibold"/>
              </a:rPr>
              <a:t>labels that name the wrong feature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409944" y="3291839"/>
            <a:ext cx="2286000" cy="310896"/>
          </a:xfrm>
          <a:prstGeom prst="roundRect">
            <a:avLst>
              <a:gd name="adj" fmla="val 25000"/>
            </a:avLst>
          </a:prstGeom>
          <a:solidFill>
            <a:srgbClr val="00000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750" b="0" i="0">
                <a:solidFill>
                  <a:srgbClr val="D9D2C7"/>
                </a:solidFill>
                <a:latin typeface="Consolas"/>
              </a:rPr>
              <a:t>DL-0162 “Disable Grayscale” = mono audio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656832" y="3694176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Match on screen labels, never messages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8951976" y="2103120"/>
            <a:ext cx="2596896" cy="202996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4"/>
          <p:cNvSpPr/>
          <p:nvPr/>
        </p:nvSpPr>
        <p:spPr>
          <a:xfrm>
            <a:off x="9116567" y="2267712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9646919" y="2231136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F5EFE6"/>
                </a:solidFill>
                <a:latin typeface="Segoe UI Semibold"/>
              </a:rPr>
              <a:t>0.94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116567" y="2798063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5EFE6"/>
                </a:solidFill>
                <a:latin typeface="Segoe UI Semibold"/>
              </a:rPr>
              <a:t>cosine of “won’t turn ON” vs “won’t turn OFF”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9116567" y="3291839"/>
            <a:ext cx="2286000" cy="310896"/>
          </a:xfrm>
          <a:prstGeom prst="roundRect">
            <a:avLst>
              <a:gd name="adj" fmla="val 25000"/>
            </a:avLst>
          </a:prstGeom>
          <a:solidFill>
            <a:srgbClr val="00000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750" b="0" i="0">
                <a:solidFill>
                  <a:srgbClr val="D9D2C7"/>
                </a:solidFill>
                <a:latin typeface="Consolas"/>
              </a:rPr>
              <a:t>embeddings are polarity-blind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363455" y="3694176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Facet guard + per-entry τ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3538728" y="4261104"/>
            <a:ext cx="2596896" cy="202996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ounded Rectangle 162"/>
          <p:cNvSpPr/>
          <p:nvPr/>
        </p:nvSpPr>
        <p:spPr>
          <a:xfrm>
            <a:off x="3703320" y="442569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233672" y="4389120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F5EFE6"/>
                </a:solidFill>
                <a:latin typeface="Segoe UI Semibold"/>
              </a:rPr>
              <a:t>4/20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703320" y="495604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5EFE6"/>
                </a:solidFill>
                <a:latin typeface="Segoe UI Semibold"/>
              </a:rPr>
              <a:t>SIIS articles are the wrong document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3703320" y="5449824"/>
            <a:ext cx="2286000" cy="310896"/>
          </a:xfrm>
          <a:prstGeom prst="roundRect">
            <a:avLst>
              <a:gd name="adj" fmla="val 25000"/>
            </a:avLst>
          </a:prstGeom>
          <a:solidFill>
            <a:srgbClr val="00000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750" b="0" i="0">
                <a:solidFill>
                  <a:srgbClr val="D9D2C7"/>
                </a:solidFill>
                <a:latin typeface="Consolas"/>
              </a:rPr>
              <a:t>row_8: TV mirroring for a small phone screen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950208" y="5852160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Relevance Gate → honest no_match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245352" y="4261104"/>
            <a:ext cx="2596896" cy="202996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Rounded Rectangle 170"/>
          <p:cNvSpPr/>
          <p:nvPr/>
        </p:nvSpPr>
        <p:spPr>
          <a:xfrm>
            <a:off x="6409944" y="442569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6940296" y="4389120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F5EFE6"/>
                </a:solidFill>
                <a:latin typeface="Segoe UI Semibold"/>
              </a:rPr>
              <a:t>DL-0022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6409944" y="495604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5EFE6"/>
                </a:solidFill>
                <a:latin typeface="Segoe UI Semibold"/>
              </a:rPr>
              <a:t>nearest entry to “factory data reset”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409944" y="5449824"/>
            <a:ext cx="2286000" cy="310896"/>
          </a:xfrm>
          <a:prstGeom prst="roundRect">
            <a:avLst>
              <a:gd name="adj" fmla="val 25000"/>
            </a:avLst>
          </a:prstGeom>
          <a:solidFill>
            <a:srgbClr val="00000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750" b="0" i="0">
                <a:solidFill>
                  <a:srgbClr val="D9D2C7"/>
                </a:solidFill>
                <a:latin typeface="Consolas"/>
              </a:rPr>
              <a:t>it is the AUTO reset after failed unlocks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656832" y="5852160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Abstain → dummy_positive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8951976" y="4261104"/>
            <a:ext cx="2596896" cy="202996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ounded Rectangle 178"/>
          <p:cNvSpPr/>
          <p:nvPr/>
        </p:nvSpPr>
        <p:spPr>
          <a:xfrm>
            <a:off x="9116567" y="442569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9646919" y="4389120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F5EFE6"/>
                </a:solidFill>
                <a:latin typeface="Segoe UI Semibold"/>
              </a:rPr>
              <a:t>12 words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116567" y="495604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5EFE6"/>
                </a:solidFill>
                <a:latin typeface="Segoe UI Semibold"/>
              </a:rPr>
              <a:t>in the official sample description (5–7 allowed)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9116567" y="5449824"/>
            <a:ext cx="2286000" cy="310896"/>
          </a:xfrm>
          <a:prstGeom prst="roundRect">
            <a:avLst>
              <a:gd name="adj" fmla="val 25000"/>
            </a:avLst>
          </a:prstGeom>
          <a:solidFill>
            <a:srgbClr val="00000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750" b="0" i="0">
                <a:solidFill>
                  <a:srgbClr val="D9D2C7"/>
                </a:solidFill>
                <a:latin typeface="Consolas"/>
              </a:rPr>
              <a:t>sample_output.json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363455" y="5852160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Every field rule enforced in code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17B2B313-F2FD-AE1C-E451-C85D65BA118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6112" y="2679191"/>
            <a:ext cx="219456" cy="219456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F31B72BB-C61A-F840-AE4F-1A960F405B2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98648" y="2697479"/>
            <a:ext cx="182880" cy="182880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CEDC2F07-CF34-DFA5-BFAD-AF33EC800B3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6112" y="3182112"/>
            <a:ext cx="219456" cy="219456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77080900-6D66-EB06-F87E-166C7823902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98648" y="3200400"/>
            <a:ext cx="182880" cy="182880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386948EC-828B-D5EB-FE38-83601FA602A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6112" y="3685032"/>
            <a:ext cx="219456" cy="219456"/>
          </a:xfrm>
          <a:prstGeom prst="rect">
            <a:avLst/>
          </a:prstGeom>
        </p:spPr>
      </p:pic>
      <p:pic>
        <p:nvPicPr>
          <p:cNvPr id="13" name="icon">
            <a:extLst>
              <a:ext uri="{FF2B5EF4-FFF2-40B4-BE49-F238E27FC236}">
                <a16:creationId xmlns:a16="http://schemas.microsoft.com/office/drawing/2014/main" id="{C142DD4D-1C57-B871-6C1E-DBED6C1193F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98648" y="3703320"/>
            <a:ext cx="182880" cy="182880"/>
          </a:xfrm>
          <a:prstGeom prst="rect">
            <a:avLst/>
          </a:prstGeom>
        </p:spPr>
      </p:pic>
      <p:pic>
        <p:nvPicPr>
          <p:cNvPr id="15" name="icon">
            <a:extLst>
              <a:ext uri="{FF2B5EF4-FFF2-40B4-BE49-F238E27FC236}">
                <a16:creationId xmlns:a16="http://schemas.microsoft.com/office/drawing/2014/main" id="{59036254-3EF0-BA8B-CDCE-B4291EE4180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6112" y="4187952"/>
            <a:ext cx="219456" cy="219456"/>
          </a:xfrm>
          <a:prstGeom prst="rect">
            <a:avLst/>
          </a:prstGeom>
        </p:spPr>
      </p:pic>
      <p:pic>
        <p:nvPicPr>
          <p:cNvPr id="17" name="icon">
            <a:extLst>
              <a:ext uri="{FF2B5EF4-FFF2-40B4-BE49-F238E27FC236}">
                <a16:creationId xmlns:a16="http://schemas.microsoft.com/office/drawing/2014/main" id="{2AC3E651-92AF-1835-B55A-63D36A89CC1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98648" y="4206240"/>
            <a:ext cx="182880" cy="182880"/>
          </a:xfrm>
          <a:prstGeom prst="rect">
            <a:avLst/>
          </a:prstGeom>
        </p:spPr>
      </p:pic>
      <p:pic>
        <p:nvPicPr>
          <p:cNvPr id="19" name="icon">
            <a:extLst>
              <a:ext uri="{FF2B5EF4-FFF2-40B4-BE49-F238E27FC236}">
                <a16:creationId xmlns:a16="http://schemas.microsoft.com/office/drawing/2014/main" id="{6BB3065A-D6E0-04BE-A7B5-437218289D3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804269" y="2368661"/>
            <a:ext cx="218724" cy="218724"/>
          </a:xfrm>
          <a:prstGeom prst="rect">
            <a:avLst/>
          </a:prstGeom>
        </p:spPr>
      </p:pic>
      <p:pic>
        <p:nvPicPr>
          <p:cNvPr id="21" name="icon">
            <a:extLst>
              <a:ext uri="{FF2B5EF4-FFF2-40B4-BE49-F238E27FC236}">
                <a16:creationId xmlns:a16="http://schemas.microsoft.com/office/drawing/2014/main" id="{44F07D6A-FCBC-0077-4169-82C9F05B2C6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03320" y="3749039"/>
            <a:ext cx="182880" cy="182880"/>
          </a:xfrm>
          <a:prstGeom prst="rect">
            <a:avLst/>
          </a:prstGeom>
        </p:spPr>
      </p:pic>
      <p:pic>
        <p:nvPicPr>
          <p:cNvPr id="23" name="icon">
            <a:extLst>
              <a:ext uri="{FF2B5EF4-FFF2-40B4-BE49-F238E27FC236}">
                <a16:creationId xmlns:a16="http://schemas.microsoft.com/office/drawing/2014/main" id="{EB052D95-29B8-9726-E05E-F09AB2B01F8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10893" y="2368661"/>
            <a:ext cx="218724" cy="218724"/>
          </a:xfrm>
          <a:prstGeom prst="rect">
            <a:avLst/>
          </a:prstGeom>
        </p:spPr>
      </p:pic>
      <p:pic>
        <p:nvPicPr>
          <p:cNvPr id="25" name="icon">
            <a:extLst>
              <a:ext uri="{FF2B5EF4-FFF2-40B4-BE49-F238E27FC236}">
                <a16:creationId xmlns:a16="http://schemas.microsoft.com/office/drawing/2014/main" id="{52946799-B482-4831-6107-3574B3BAC21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09944" y="3749039"/>
            <a:ext cx="182880" cy="182880"/>
          </a:xfrm>
          <a:prstGeom prst="rect">
            <a:avLst/>
          </a:prstGeom>
        </p:spPr>
      </p:pic>
      <p:pic>
        <p:nvPicPr>
          <p:cNvPr id="27" name="icon">
            <a:extLst>
              <a:ext uri="{FF2B5EF4-FFF2-40B4-BE49-F238E27FC236}">
                <a16:creationId xmlns:a16="http://schemas.microsoft.com/office/drawing/2014/main" id="{2E52B3CB-13B4-56A1-FB3C-769AC8BC616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217517" y="2368661"/>
            <a:ext cx="218724" cy="218724"/>
          </a:xfrm>
          <a:prstGeom prst="rect">
            <a:avLst/>
          </a:prstGeom>
        </p:spPr>
      </p:pic>
      <p:pic>
        <p:nvPicPr>
          <p:cNvPr id="29" name="icon">
            <a:extLst>
              <a:ext uri="{FF2B5EF4-FFF2-40B4-BE49-F238E27FC236}">
                <a16:creationId xmlns:a16="http://schemas.microsoft.com/office/drawing/2014/main" id="{85537767-F168-57DB-EEC0-83C8E594F4C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116567" y="3749039"/>
            <a:ext cx="182880" cy="182880"/>
          </a:xfrm>
          <a:prstGeom prst="rect">
            <a:avLst/>
          </a:prstGeom>
        </p:spPr>
      </p:pic>
      <p:pic>
        <p:nvPicPr>
          <p:cNvPr id="31" name="icon">
            <a:extLst>
              <a:ext uri="{FF2B5EF4-FFF2-40B4-BE49-F238E27FC236}">
                <a16:creationId xmlns:a16="http://schemas.microsoft.com/office/drawing/2014/main" id="{8BFDEA4A-AF24-4800-53F5-0323CEAB9D7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804269" y="4526645"/>
            <a:ext cx="218724" cy="218724"/>
          </a:xfrm>
          <a:prstGeom prst="rect">
            <a:avLst/>
          </a:prstGeom>
        </p:spPr>
      </p:pic>
      <p:pic>
        <p:nvPicPr>
          <p:cNvPr id="33" name="icon">
            <a:extLst>
              <a:ext uri="{FF2B5EF4-FFF2-40B4-BE49-F238E27FC236}">
                <a16:creationId xmlns:a16="http://schemas.microsoft.com/office/drawing/2014/main" id="{281AB899-47BF-F230-3C82-1FDCCC0D707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03320" y="5907024"/>
            <a:ext cx="182880" cy="182880"/>
          </a:xfrm>
          <a:prstGeom prst="rect">
            <a:avLst/>
          </a:prstGeom>
        </p:spPr>
      </p:pic>
      <p:pic>
        <p:nvPicPr>
          <p:cNvPr id="35" name="icon">
            <a:extLst>
              <a:ext uri="{FF2B5EF4-FFF2-40B4-BE49-F238E27FC236}">
                <a16:creationId xmlns:a16="http://schemas.microsoft.com/office/drawing/2014/main" id="{DC314057-733E-9CC3-F460-42848D46F0F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510893" y="4526645"/>
            <a:ext cx="218724" cy="218724"/>
          </a:xfrm>
          <a:prstGeom prst="rect">
            <a:avLst/>
          </a:prstGeom>
        </p:spPr>
      </p:pic>
      <p:pic>
        <p:nvPicPr>
          <p:cNvPr id="37" name="icon">
            <a:extLst>
              <a:ext uri="{FF2B5EF4-FFF2-40B4-BE49-F238E27FC236}">
                <a16:creationId xmlns:a16="http://schemas.microsoft.com/office/drawing/2014/main" id="{69A46BE4-D06F-0910-1355-CE3505B1DBA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09944" y="5907024"/>
            <a:ext cx="182880" cy="182880"/>
          </a:xfrm>
          <a:prstGeom prst="rect">
            <a:avLst/>
          </a:prstGeom>
        </p:spPr>
      </p:pic>
      <p:pic>
        <p:nvPicPr>
          <p:cNvPr id="39" name="icon">
            <a:extLst>
              <a:ext uri="{FF2B5EF4-FFF2-40B4-BE49-F238E27FC236}">
                <a16:creationId xmlns:a16="http://schemas.microsoft.com/office/drawing/2014/main" id="{E7DF67A1-A013-EBE1-5008-F498DC80713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17517" y="4526645"/>
            <a:ext cx="218724" cy="218724"/>
          </a:xfrm>
          <a:prstGeom prst="rect">
            <a:avLst/>
          </a:prstGeom>
        </p:spPr>
      </p:pic>
      <p:pic>
        <p:nvPicPr>
          <p:cNvPr id="41" name="icon">
            <a:extLst>
              <a:ext uri="{FF2B5EF4-FFF2-40B4-BE49-F238E27FC236}">
                <a16:creationId xmlns:a16="http://schemas.microsoft.com/office/drawing/2014/main" id="{C73ADA6E-C192-35D8-3342-EB8089A2502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116567" y="5907024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Picture 112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4" name="Oval 113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03  |  OUR SOLUTION &amp; ARCHITECTURE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A five-stage pipeline where the LLM may select and name - but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never write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 - a step.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Two LLM calls run in parallel on the cold path. Everything else is deterministic, tested code.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04 / 12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66928" y="2103120"/>
            <a:ext cx="2103120" cy="2971800"/>
          </a:xfrm>
          <a:prstGeom prst="roundRect">
            <a:avLst>
              <a:gd name="adj" fmla="val 6000"/>
            </a:avLst>
          </a:prstGeom>
          <a:solidFill>
            <a:srgbClr val="9DBFE3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713232" y="2240280"/>
            <a:ext cx="365760" cy="365760"/>
          </a:xfrm>
          <a:prstGeom prst="ellipse">
            <a:avLst/>
          </a:prstGeom>
          <a:solidFill>
            <a:srgbClr val="9DB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170432" y="224028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Understand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85800" y="2743200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1170432" y="2816352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Facet frame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symptom · part · component · on/off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85800" y="3502152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 w="13970">
            <a:solidFill>
              <a:srgbClr val="9DBF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1170432" y="3575304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Stage A · LLM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canonical query, 10 paraphrases, hard negatives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85800" y="4261104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1170432" y="4334256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Contrastive cache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hit in 4 ms, $0, no LLM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2679191" y="3566160"/>
            <a:ext cx="116129" cy="0"/>
          </a:xfrm>
          <a:prstGeom prst="line">
            <a:avLst/>
          </a:prstGeom>
          <a:ln w="15875">
            <a:solidFill>
              <a:srgbClr val="8A817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ounded Rectangle 136"/>
          <p:cNvSpPr/>
          <p:nvPr/>
        </p:nvSpPr>
        <p:spPr>
          <a:xfrm>
            <a:off x="2804464" y="2103120"/>
            <a:ext cx="2103120" cy="2971800"/>
          </a:xfrm>
          <a:prstGeom prst="roundRect">
            <a:avLst>
              <a:gd name="adj" fmla="val 6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2950768" y="2240280"/>
            <a:ext cx="365760" cy="365760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407968" y="224028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Ground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2923336" y="2743200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3407968" y="2816352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Relevance Gate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full · partial · none → no_match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923336" y="3502152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3407968" y="3575304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SIIS normaliser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span ids, leak &amp; corrupt flags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2923336" y="4261104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3407968" y="4334256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Evidence units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verbatim steps + provenance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4916728" y="3566160"/>
            <a:ext cx="116129" cy="0"/>
          </a:xfrm>
          <a:prstGeom prst="line">
            <a:avLst/>
          </a:prstGeom>
          <a:ln w="15875">
            <a:solidFill>
              <a:srgbClr val="8A817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ounded Rectangle 149"/>
          <p:cNvSpPr/>
          <p:nvPr/>
        </p:nvSpPr>
        <p:spPr>
          <a:xfrm>
            <a:off x="5042001" y="2103120"/>
            <a:ext cx="2103120" cy="2971800"/>
          </a:xfrm>
          <a:prstGeom prst="roundRect">
            <a:avLst>
              <a:gd name="adj" fmla="val 6000"/>
            </a:avLst>
          </a:prstGeom>
          <a:solidFill>
            <a:srgbClr val="93CDB9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5188305" y="2240280"/>
            <a:ext cx="365760" cy="365760"/>
          </a:xfrm>
          <a:prstGeom prst="ellipse">
            <a:avLst/>
          </a:prstGeom>
          <a:solidFill>
            <a:srgbClr val="93C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645505" y="224028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Resolve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160873" y="2743200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5645505" y="2816352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Catalog Compiler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397 screens × on/off/open/set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5160873" y="3502152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5645505" y="3575304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Screen resolver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leaf label → fuzzy → abstain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160873" y="4261104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5645505" y="4334256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Polarity + probe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variant + validationDeeplink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7154265" y="3566160"/>
            <a:ext cx="116129" cy="0"/>
          </a:xfrm>
          <a:prstGeom prst="line">
            <a:avLst/>
          </a:prstGeom>
          <a:ln w="15875">
            <a:solidFill>
              <a:srgbClr val="8A817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7279538" y="2103120"/>
            <a:ext cx="2103120" cy="2971800"/>
          </a:xfrm>
          <a:prstGeom prst="roundRect">
            <a:avLst>
              <a:gd name="adj" fmla="val 6000"/>
            </a:avLst>
          </a:prstGeom>
          <a:solidFill>
            <a:srgbClr val="EE9A7E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Oval 163"/>
          <p:cNvSpPr/>
          <p:nvPr/>
        </p:nvSpPr>
        <p:spPr>
          <a:xfrm>
            <a:off x="7425842" y="2240280"/>
            <a:ext cx="365760" cy="365760"/>
          </a:xfrm>
          <a:prstGeom prst="ellipse">
            <a:avLst/>
          </a:prstGeom>
          <a:solidFill>
            <a:srgbClr val="EE9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883042" y="224028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Compose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7398410" y="2743200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 w="13970">
            <a:solidFill>
              <a:srgbClr val="EE9A7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7883042" y="2816352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Stage B · LLM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select, group, name - no step text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7398410" y="3502152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7883042" y="3575304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Category &amp; order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auto → manual → critical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7398410" y="4261104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7883042" y="4334256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Computed score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fit × grounding × mapping</a:t>
            </a:r>
          </a:p>
        </p:txBody>
      </p:sp>
      <p:cxnSp>
        <p:nvCxnSpPr>
          <p:cNvPr id="175" name="Connector 174"/>
          <p:cNvCxnSpPr/>
          <p:nvPr/>
        </p:nvCxnSpPr>
        <p:spPr>
          <a:xfrm>
            <a:off x="9391802" y="3566160"/>
            <a:ext cx="116129" cy="0"/>
          </a:xfrm>
          <a:prstGeom prst="line">
            <a:avLst/>
          </a:prstGeom>
          <a:ln w="15875">
            <a:solidFill>
              <a:srgbClr val="8A817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Rounded Rectangle 175"/>
          <p:cNvSpPr/>
          <p:nvPr/>
        </p:nvSpPr>
        <p:spPr>
          <a:xfrm>
            <a:off x="9517075" y="2103120"/>
            <a:ext cx="2103120" cy="2971800"/>
          </a:xfrm>
          <a:prstGeom prst="roundRect">
            <a:avLst>
              <a:gd name="adj" fmla="val 6000"/>
            </a:avLst>
          </a:prstGeom>
          <a:solidFill>
            <a:srgbClr val="C9C1B6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Oval 176"/>
          <p:cNvSpPr/>
          <p:nvPr/>
        </p:nvSpPr>
        <p:spPr>
          <a:xfrm>
            <a:off x="9663379" y="2240280"/>
            <a:ext cx="365760" cy="365760"/>
          </a:xfrm>
          <a:prstGeom prst="ellipse">
            <a:avLst/>
          </a:prstGeom>
          <a:solidFill>
            <a:srgbClr val="C9C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120579" y="224028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Guarantee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9635947" y="2743200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10120579" y="2816352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Output gate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organisers’ schema · URI set · 0 leaks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9635947" y="3502152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10120579" y="3575304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Cache write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τ from own ± clouds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9635947" y="4261104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10120579" y="4334256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REST API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/v1/troubleshoot · /health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566928" y="5257800"/>
            <a:ext cx="7635240" cy="109728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749808" y="536752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LATENCY BUDGET (MEASURED)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49808" y="5650992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Cache hit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984248" y="5669280"/>
            <a:ext cx="731520" cy="219456"/>
          </a:xfrm>
          <a:prstGeom prst="rect">
            <a:avLst/>
          </a:prstGeom>
          <a:solidFill>
            <a:srgbClr val="F2B66D">
              <a:alpha val="14000"/>
            </a:srgbClr>
          </a:solidFill>
          <a:ln w="19050">
            <a:solidFill>
              <a:srgbClr val="00000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 i="0">
                <a:solidFill>
                  <a:srgbClr val="F7D3A6"/>
                </a:solidFill>
                <a:latin typeface="Segoe UI"/>
              </a:rPr>
              <a:t>normalise + facets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2715768" y="5669280"/>
            <a:ext cx="1463040" cy="219456"/>
          </a:xfrm>
          <a:prstGeom prst="rect">
            <a:avLst/>
          </a:prstGeom>
          <a:solidFill>
            <a:srgbClr val="F2B66D">
              <a:alpha val="14000"/>
            </a:srgbClr>
          </a:solidFill>
          <a:ln w="19050">
            <a:solidFill>
              <a:srgbClr val="00000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 i="0">
                <a:solidFill>
                  <a:srgbClr val="F7D3A6"/>
                </a:solidFill>
                <a:latin typeface="Segoe UI"/>
              </a:rPr>
              <a:t>embed (INT8 ONNX)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4178808" y="5669280"/>
            <a:ext cx="822960" cy="219456"/>
          </a:xfrm>
          <a:prstGeom prst="rect">
            <a:avLst/>
          </a:prstGeom>
          <a:solidFill>
            <a:srgbClr val="F2B66D">
              <a:alpha val="14000"/>
            </a:srgbClr>
          </a:solidFill>
          <a:ln w="19050">
            <a:solidFill>
              <a:srgbClr val="00000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 i="0">
                <a:solidFill>
                  <a:srgbClr val="F7D3A6"/>
                </a:solidFill>
                <a:latin typeface="Segoe UI"/>
              </a:rPr>
              <a:t>ANN + guard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093208" y="5650992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P95 3.5 ms  ·  $0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749808" y="5989320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Cold path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1984248" y="6007608"/>
            <a:ext cx="640080" cy="219456"/>
          </a:xfrm>
          <a:prstGeom prst="rect">
            <a:avLst/>
          </a:prstGeom>
          <a:solidFill>
            <a:srgbClr val="C9C1B6">
              <a:alpha val="10000"/>
            </a:srgbClr>
          </a:solidFill>
          <a:ln w="19050">
            <a:solidFill>
              <a:srgbClr val="00000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 i="0">
                <a:solidFill>
                  <a:srgbClr val="C9C1B6"/>
                </a:solidFill>
                <a:latin typeface="Segoe UI"/>
              </a:rPr>
              <a:t>gate + units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2624328" y="6007608"/>
            <a:ext cx="2926080" cy="219456"/>
          </a:xfrm>
          <a:prstGeom prst="rect">
            <a:avLst/>
          </a:prstGeom>
          <a:solidFill>
            <a:srgbClr val="EE9A7E">
              <a:alpha val="13000"/>
            </a:srgbClr>
          </a:solidFill>
          <a:ln w="19050">
            <a:solidFill>
              <a:srgbClr val="00000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 i="0">
                <a:solidFill>
                  <a:srgbClr val="EE9A7E"/>
                </a:solidFill>
                <a:latin typeface="Segoe UI"/>
              </a:rPr>
              <a:t>Stage A ∥ Stage B (LLM)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550408" y="6007608"/>
            <a:ext cx="914400" cy="219456"/>
          </a:xfrm>
          <a:prstGeom prst="rect">
            <a:avLst/>
          </a:prstGeom>
          <a:solidFill>
            <a:srgbClr val="93CDB9">
              <a:alpha val="13000"/>
            </a:srgbClr>
          </a:solidFill>
          <a:ln w="19050">
            <a:solidFill>
              <a:srgbClr val="00000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 i="0">
                <a:solidFill>
                  <a:srgbClr val="93CDB9"/>
                </a:solidFill>
                <a:latin typeface="Segoe UI"/>
              </a:rPr>
              <a:t>resolve + compose + gate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556248" y="598932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EE9A7E"/>
                </a:solidFill>
                <a:latin typeface="Segoe UI Semibold"/>
              </a:rPr>
              <a:t>P50 1.3 s  ·  P95 3.8 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8412480" y="5257800"/>
            <a:ext cx="1005840" cy="109728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TextBox 201"/>
          <p:cNvSpPr txBox="1"/>
          <p:nvPr/>
        </p:nvSpPr>
        <p:spPr>
          <a:xfrm>
            <a:off x="8531352" y="5669280"/>
            <a:ext cx="8686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$0.00013</a:t>
            </a:r>
          </a:p>
          <a:p>
            <a:pPr algn="l">
              <a:lnSpc>
                <a:spcPct val="95000"/>
              </a:lnSpc>
            </a:pPr>
            <a:r>
              <a:rPr sz="750" b="0" i="0">
                <a:solidFill>
                  <a:srgbClr val="A89F93"/>
                </a:solidFill>
                <a:latin typeface="Segoe UI"/>
              </a:rPr>
              <a:t>per cold query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9500615" y="5257800"/>
            <a:ext cx="1005840" cy="109728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9619488" y="5669280"/>
            <a:ext cx="8686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$0</a:t>
            </a:r>
          </a:p>
          <a:p>
            <a:pPr algn="l">
              <a:lnSpc>
                <a:spcPct val="95000"/>
              </a:lnSpc>
            </a:pPr>
            <a:r>
              <a:rPr sz="750" b="0" i="0">
                <a:solidFill>
                  <a:srgbClr val="A89F93"/>
                </a:solidFill>
                <a:latin typeface="Segoe UI"/>
              </a:rPr>
              <a:t>per cache hit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10588751" y="5257800"/>
            <a:ext cx="1005840" cy="109728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TextBox 207"/>
          <p:cNvSpPr txBox="1"/>
          <p:nvPr/>
        </p:nvSpPr>
        <p:spPr>
          <a:xfrm>
            <a:off x="10707624" y="5669280"/>
            <a:ext cx="8686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2</a:t>
            </a:r>
          </a:p>
          <a:p>
            <a:pPr algn="l">
              <a:lnSpc>
                <a:spcPct val="95000"/>
              </a:lnSpc>
            </a:pPr>
            <a:r>
              <a:rPr sz="750" b="0" i="0">
                <a:solidFill>
                  <a:srgbClr val="A89F93"/>
                </a:solidFill>
                <a:latin typeface="Segoe UI"/>
              </a:rPr>
              <a:t>LLM calls per cold query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C3142F2A-1511-FB20-8B08-C8EC7D9A3EE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5528" y="2926080"/>
            <a:ext cx="274320" cy="274320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DAE5FB8C-66C1-8380-291B-870A9E5C4C0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5528" y="3685032"/>
            <a:ext cx="274320" cy="274320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2BB3AE7F-4111-D110-0DA5-08A1FC65399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5528" y="4443984"/>
            <a:ext cx="274320" cy="274320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75E0EFA4-E4DC-7C4E-9902-3F8E02F911D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33064" y="2926080"/>
            <a:ext cx="274320" cy="274320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FAB829A3-CF31-978D-A74A-F79CF309F5F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33064" y="3685032"/>
            <a:ext cx="274320" cy="274320"/>
          </a:xfrm>
          <a:prstGeom prst="rect">
            <a:avLst/>
          </a:prstGeom>
        </p:spPr>
      </p:pic>
      <p:pic>
        <p:nvPicPr>
          <p:cNvPr id="13" name="icon">
            <a:extLst>
              <a:ext uri="{FF2B5EF4-FFF2-40B4-BE49-F238E27FC236}">
                <a16:creationId xmlns:a16="http://schemas.microsoft.com/office/drawing/2014/main" id="{B539E6CC-B770-E58E-3C5B-BE70C38FA67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33064" y="4443984"/>
            <a:ext cx="274320" cy="274320"/>
          </a:xfrm>
          <a:prstGeom prst="rect">
            <a:avLst/>
          </a:prstGeom>
        </p:spPr>
      </p:pic>
      <p:pic>
        <p:nvPicPr>
          <p:cNvPr id="15" name="icon">
            <a:extLst>
              <a:ext uri="{FF2B5EF4-FFF2-40B4-BE49-F238E27FC236}">
                <a16:creationId xmlns:a16="http://schemas.microsoft.com/office/drawing/2014/main" id="{D07F3C16-8B9E-646E-050A-DA19243C049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70601" y="2926080"/>
            <a:ext cx="274320" cy="274320"/>
          </a:xfrm>
          <a:prstGeom prst="rect">
            <a:avLst/>
          </a:prstGeom>
        </p:spPr>
      </p:pic>
      <p:pic>
        <p:nvPicPr>
          <p:cNvPr id="17" name="icon">
            <a:extLst>
              <a:ext uri="{FF2B5EF4-FFF2-40B4-BE49-F238E27FC236}">
                <a16:creationId xmlns:a16="http://schemas.microsoft.com/office/drawing/2014/main" id="{3055FFF4-8621-A599-98B3-017511C3D68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270601" y="3685032"/>
            <a:ext cx="274320" cy="274320"/>
          </a:xfrm>
          <a:prstGeom prst="rect">
            <a:avLst/>
          </a:prstGeom>
        </p:spPr>
      </p:pic>
      <p:pic>
        <p:nvPicPr>
          <p:cNvPr id="19" name="icon">
            <a:extLst>
              <a:ext uri="{FF2B5EF4-FFF2-40B4-BE49-F238E27FC236}">
                <a16:creationId xmlns:a16="http://schemas.microsoft.com/office/drawing/2014/main" id="{882CE35B-0EB5-3842-9E1B-1956E6DEA2A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270601" y="4443984"/>
            <a:ext cx="274320" cy="274320"/>
          </a:xfrm>
          <a:prstGeom prst="rect">
            <a:avLst/>
          </a:prstGeom>
        </p:spPr>
      </p:pic>
      <p:pic>
        <p:nvPicPr>
          <p:cNvPr id="21" name="icon">
            <a:extLst>
              <a:ext uri="{FF2B5EF4-FFF2-40B4-BE49-F238E27FC236}">
                <a16:creationId xmlns:a16="http://schemas.microsoft.com/office/drawing/2014/main" id="{9B5A164D-EF54-CA26-71BA-91240F935B5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508138" y="2926080"/>
            <a:ext cx="274320" cy="274320"/>
          </a:xfrm>
          <a:prstGeom prst="rect">
            <a:avLst/>
          </a:prstGeom>
        </p:spPr>
      </p:pic>
      <p:pic>
        <p:nvPicPr>
          <p:cNvPr id="23" name="icon">
            <a:extLst>
              <a:ext uri="{FF2B5EF4-FFF2-40B4-BE49-F238E27FC236}">
                <a16:creationId xmlns:a16="http://schemas.microsoft.com/office/drawing/2014/main" id="{5D2DCB47-6C1B-AF56-4803-B7592BD0E84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508138" y="3685032"/>
            <a:ext cx="274320" cy="274320"/>
          </a:xfrm>
          <a:prstGeom prst="rect">
            <a:avLst/>
          </a:prstGeom>
        </p:spPr>
      </p:pic>
      <p:pic>
        <p:nvPicPr>
          <p:cNvPr id="25" name="icon">
            <a:extLst>
              <a:ext uri="{FF2B5EF4-FFF2-40B4-BE49-F238E27FC236}">
                <a16:creationId xmlns:a16="http://schemas.microsoft.com/office/drawing/2014/main" id="{F8776D0B-274D-8825-2C4A-B0A28B260BB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08138" y="4443984"/>
            <a:ext cx="274320" cy="274320"/>
          </a:xfrm>
          <a:prstGeom prst="rect">
            <a:avLst/>
          </a:prstGeom>
        </p:spPr>
      </p:pic>
      <p:pic>
        <p:nvPicPr>
          <p:cNvPr id="27" name="icon">
            <a:extLst>
              <a:ext uri="{FF2B5EF4-FFF2-40B4-BE49-F238E27FC236}">
                <a16:creationId xmlns:a16="http://schemas.microsoft.com/office/drawing/2014/main" id="{A8F26973-E351-8C44-2E7B-A31290500C1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745675" y="2926080"/>
            <a:ext cx="274320" cy="274320"/>
          </a:xfrm>
          <a:prstGeom prst="rect">
            <a:avLst/>
          </a:prstGeom>
        </p:spPr>
      </p:pic>
      <p:pic>
        <p:nvPicPr>
          <p:cNvPr id="29" name="icon">
            <a:extLst>
              <a:ext uri="{FF2B5EF4-FFF2-40B4-BE49-F238E27FC236}">
                <a16:creationId xmlns:a16="http://schemas.microsoft.com/office/drawing/2014/main" id="{B9C3500E-4246-9EBA-E40C-77220E84879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745675" y="3685032"/>
            <a:ext cx="274320" cy="274320"/>
          </a:xfrm>
          <a:prstGeom prst="rect">
            <a:avLst/>
          </a:prstGeom>
        </p:spPr>
      </p:pic>
      <p:pic>
        <p:nvPicPr>
          <p:cNvPr id="31" name="icon">
            <a:extLst>
              <a:ext uri="{FF2B5EF4-FFF2-40B4-BE49-F238E27FC236}">
                <a16:creationId xmlns:a16="http://schemas.microsoft.com/office/drawing/2014/main" id="{90D60023-4FF9-9E91-1CCD-58FCBDC55EE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745675" y="4443984"/>
            <a:ext cx="274320" cy="274320"/>
          </a:xfrm>
          <a:prstGeom prst="rect">
            <a:avLst/>
          </a:prstGeom>
        </p:spPr>
      </p:pic>
      <p:pic>
        <p:nvPicPr>
          <p:cNvPr id="33" name="icon">
            <a:extLst>
              <a:ext uri="{FF2B5EF4-FFF2-40B4-BE49-F238E27FC236}">
                <a16:creationId xmlns:a16="http://schemas.microsoft.com/office/drawing/2014/main" id="{9AAA8C94-9A9C-8242-45A0-7EDEFEFF554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531352" y="5376672"/>
            <a:ext cx="219456" cy="219456"/>
          </a:xfrm>
          <a:prstGeom prst="rect">
            <a:avLst/>
          </a:prstGeom>
        </p:spPr>
      </p:pic>
      <p:pic>
        <p:nvPicPr>
          <p:cNvPr id="35" name="icon">
            <a:extLst>
              <a:ext uri="{FF2B5EF4-FFF2-40B4-BE49-F238E27FC236}">
                <a16:creationId xmlns:a16="http://schemas.microsoft.com/office/drawing/2014/main" id="{9219C42B-2B0B-CE41-7DC9-818213E9979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619488" y="5376672"/>
            <a:ext cx="219456" cy="219456"/>
          </a:xfrm>
          <a:prstGeom prst="rect">
            <a:avLst/>
          </a:prstGeom>
        </p:spPr>
      </p:pic>
      <p:pic>
        <p:nvPicPr>
          <p:cNvPr id="37" name="icon">
            <a:extLst>
              <a:ext uri="{FF2B5EF4-FFF2-40B4-BE49-F238E27FC236}">
                <a16:creationId xmlns:a16="http://schemas.microsoft.com/office/drawing/2014/main" id="{CEF8B0D1-CB06-F65F-2D34-C42EB5E5AF2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0707624" y="5376672"/>
            <a:ext cx="219456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Picture 118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20" name="Oval 119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04  |  DEMO &amp; PRODUCT WALKTHROUGH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The live console shows every step’s source sentence and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closes the loop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 with a probe.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Real screenshot of demo/ served by the same container (device simulated in the browser).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05 / 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66928" y="2057400"/>
            <a:ext cx="5856549" cy="4334256"/>
          </a:xfrm>
          <a:prstGeom prst="roundRect">
            <a:avLst>
              <a:gd name="adj" fmla="val 3000"/>
            </a:avLst>
          </a:prstGeom>
          <a:solidFill>
            <a:srgbClr val="000000">
              <a:alpha val="26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704088" y="2148840"/>
            <a:ext cx="91440" cy="91440"/>
          </a:xfrm>
          <a:prstGeom prst="ellipse">
            <a:avLst/>
          </a:prstGeom>
          <a:solidFill>
            <a:srgbClr val="EE9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868680" y="2148840"/>
            <a:ext cx="91440" cy="91440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1033271" y="2148840"/>
            <a:ext cx="91440" cy="91440"/>
          </a:xfrm>
          <a:prstGeom prst="ellipse">
            <a:avLst/>
          </a:prstGeom>
          <a:solidFill>
            <a:srgbClr val="93C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ounded Rectangle 133"/>
          <p:cNvSpPr/>
          <p:nvPr/>
        </p:nvSpPr>
        <p:spPr>
          <a:xfrm>
            <a:off x="1298448" y="2112264"/>
            <a:ext cx="2926080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700" b="0" i="0">
                <a:solidFill>
                  <a:srgbClr val="A89F93"/>
                </a:solidFill>
                <a:latin typeface="Segoe UI"/>
              </a:rPr>
              <a:t>localhost:8000  ·  TapTrace console</a:t>
            </a:r>
          </a:p>
        </p:txBody>
      </p:sp>
      <p:pic>
        <p:nvPicPr>
          <p:cNvPr id="135" name="Picture 134" descr="conso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" y="2331720"/>
            <a:ext cx="5819973" cy="4041648"/>
          </a:xfrm>
          <a:prstGeom prst="rect">
            <a:avLst/>
          </a:prstGeom>
        </p:spPr>
      </p:pic>
      <p:sp>
        <p:nvSpPr>
          <p:cNvPr id="136" name="Oval 135"/>
          <p:cNvSpPr/>
          <p:nvPr/>
        </p:nvSpPr>
        <p:spPr>
          <a:xfrm>
            <a:off x="528888" y="5338962"/>
            <a:ext cx="274320" cy="274320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1</a:t>
            </a:r>
          </a:p>
        </p:txBody>
      </p:sp>
      <p:sp>
        <p:nvSpPr>
          <p:cNvPr id="137" name="Oval 136"/>
          <p:cNvSpPr/>
          <p:nvPr/>
        </p:nvSpPr>
        <p:spPr>
          <a:xfrm>
            <a:off x="2084923" y="3757415"/>
            <a:ext cx="274320" cy="274320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2</a:t>
            </a:r>
          </a:p>
        </p:txBody>
      </p:sp>
      <p:sp>
        <p:nvSpPr>
          <p:cNvPr id="138" name="Oval 137"/>
          <p:cNvSpPr/>
          <p:nvPr/>
        </p:nvSpPr>
        <p:spPr>
          <a:xfrm>
            <a:off x="4385078" y="4579132"/>
            <a:ext cx="274320" cy="274320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3</a:t>
            </a:r>
          </a:p>
        </p:txBody>
      </p:sp>
      <p:sp>
        <p:nvSpPr>
          <p:cNvPr id="139" name="Oval 138"/>
          <p:cNvSpPr/>
          <p:nvPr/>
        </p:nvSpPr>
        <p:spPr>
          <a:xfrm>
            <a:off x="4385078" y="3750594"/>
            <a:ext cx="274320" cy="274320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4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697797" y="2057400"/>
            <a:ext cx="2381189" cy="129844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6862389" y="2221992"/>
            <a:ext cx="310896" cy="310896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862389" y="2624328"/>
            <a:ext cx="207029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EFE6"/>
                </a:solidFill>
                <a:latin typeface="Segoe UI Semibold"/>
              </a:rPr>
              <a:t>Provenance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every plan step is highlighted in its source SIIS sentence, with span ids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9243578" y="2057400"/>
            <a:ext cx="2381189" cy="129844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9408170" y="2221992"/>
            <a:ext cx="310896" cy="310896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08170" y="2624328"/>
            <a:ext cx="207029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EFE6"/>
                </a:solidFill>
                <a:latin typeface="Segoe UI Semibold"/>
              </a:rPr>
              <a:t>Cache decision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exact or semantic hit with similarity ≥ per-entry τ at $0, or the guard that refused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697797" y="3502152"/>
            <a:ext cx="2381189" cy="129844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Oval 148"/>
          <p:cNvSpPr/>
          <p:nvPr/>
        </p:nvSpPr>
        <p:spPr>
          <a:xfrm>
            <a:off x="6862389" y="3666744"/>
            <a:ext cx="310896" cy="310896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862389" y="4069080"/>
            <a:ext cx="207029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EFE6"/>
                </a:solidFill>
                <a:latin typeface="Segoe UI Semibold"/>
              </a:rPr>
              <a:t>One tap + probe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an auto step runs its deeplink; the validationDeeplink probe turns ✓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9243578" y="3502152"/>
            <a:ext cx="2381189" cy="129844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Oval 152"/>
          <p:cNvSpPr/>
          <p:nvPr/>
        </p:nvSpPr>
        <p:spPr>
          <a:xfrm>
            <a:off x="9408170" y="3666744"/>
            <a:ext cx="310896" cy="310896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408170" y="4069080"/>
            <a:ext cx="207029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EFE6"/>
                </a:solidFill>
                <a:latin typeface="Segoe UI Semibold"/>
              </a:rPr>
              <a:t>Conditional options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one screen, two step groups: ON with a screen protector, OFF without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6697797" y="4946904"/>
            <a:ext cx="4926970" cy="1444752"/>
          </a:xfrm>
          <a:prstGeom prst="roundRect">
            <a:avLst>
              <a:gd name="adj" fmla="val 4000"/>
            </a:avLst>
          </a:prstGeom>
          <a:solidFill>
            <a:srgbClr val="000000">
              <a:alpha val="36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6880677" y="5074920"/>
            <a:ext cx="456121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WHAT THE PHONE RECEIVED (RESULTS.JSONL, LINE 19)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880677" y="5367528"/>
            <a:ext cx="456121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F2B66D"/>
                </a:solidFill>
                <a:latin typeface="Consolas"/>
              </a:rPr>
              <a:t>"actionName": "Adjust Touch Sensitivity",  "category": "auto",</a:t>
            </a:r>
          </a:p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E6DDD1"/>
                </a:solidFill>
                <a:latin typeface="Consolas"/>
              </a:rPr>
              <a:t>"deeplink": "voiceassist://masked/act/14eb42b895",  "originalType": "onURL",</a:t>
            </a:r>
          </a:p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F2B66D"/>
                </a:solidFill>
                <a:latin typeface="Consolas"/>
              </a:rPr>
              <a:t>"validationDeeplink": {"key": "Touch sensitivity",</a:t>
            </a:r>
          </a:p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E6DDD1"/>
                </a:solidFill>
                <a:latin typeface="Consolas"/>
              </a:rPr>
              <a:t>    "condition": "equal", "value": "True"}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F1D7A1DC-82E5-C1A8-0920-DFC58E58EC7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58362" y="2240280"/>
            <a:ext cx="237744" cy="237744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FFCB7DAA-E777-531F-6853-05108A5CF6D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04143" y="2240280"/>
            <a:ext cx="237744" cy="237744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1B2AF2B5-F3F0-8DFE-B39E-A920617FE0A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58362" y="3685032"/>
            <a:ext cx="237744" cy="237744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754F230B-DF04-CF5C-9246-1631B7AB192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204143" y="3685032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Picture 124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26" name="Oval 125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05  |  TOOLS AND TECH STACK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Small,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CPU-only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 and reproducible - one container, no GPU, and it runs even without an API key.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Every dependency is pinned in requirements.txt; the INT8 embedder and pre-warmed cache ship in the image.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06 /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66928" y="2103120"/>
            <a:ext cx="2468880" cy="292608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749808" y="224028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SERVING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749808" y="2606040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749808" y="3227832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FastAPI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892808" y="2606040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1892808" y="3227832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Uvicorn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749808" y="3776472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749808" y="4398264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Pydantic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1892808" y="3776472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1892808" y="4398264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ORJSON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154680" y="2103120"/>
            <a:ext cx="2468880" cy="292608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3337560" y="224028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INTELLIGENCE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3337560" y="2606040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3337560" y="3227832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gpt-oss-120b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480560" y="2606040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4480560" y="3227832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Groq API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3337560" y="3776472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3337560" y="4398264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MiniLM-L6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480560" y="3776472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4480560" y="4398264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ONNX Runtime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742432" y="2103120"/>
            <a:ext cx="2468880" cy="292608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5925312" y="224028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DATA &amp; QUALITY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5925312" y="2606040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5925312" y="3227832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Python 3.12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7068312" y="2606040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7068312" y="3227832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NumPy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925312" y="3776472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5925312" y="4398264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SQLite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7068312" y="3776472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7068312" y="4398264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pytest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566928" y="5193792"/>
            <a:ext cx="7653527" cy="1188720"/>
          </a:xfrm>
          <a:prstGeom prst="roundRect">
            <a:avLst>
              <a:gd name="adj" fmla="val 4000"/>
            </a:avLst>
          </a:prstGeom>
          <a:solidFill>
            <a:srgbClr val="000000">
              <a:alpha val="36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768096" y="5303520"/>
            <a:ext cx="7315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93CDB9"/>
                </a:solidFill>
                <a:latin typeface="Consolas"/>
              </a:rPr>
              <a:t>taptrace/  catalog.py · siis.py · facets.py · resolver.py · plan.py · cache.py · engine.py · api.py</a:t>
            </a:r>
          </a:p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EDE5DA"/>
                </a:solidFill>
                <a:latin typeface="Consolas"/>
              </a:rPr>
              <a:t>scripts/   build_results · evaluate · stress_test · audit_report · build_deck</a:t>
            </a:r>
          </a:p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EDE5DA"/>
                </a:solidFill>
                <a:latin typeface="Consolas"/>
              </a:rPr>
              <a:t>eval/      gold · mapping_benchmark · heldout + test paraphrases · hard_negatives</a:t>
            </a:r>
          </a:p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EDE5DA"/>
                </a:solidFill>
                <a:latin typeface="Consolas"/>
              </a:rPr>
              <a:t>Dockerfile · docker-compose.yml · results.jsonl · metrics.md · tests/ (27 gates)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8430768" y="2148839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9015984" y="2103120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F5EFE6"/>
                </a:solidFill>
                <a:latin typeface="Segoe UI Semibold"/>
              </a:rPr>
              <a:t>23 MB</a:t>
            </a:r>
          </a:p>
          <a:p>
            <a:pPr algn="l"/>
            <a:r>
              <a:rPr sz="900" b="0" i="0">
                <a:solidFill>
                  <a:srgbClr val="A89F93"/>
                </a:solidFill>
                <a:latin typeface="Segoe UI"/>
              </a:rPr>
              <a:t>INT8 ONNX embedder, 0.97 cosine vs FP32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8430768" y="30175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/>
          <p:cNvSpPr txBox="1"/>
          <p:nvPr/>
        </p:nvSpPr>
        <p:spPr>
          <a:xfrm>
            <a:off x="9015984" y="2971800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F5EFE6"/>
                </a:solidFill>
                <a:latin typeface="Segoe UI Semibold"/>
              </a:rPr>
              <a:t>1.6 s</a:t>
            </a:r>
          </a:p>
          <a:p>
            <a:pPr algn="l"/>
            <a:r>
              <a:rPr sz="900" b="0" i="0">
                <a:solidFill>
                  <a:srgbClr val="A89F93"/>
                </a:solidFill>
                <a:latin typeface="Segoe UI"/>
              </a:rPr>
              <a:t>container cold start to healthy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8430768" y="3886199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9015984" y="3840479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F5EFE6"/>
                </a:solidFill>
                <a:latin typeface="Segoe UI Semibold"/>
              </a:rPr>
              <a:t>495 req/s</a:t>
            </a:r>
          </a:p>
          <a:p>
            <a:pPr algn="l"/>
            <a:r>
              <a:rPr sz="900" b="0" i="0">
                <a:solidFill>
                  <a:srgbClr val="A89F93"/>
                </a:solidFill>
                <a:latin typeface="Segoe UI"/>
              </a:rPr>
              <a:t>16 concurrent clients, 0 errors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8430768" y="4754879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TextBox 191"/>
          <p:cNvSpPr txBox="1"/>
          <p:nvPr/>
        </p:nvSpPr>
        <p:spPr>
          <a:xfrm>
            <a:off x="9015984" y="4709159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F5EFE6"/>
                </a:solidFill>
                <a:latin typeface="Segoe UI Semibold"/>
              </a:rPr>
              <a:t>27 gates</a:t>
            </a:r>
          </a:p>
          <a:p>
            <a:pPr algn="l"/>
            <a:r>
              <a:rPr sz="900" b="0" i="0">
                <a:solidFill>
                  <a:srgbClr val="A89F93"/>
                </a:solidFill>
                <a:latin typeface="Segoe UI"/>
              </a:rPr>
              <a:t>pytest: contract, traps, gate, cache, API, unseen domains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8430768" y="5623559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TextBox 194"/>
          <p:cNvSpPr txBox="1"/>
          <p:nvPr/>
        </p:nvSpPr>
        <p:spPr>
          <a:xfrm>
            <a:off x="9015984" y="5577840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F5EFE6"/>
                </a:solidFill>
                <a:latin typeface="Segoe UI Semibold"/>
              </a:rPr>
              <a:t>0 keys</a:t>
            </a:r>
          </a:p>
          <a:p>
            <a:pPr algn="l"/>
            <a:r>
              <a:rPr sz="900" b="0" i="0">
                <a:solidFill>
                  <a:srgbClr val="A89F93"/>
                </a:solidFill>
                <a:latin typeface="Segoe UI"/>
              </a:rPr>
              <a:t>needed to run: deterministic path + cache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4A8E1117-BA08-3090-F8AE-342EE88D446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" y="2734056"/>
            <a:ext cx="402336" cy="402336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11D21F90-64DC-DA85-1FF1-767F356FECC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94560" y="2734056"/>
            <a:ext cx="402336" cy="402336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CBCBFBC4-6F1D-3F26-98C6-840020C03F6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1560" y="3904487"/>
            <a:ext cx="402336" cy="402336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FB3C55D4-5A62-9308-A494-62A0343AD9D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94560" y="3904487"/>
            <a:ext cx="402336" cy="402336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E05F72F3-00CF-A239-7EF7-A82790F1AD9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39312" y="2734056"/>
            <a:ext cx="402336" cy="402336"/>
          </a:xfrm>
          <a:prstGeom prst="rect">
            <a:avLst/>
          </a:prstGeom>
        </p:spPr>
      </p:pic>
      <p:pic>
        <p:nvPicPr>
          <p:cNvPr id="13" name="icon">
            <a:extLst>
              <a:ext uri="{FF2B5EF4-FFF2-40B4-BE49-F238E27FC236}">
                <a16:creationId xmlns:a16="http://schemas.microsoft.com/office/drawing/2014/main" id="{E20F3A27-0CC2-2F8B-81BF-9008F5B3557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782312" y="2734056"/>
            <a:ext cx="402336" cy="402336"/>
          </a:xfrm>
          <a:prstGeom prst="rect">
            <a:avLst/>
          </a:prstGeom>
        </p:spPr>
      </p:pic>
      <p:pic>
        <p:nvPicPr>
          <p:cNvPr id="15" name="icon">
            <a:extLst>
              <a:ext uri="{FF2B5EF4-FFF2-40B4-BE49-F238E27FC236}">
                <a16:creationId xmlns:a16="http://schemas.microsoft.com/office/drawing/2014/main" id="{86B16C5C-13C9-D663-B7DD-34E987541A9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39312" y="3904487"/>
            <a:ext cx="402336" cy="402336"/>
          </a:xfrm>
          <a:prstGeom prst="rect">
            <a:avLst/>
          </a:prstGeom>
        </p:spPr>
      </p:pic>
      <p:pic>
        <p:nvPicPr>
          <p:cNvPr id="17" name="icon">
            <a:extLst>
              <a:ext uri="{FF2B5EF4-FFF2-40B4-BE49-F238E27FC236}">
                <a16:creationId xmlns:a16="http://schemas.microsoft.com/office/drawing/2014/main" id="{737FF397-B9B4-9859-0CFC-92F78FC0CA1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782312" y="3904487"/>
            <a:ext cx="402336" cy="402336"/>
          </a:xfrm>
          <a:prstGeom prst="rect">
            <a:avLst/>
          </a:prstGeom>
        </p:spPr>
      </p:pic>
      <p:pic>
        <p:nvPicPr>
          <p:cNvPr id="19" name="icon">
            <a:extLst>
              <a:ext uri="{FF2B5EF4-FFF2-40B4-BE49-F238E27FC236}">
                <a16:creationId xmlns:a16="http://schemas.microsoft.com/office/drawing/2014/main" id="{EE335B70-256C-3B83-CF8D-2DDE9770A7B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227064" y="2734056"/>
            <a:ext cx="402336" cy="402336"/>
          </a:xfrm>
          <a:prstGeom prst="rect">
            <a:avLst/>
          </a:prstGeom>
        </p:spPr>
      </p:pic>
      <p:pic>
        <p:nvPicPr>
          <p:cNvPr id="21" name="icon">
            <a:extLst>
              <a:ext uri="{FF2B5EF4-FFF2-40B4-BE49-F238E27FC236}">
                <a16:creationId xmlns:a16="http://schemas.microsoft.com/office/drawing/2014/main" id="{378A263E-17BA-92C0-50A0-64E80FADC39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370064" y="2734056"/>
            <a:ext cx="402336" cy="402336"/>
          </a:xfrm>
          <a:prstGeom prst="rect">
            <a:avLst/>
          </a:prstGeom>
        </p:spPr>
      </p:pic>
      <p:pic>
        <p:nvPicPr>
          <p:cNvPr id="23" name="icon">
            <a:extLst>
              <a:ext uri="{FF2B5EF4-FFF2-40B4-BE49-F238E27FC236}">
                <a16:creationId xmlns:a16="http://schemas.microsoft.com/office/drawing/2014/main" id="{7494D3A2-87DE-F7C0-9EDF-9EA520A8DFE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227064" y="3904487"/>
            <a:ext cx="402336" cy="402336"/>
          </a:xfrm>
          <a:prstGeom prst="rect">
            <a:avLst/>
          </a:prstGeom>
        </p:spPr>
      </p:pic>
      <p:pic>
        <p:nvPicPr>
          <p:cNvPr id="25" name="icon">
            <a:extLst>
              <a:ext uri="{FF2B5EF4-FFF2-40B4-BE49-F238E27FC236}">
                <a16:creationId xmlns:a16="http://schemas.microsoft.com/office/drawing/2014/main" id="{17D65912-689E-023F-A196-30816BBB993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370064" y="3904487"/>
            <a:ext cx="402336" cy="402336"/>
          </a:xfrm>
          <a:prstGeom prst="rect">
            <a:avLst/>
          </a:prstGeom>
        </p:spPr>
      </p:pic>
      <p:pic>
        <p:nvPicPr>
          <p:cNvPr id="27" name="icon">
            <a:extLst>
              <a:ext uri="{FF2B5EF4-FFF2-40B4-BE49-F238E27FC236}">
                <a16:creationId xmlns:a16="http://schemas.microsoft.com/office/drawing/2014/main" id="{A1E94B81-1DA6-DBA0-F3DB-01D064E5FAB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589520" y="5349240"/>
            <a:ext cx="457200" cy="457200"/>
          </a:xfrm>
          <a:prstGeom prst="rect">
            <a:avLst/>
          </a:prstGeom>
        </p:spPr>
      </p:pic>
      <p:pic>
        <p:nvPicPr>
          <p:cNvPr id="29" name="icon">
            <a:extLst>
              <a:ext uri="{FF2B5EF4-FFF2-40B4-BE49-F238E27FC236}">
                <a16:creationId xmlns:a16="http://schemas.microsoft.com/office/drawing/2014/main" id="{AF858C00-FF54-06B0-7FEB-50DA4E39EC7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540496" y="2258568"/>
            <a:ext cx="237744" cy="237744"/>
          </a:xfrm>
          <a:prstGeom prst="rect">
            <a:avLst/>
          </a:prstGeom>
        </p:spPr>
      </p:pic>
      <p:pic>
        <p:nvPicPr>
          <p:cNvPr id="31" name="icon">
            <a:extLst>
              <a:ext uri="{FF2B5EF4-FFF2-40B4-BE49-F238E27FC236}">
                <a16:creationId xmlns:a16="http://schemas.microsoft.com/office/drawing/2014/main" id="{BE85321F-2195-9282-FE02-7D243DB5F90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540496" y="3127248"/>
            <a:ext cx="237744" cy="237744"/>
          </a:xfrm>
          <a:prstGeom prst="rect">
            <a:avLst/>
          </a:prstGeom>
        </p:spPr>
      </p:pic>
      <p:pic>
        <p:nvPicPr>
          <p:cNvPr id="33" name="icon">
            <a:extLst>
              <a:ext uri="{FF2B5EF4-FFF2-40B4-BE49-F238E27FC236}">
                <a16:creationId xmlns:a16="http://schemas.microsoft.com/office/drawing/2014/main" id="{AACF7240-8E68-F2A6-4705-CDC60C5A890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540496" y="3995927"/>
            <a:ext cx="237744" cy="237744"/>
          </a:xfrm>
          <a:prstGeom prst="rect">
            <a:avLst/>
          </a:prstGeom>
        </p:spPr>
      </p:pic>
      <p:pic>
        <p:nvPicPr>
          <p:cNvPr id="35" name="icon">
            <a:extLst>
              <a:ext uri="{FF2B5EF4-FFF2-40B4-BE49-F238E27FC236}">
                <a16:creationId xmlns:a16="http://schemas.microsoft.com/office/drawing/2014/main" id="{1A9C2526-0ED5-8296-7399-96AB086B53B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540496" y="4864607"/>
            <a:ext cx="237744" cy="237744"/>
          </a:xfrm>
          <a:prstGeom prst="rect">
            <a:avLst/>
          </a:prstGeom>
        </p:spPr>
      </p:pic>
      <p:pic>
        <p:nvPicPr>
          <p:cNvPr id="37" name="icon">
            <a:extLst>
              <a:ext uri="{FF2B5EF4-FFF2-40B4-BE49-F238E27FC236}">
                <a16:creationId xmlns:a16="http://schemas.microsoft.com/office/drawing/2014/main" id="{195C7F63-7B74-C3B2-7957-31D295E360A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540496" y="5733288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Picture 130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32" name="Oval 131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06  |  IMPACT &amp; USE CASE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From ~15 minutes of manual triage to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~1 seconds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 - and $0 for every repeat complaint.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About 674× faster on a new complaint; a cache hit is served in 2 ms.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07 / 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66928" y="2103120"/>
            <a:ext cx="5486400" cy="23317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795528" y="22402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TIME TO AN ACTIONABLE PLAN (TO SCALE)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95528" y="26517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Manual triage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121408" y="2724912"/>
            <a:ext cx="3291840" cy="219456"/>
          </a:xfrm>
          <a:prstGeom prst="rect">
            <a:avLst/>
          </a:prstGeom>
          <a:solidFill>
            <a:srgbClr val="6B6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5486400" y="26517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D9D2C7"/>
                </a:solidFill>
                <a:latin typeface="Segoe UI Semibold"/>
              </a:rPr>
              <a:t>≈ 15 min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5528" y="32004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TapTrace, new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121408" y="3273552"/>
            <a:ext cx="45720" cy="219456"/>
          </a:xfrm>
          <a:prstGeom prst="rect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2240279" y="320040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2B66D"/>
                </a:solidFill>
                <a:latin typeface="Segoe UI Semibold"/>
              </a:rPr>
              <a:t>1.3 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95528" y="3749039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TapTrace, repeat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2121408" y="3822191"/>
            <a:ext cx="45720" cy="219456"/>
          </a:xfrm>
          <a:prstGeom prst="rect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2240279" y="3749039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2B66D"/>
                </a:solidFill>
                <a:latin typeface="Segoe UI Semibold"/>
              </a:rPr>
              <a:t>2 ms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5528" y="4114800"/>
            <a:ext cx="5120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8A8176"/>
                </a:solidFill>
                <a:latin typeface="Segoe UI"/>
              </a:rPr>
              <a:t>New-complaint time is the measured cold-path P50; repeat time is the measured cache-hit P50.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281928" y="2103120"/>
            <a:ext cx="5340096" cy="2331720"/>
          </a:xfrm>
          <a:prstGeom prst="roundRect">
            <a:avLst>
              <a:gd name="adj" fmla="val 6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6492240" y="2240280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F2B66D"/>
                </a:solidFill>
                <a:latin typeface="Segoe UI Semibold"/>
              </a:rPr>
              <a:t>AT PRODUCTION SCALE: 10,000 SCENARIOS (BROCHURE TARGET)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492240" y="2606040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Manual triage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229600" y="2606040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2,500 agent-hours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at 15 min each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492240" y="3017520"/>
            <a:ext cx="493776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6492240" y="3035808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TapTrace first pass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29600" y="3035808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≈ $1.30 LLM cost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3.7 h sequential; parallelisable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492240" y="3447288"/>
            <a:ext cx="493776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6492240" y="3465576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Every repeat after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229600" y="3465576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$0  ·  milliseconds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served from the contrastive cache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492240" y="3877056"/>
            <a:ext cx="493776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6492240" y="3895344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Mapping reuse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29600" y="3895344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shared step-path memo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screens resolved once, reused everywhere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566928" y="4617720"/>
            <a:ext cx="3611880" cy="173736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Rounded Rectangle 167"/>
          <p:cNvSpPr/>
          <p:nvPr/>
        </p:nvSpPr>
        <p:spPr>
          <a:xfrm>
            <a:off x="749808" y="475488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1344168" y="47548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Customer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49808" y="5321808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50">
                <a:solidFill>
                  <a:srgbClr val="8A8176"/>
                </a:solidFill>
                <a:latin typeface="Segoe UI Semibold"/>
              </a:rPr>
              <a:t>BEFORE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Reads text steps, then hunts nested menus.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49808" y="576072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50">
                <a:solidFill>
                  <a:srgbClr val="F2B66D"/>
                </a:solidFill>
                <a:latin typeface="Segoe UI Semibold"/>
              </a:rPr>
              <a:t>AFTER  </a:t>
            </a:r>
            <a:r>
              <a:rPr sz="950" b="0" i="0">
                <a:solidFill>
                  <a:srgbClr val="F5EFE6"/>
                </a:solidFill>
                <a:latin typeface="Segoe UI"/>
              </a:rPr>
              <a:t>Taps once: the exact screen and toggle state opens; a probe confirms the fix.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4288536" y="4617720"/>
            <a:ext cx="3611880" cy="173736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ounded Rectangle 173"/>
          <p:cNvSpPr/>
          <p:nvPr/>
        </p:nvSpPr>
        <p:spPr>
          <a:xfrm>
            <a:off x="4471416" y="475488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5065776" y="47548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Support agent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471416" y="5321808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50">
                <a:solidFill>
                  <a:srgbClr val="8A8176"/>
                </a:solidFill>
                <a:latin typeface="Segoe UI Semibold"/>
              </a:rPr>
              <a:t>BEFORE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Reads, selects and orders steps by hand.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471416" y="576072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50">
                <a:solidFill>
                  <a:srgbClr val="F2B66D"/>
                </a:solidFill>
                <a:latin typeface="Segoe UI Semibold"/>
              </a:rPr>
              <a:t>AFTER  </a:t>
            </a:r>
            <a:r>
              <a:rPr sz="950" b="0" i="0">
                <a:solidFill>
                  <a:srgbClr val="F5EFE6"/>
                </a:solidFill>
                <a:latin typeface="Segoe UI"/>
              </a:rPr>
              <a:t>Gets an ordered plan with every step highlighted in its source article.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8010144" y="4617720"/>
            <a:ext cx="3611880" cy="173736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Rounded Rectangle 179"/>
          <p:cNvSpPr/>
          <p:nvPr/>
        </p:nvSpPr>
        <p:spPr>
          <a:xfrm>
            <a:off x="8193023" y="475488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/>
          <p:cNvSpPr txBox="1"/>
          <p:nvPr/>
        </p:nvSpPr>
        <p:spPr>
          <a:xfrm>
            <a:off x="8787384" y="47548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Operations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8193023" y="5321808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50">
                <a:solidFill>
                  <a:srgbClr val="8A8176"/>
                </a:solidFill>
                <a:latin typeface="Segoe UI Semibold"/>
              </a:rPr>
              <a:t>BEFORE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Wrong articles turn into wrong advice.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193023" y="576072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50">
                <a:solidFill>
                  <a:srgbClr val="F2B66D"/>
                </a:solidFill>
                <a:latin typeface="Segoe UI Semibold"/>
              </a:rPr>
              <a:t>AFTER  </a:t>
            </a:r>
            <a:r>
              <a:rPr sz="950" b="0" i="0">
                <a:solidFill>
                  <a:srgbClr val="F5EFE6"/>
                </a:solidFill>
                <a:latin typeface="Segoe UI"/>
              </a:rPr>
              <a:t>Wrong-document tickets return no_match; ≈$0.0001 per new scenario.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43A9E920-7758-12CB-0466-89C6D499F09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9536" y="4864608"/>
            <a:ext cx="237744" cy="237744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248268E3-94F8-83FD-E29A-E77AE554006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81144" y="4864608"/>
            <a:ext cx="237744" cy="237744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05B66A59-ED1A-86D3-061F-BB233B8A9EC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02751" y="4864608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Picture 136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38" name="Oval 137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07  |  INNOVATION HIGHLIGHTS, RESULTS AND LIMITATIONS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2B66D"/>
                </a:solidFill>
                <a:latin typeface="Segoe UI Semibold"/>
              </a:rPr>
              <a:t>Every target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 in the brief is met - measured on the provided data and a frozen test set.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All numbers are produced by scripts/evaluate.py and artifacts/stress.json; nothing is typed by hand.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08 / 12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566928" y="2103120"/>
            <a:ext cx="1764792" cy="1234440"/>
          </a:xfrm>
          <a:prstGeom prst="roundRect">
            <a:avLst>
              <a:gd name="adj" fmla="val 6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731520" y="2542032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100%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31520" y="2926080"/>
            <a:ext cx="1554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 Semibold"/>
              </a:rPr>
              <a:t>schema-valid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target ≥ 99%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427732" y="2103120"/>
            <a:ext cx="1764792" cy="1234440"/>
          </a:xfrm>
          <a:prstGeom prst="roundRect">
            <a:avLst>
              <a:gd name="adj" fmla="val 6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2592324" y="2542032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592324" y="2926080"/>
            <a:ext cx="1554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 Semibold"/>
              </a:rPr>
              <a:t>URL leaks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target 0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288536" y="2103120"/>
            <a:ext cx="1764792" cy="1234440"/>
          </a:xfrm>
          <a:prstGeom prst="roundRect">
            <a:avLst>
              <a:gd name="adj" fmla="val 6000"/>
            </a:avLst>
          </a:prstGeom>
          <a:solidFill>
            <a:srgbClr val="9DBFE3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4453128" y="2542032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3.00/3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453128" y="2926080"/>
            <a:ext cx="1554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 Semibold"/>
              </a:rPr>
              <a:t>step accuracy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vs hand-annotated gold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149340" y="2103120"/>
            <a:ext cx="1764792" cy="1234440"/>
          </a:xfrm>
          <a:prstGeom prst="roundRect">
            <a:avLst>
              <a:gd name="adj" fmla="val 6000"/>
            </a:avLst>
          </a:prstGeom>
          <a:solidFill>
            <a:srgbClr val="93CDB9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6313932" y="2542032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13932" y="2926080"/>
            <a:ext cx="1554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 Semibold"/>
              </a:rPr>
              <a:t>exact deeplinks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37 cases, 5 domains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8010144" y="2103120"/>
            <a:ext cx="1764792" cy="1234440"/>
          </a:xfrm>
          <a:prstGeom prst="roundRect">
            <a:avLst>
              <a:gd name="adj" fmla="val 6000"/>
            </a:avLst>
          </a:prstGeom>
          <a:solidFill>
            <a:srgbClr val="EE9A7E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8174736" y="2542032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80%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174736" y="2926080"/>
            <a:ext cx="1554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 Semibold"/>
              </a:rPr>
              <a:t>paraphrase hits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frozen test, target ≥ 80%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9870948" y="2103120"/>
            <a:ext cx="1764792" cy="1234440"/>
          </a:xfrm>
          <a:prstGeom prst="roundRect">
            <a:avLst>
              <a:gd name="adj" fmla="val 6000"/>
            </a:avLst>
          </a:prstGeom>
          <a:solidFill>
            <a:srgbClr val="C9C1B6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10035540" y="2542032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3.8 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0035540" y="2926080"/>
            <a:ext cx="1554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 Semibold"/>
              </a:rPr>
              <a:t>cold-path P95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target ≤ 8 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66928" y="356616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F2B66D"/>
                </a:solidFill>
                <a:latin typeface="Segoe UI Semibold"/>
              </a:rPr>
              <a:t>INNOVATION HIGHLIGHTS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2688" y="3886200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Evidence-locked steps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the LLM can never author a step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32688" y="4306824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Compiled catalog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397 screens × on / off / open / set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32688" y="4727448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Relevance Gate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honest no_match on wrong articles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32688" y="5148072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Contrastive cache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per-entry τ + symbolic facet guard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32688" y="5568696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Conditional polarity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one screen, two step groups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32688" y="5989320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Closed loop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verbatim validation probes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4069080" y="3566160"/>
            <a:ext cx="4023360" cy="27889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/>
          <p:cNvSpPr txBox="1"/>
          <p:nvPr/>
        </p:nvSpPr>
        <p:spPr>
          <a:xfrm>
            <a:off x="4251960" y="3675887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EXACT DEEPLINKS · SAME 37 INPUTS</a:t>
            </a:r>
          </a:p>
        </p:txBody>
      </p:sp>
      <p:graphicFrame>
        <p:nvGraphicFramePr>
          <p:cNvPr id="187" name="Chart 186"/>
          <p:cNvGraphicFramePr>
            <a:graphicFrameLocks noGrp="1"/>
          </p:cNvGraphicFramePr>
          <p:nvPr/>
        </p:nvGraphicFramePr>
        <p:xfrm>
          <a:off x="4160520" y="3931920"/>
          <a:ext cx="384048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88" name="Rounded Rectangle 187"/>
          <p:cNvSpPr/>
          <p:nvPr/>
        </p:nvSpPr>
        <p:spPr>
          <a:xfrm>
            <a:off x="8275320" y="3566160"/>
            <a:ext cx="3346704" cy="2788920"/>
          </a:xfrm>
          <a:prstGeom prst="roundRect">
            <a:avLst>
              <a:gd name="adj" fmla="val 6000"/>
            </a:avLst>
          </a:prstGeom>
          <a:solidFill>
            <a:srgbClr val="000000">
              <a:alpha val="26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8485632" y="3675887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EE9A7E"/>
                </a:solidFill>
                <a:latin typeface="Segoe UI Semibold"/>
              </a:rPr>
              <a:t>LIMITATIONS (HONEST)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759952" y="4005072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D2C7"/>
                </a:solidFill>
                <a:latin typeface="Segoe UI"/>
              </a:rPr>
              <a:t>Free-tier LLM: ~3 new scenarios per minute; overflow degrades to deterministic wording, never fails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759952" y="4581144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D2C7"/>
                </a:solidFill>
                <a:latin typeface="Segoe UI"/>
              </a:rPr>
              <a:t>22% of unseen rewordings still miss or mis-hit (frozen test)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8759952" y="5157216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D2C7"/>
                </a:solidFill>
                <a:latin typeface="Segoe UI"/>
              </a:rPr>
              <a:t>Facet lexicons cover six domains; new vocabulary relies on embeddings alone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8759952" y="5733288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D2C7"/>
                </a:solidFill>
                <a:latin typeface="Segoe UI"/>
              </a:rPr>
              <a:t>Validation probes shown on a simulated device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FF4DB0C2-61B3-6E88-B37D-9A51263710E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520" y="2240280"/>
            <a:ext cx="274320" cy="274320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0464105D-E05B-CE57-FD5C-5E8EF91C735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2324" y="2240280"/>
            <a:ext cx="274320" cy="274320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6561618C-7F34-C63A-85D3-E2EE1085F50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53128" y="2240280"/>
            <a:ext cx="274320" cy="274320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42938A7A-E27A-DBDB-B4D1-F0B819BD77E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13932" y="2240280"/>
            <a:ext cx="274320" cy="274320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B69B0165-B5A1-660D-F8E1-D9DC185A14B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174736" y="2240280"/>
            <a:ext cx="274320" cy="274320"/>
          </a:xfrm>
          <a:prstGeom prst="rect">
            <a:avLst/>
          </a:prstGeom>
        </p:spPr>
      </p:pic>
      <p:pic>
        <p:nvPicPr>
          <p:cNvPr id="13" name="icon">
            <a:extLst>
              <a:ext uri="{FF2B5EF4-FFF2-40B4-BE49-F238E27FC236}">
                <a16:creationId xmlns:a16="http://schemas.microsoft.com/office/drawing/2014/main" id="{CAC4D2E5-9C7C-6104-F528-D820544B88D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035540" y="2240280"/>
            <a:ext cx="274320" cy="274320"/>
          </a:xfrm>
          <a:prstGeom prst="rect">
            <a:avLst/>
          </a:prstGeom>
        </p:spPr>
      </p:pic>
      <p:pic>
        <p:nvPicPr>
          <p:cNvPr id="15" name="icon">
            <a:extLst>
              <a:ext uri="{FF2B5EF4-FFF2-40B4-BE49-F238E27FC236}">
                <a16:creationId xmlns:a16="http://schemas.microsoft.com/office/drawing/2014/main" id="{10EB5485-1D09-E37C-1E1D-46FB0C7CDE2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66928" y="3941063"/>
            <a:ext cx="237744" cy="237744"/>
          </a:xfrm>
          <a:prstGeom prst="rect">
            <a:avLst/>
          </a:prstGeom>
        </p:spPr>
      </p:pic>
      <p:pic>
        <p:nvPicPr>
          <p:cNvPr id="17" name="icon">
            <a:extLst>
              <a:ext uri="{FF2B5EF4-FFF2-40B4-BE49-F238E27FC236}">
                <a16:creationId xmlns:a16="http://schemas.microsoft.com/office/drawing/2014/main" id="{A095B85F-FF55-19F5-576C-A5202C200FC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6928" y="4361688"/>
            <a:ext cx="237744" cy="237744"/>
          </a:xfrm>
          <a:prstGeom prst="rect">
            <a:avLst/>
          </a:prstGeom>
        </p:spPr>
      </p:pic>
      <p:pic>
        <p:nvPicPr>
          <p:cNvPr id="19" name="icon">
            <a:extLst>
              <a:ext uri="{FF2B5EF4-FFF2-40B4-BE49-F238E27FC236}">
                <a16:creationId xmlns:a16="http://schemas.microsoft.com/office/drawing/2014/main" id="{8CBE65C5-21AC-9138-21B8-D9443615CF2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66928" y="4782312"/>
            <a:ext cx="237744" cy="237744"/>
          </a:xfrm>
          <a:prstGeom prst="rect">
            <a:avLst/>
          </a:prstGeom>
        </p:spPr>
      </p:pic>
      <p:pic>
        <p:nvPicPr>
          <p:cNvPr id="21" name="icon">
            <a:extLst>
              <a:ext uri="{FF2B5EF4-FFF2-40B4-BE49-F238E27FC236}">
                <a16:creationId xmlns:a16="http://schemas.microsoft.com/office/drawing/2014/main" id="{E4E7A307-531B-DD81-A6C2-4A0656667B4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66928" y="5202936"/>
            <a:ext cx="237744" cy="237744"/>
          </a:xfrm>
          <a:prstGeom prst="rect">
            <a:avLst/>
          </a:prstGeom>
        </p:spPr>
      </p:pic>
      <p:pic>
        <p:nvPicPr>
          <p:cNvPr id="23" name="icon">
            <a:extLst>
              <a:ext uri="{FF2B5EF4-FFF2-40B4-BE49-F238E27FC236}">
                <a16:creationId xmlns:a16="http://schemas.microsoft.com/office/drawing/2014/main" id="{CA12A16F-FEE8-626B-B436-8DCE6A398D5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66928" y="5623559"/>
            <a:ext cx="237744" cy="237744"/>
          </a:xfrm>
          <a:prstGeom prst="rect">
            <a:avLst/>
          </a:prstGeom>
        </p:spPr>
      </p:pic>
      <p:pic>
        <p:nvPicPr>
          <p:cNvPr id="25" name="icon">
            <a:extLst>
              <a:ext uri="{FF2B5EF4-FFF2-40B4-BE49-F238E27FC236}">
                <a16:creationId xmlns:a16="http://schemas.microsoft.com/office/drawing/2014/main" id="{3E8E151B-5A6F-8244-1AF5-CFEF951D609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928" y="6044184"/>
            <a:ext cx="237744" cy="237744"/>
          </a:xfrm>
          <a:prstGeom prst="rect">
            <a:avLst/>
          </a:prstGeom>
        </p:spPr>
      </p:pic>
      <p:pic>
        <p:nvPicPr>
          <p:cNvPr id="27" name="icon">
            <a:extLst>
              <a:ext uri="{FF2B5EF4-FFF2-40B4-BE49-F238E27FC236}">
                <a16:creationId xmlns:a16="http://schemas.microsoft.com/office/drawing/2014/main" id="{4506AAE8-F852-DAF2-9578-6D808322D2C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85632" y="4032504"/>
            <a:ext cx="182880" cy="182880"/>
          </a:xfrm>
          <a:prstGeom prst="rect">
            <a:avLst/>
          </a:prstGeom>
        </p:spPr>
      </p:pic>
      <p:pic>
        <p:nvPicPr>
          <p:cNvPr id="29" name="icon">
            <a:extLst>
              <a:ext uri="{FF2B5EF4-FFF2-40B4-BE49-F238E27FC236}">
                <a16:creationId xmlns:a16="http://schemas.microsoft.com/office/drawing/2014/main" id="{CCDB0AEA-689E-9FC1-8ECD-1A81870BCF8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85632" y="4608576"/>
            <a:ext cx="182880" cy="182880"/>
          </a:xfrm>
          <a:prstGeom prst="rect">
            <a:avLst/>
          </a:prstGeom>
        </p:spPr>
      </p:pic>
      <p:pic>
        <p:nvPicPr>
          <p:cNvPr id="31" name="icon">
            <a:extLst>
              <a:ext uri="{FF2B5EF4-FFF2-40B4-BE49-F238E27FC236}">
                <a16:creationId xmlns:a16="http://schemas.microsoft.com/office/drawing/2014/main" id="{588E2553-5DF3-E51A-027E-F700B95C486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85632" y="5184648"/>
            <a:ext cx="182880" cy="182880"/>
          </a:xfrm>
          <a:prstGeom prst="rect">
            <a:avLst/>
          </a:prstGeom>
        </p:spPr>
      </p:pic>
      <p:pic>
        <p:nvPicPr>
          <p:cNvPr id="33" name="icon">
            <a:extLst>
              <a:ext uri="{FF2B5EF4-FFF2-40B4-BE49-F238E27FC236}">
                <a16:creationId xmlns:a16="http://schemas.microsoft.com/office/drawing/2014/main" id="{D2D5845E-CCE1-3A71-A70A-B7C6B6DEC1A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85632" y="5760720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Picture 142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44" name="Oval 143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08  |  WHAT'S NEXT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From hackathon engine to Galaxy support worklet - every next step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reuses what is built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Each phase extends an existing component rather than adding a new system.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09 / 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749808" y="2487168"/>
            <a:ext cx="10689336" cy="22860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Oval 154"/>
          <p:cNvSpPr/>
          <p:nvPr/>
        </p:nvSpPr>
        <p:spPr>
          <a:xfrm>
            <a:off x="1435607" y="2377440"/>
            <a:ext cx="237744" cy="237744"/>
          </a:xfrm>
          <a:prstGeom prst="ellipse">
            <a:avLst/>
          </a:prstGeom>
          <a:solidFill>
            <a:srgbClr val="F2B66D"/>
          </a:solidFill>
          <a:ln w="22225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566928" y="20574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spc="200">
                <a:solidFill>
                  <a:srgbClr val="F2B66D"/>
                </a:solidFill>
                <a:latin typeface="Segoe UI Semibold"/>
              </a:rPr>
              <a:t>NOW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566928" y="2788920"/>
            <a:ext cx="2121408" cy="3017520"/>
          </a:xfrm>
          <a:prstGeom prst="roundRect">
            <a:avLst>
              <a:gd name="adj" fmla="val 6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49808" y="29443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F2B66D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749808" y="35661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TapTrace v1</a:t>
            </a:r>
          </a:p>
        </p:txBody>
      </p:sp>
      <p:sp>
        <p:nvSpPr>
          <p:cNvPr id="161" name="Oval 160"/>
          <p:cNvSpPr/>
          <p:nvPr/>
        </p:nvSpPr>
        <p:spPr>
          <a:xfrm>
            <a:off x="768096" y="4178808"/>
            <a:ext cx="64008" cy="64008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914400" y="406908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REST API + cache + gate</a:t>
            </a:r>
          </a:p>
        </p:txBody>
      </p:sp>
      <p:sp>
        <p:nvSpPr>
          <p:cNvPr id="163" name="Oval 162"/>
          <p:cNvSpPr/>
          <p:nvPr/>
        </p:nvSpPr>
        <p:spPr>
          <a:xfrm>
            <a:off x="768096" y="4681728"/>
            <a:ext cx="64008" cy="64008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914400" y="457200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37/37 deeplink benchmark</a:t>
            </a:r>
          </a:p>
        </p:txBody>
      </p:sp>
      <p:sp>
        <p:nvSpPr>
          <p:cNvPr id="165" name="Oval 164"/>
          <p:cNvSpPr/>
          <p:nvPr/>
        </p:nvSpPr>
        <p:spPr>
          <a:xfrm>
            <a:off x="768096" y="5184648"/>
            <a:ext cx="64008" cy="64008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914400" y="507492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metrics.md, Docker</a:t>
            </a:r>
          </a:p>
        </p:txBody>
      </p:sp>
      <p:sp>
        <p:nvSpPr>
          <p:cNvPr id="167" name="Oval 166"/>
          <p:cNvSpPr/>
          <p:nvPr/>
        </p:nvSpPr>
        <p:spPr>
          <a:xfrm>
            <a:off x="3666744" y="2377440"/>
            <a:ext cx="237744" cy="237744"/>
          </a:xfrm>
          <a:prstGeom prst="ellipse">
            <a:avLst/>
          </a:prstGeom>
          <a:solidFill>
            <a:srgbClr val="241A13"/>
          </a:solidFill>
          <a:ln w="22225">
            <a:solidFill>
              <a:srgbClr val="9DB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2798064" y="20574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spc="200">
                <a:solidFill>
                  <a:srgbClr val="9DBFE3"/>
                </a:solidFill>
                <a:latin typeface="Segoe UI Semibold"/>
              </a:rPr>
              <a:t>NEXT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2798064" y="2788920"/>
            <a:ext cx="2121408" cy="3017520"/>
          </a:xfrm>
          <a:prstGeom prst="roundRect">
            <a:avLst>
              <a:gd name="adj" fmla="val 6000"/>
            </a:avLst>
          </a:prstGeom>
          <a:solidFill>
            <a:srgbClr val="9DBFE3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2980944" y="29443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9DBFE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TextBox 171"/>
          <p:cNvSpPr txBox="1"/>
          <p:nvPr/>
        </p:nvSpPr>
        <p:spPr>
          <a:xfrm>
            <a:off x="2980944" y="35661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Learn from probes</a:t>
            </a:r>
          </a:p>
        </p:txBody>
      </p:sp>
      <p:sp>
        <p:nvSpPr>
          <p:cNvPr id="173" name="Oval 172"/>
          <p:cNvSpPr/>
          <p:nvPr/>
        </p:nvSpPr>
        <p:spPr>
          <a:xfrm>
            <a:off x="2999232" y="4178808"/>
            <a:ext cx="64008" cy="64008"/>
          </a:xfrm>
          <a:prstGeom prst="ellipse">
            <a:avLst/>
          </a:prstGeom>
          <a:solidFill>
            <a:srgbClr val="9DB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3145536" y="406908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validation results as labels</a:t>
            </a:r>
          </a:p>
        </p:txBody>
      </p:sp>
      <p:sp>
        <p:nvSpPr>
          <p:cNvPr id="175" name="Oval 174"/>
          <p:cNvSpPr/>
          <p:nvPr/>
        </p:nvSpPr>
        <p:spPr>
          <a:xfrm>
            <a:off x="2999232" y="4681728"/>
            <a:ext cx="64008" cy="64008"/>
          </a:xfrm>
          <a:prstGeom prst="ellipse">
            <a:avLst/>
          </a:prstGeom>
          <a:solidFill>
            <a:srgbClr val="9DB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3145536" y="457200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rank actions by fix rate</a:t>
            </a:r>
          </a:p>
        </p:txBody>
      </p:sp>
      <p:sp>
        <p:nvSpPr>
          <p:cNvPr id="177" name="Oval 176"/>
          <p:cNvSpPr/>
          <p:nvPr/>
        </p:nvSpPr>
        <p:spPr>
          <a:xfrm>
            <a:off x="2999232" y="5184648"/>
            <a:ext cx="64008" cy="64008"/>
          </a:xfrm>
          <a:prstGeom prst="ellipse">
            <a:avLst/>
          </a:prstGeom>
          <a:solidFill>
            <a:srgbClr val="9DB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3145536" y="507492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per-model feedback</a:t>
            </a:r>
          </a:p>
        </p:txBody>
      </p:sp>
      <p:sp>
        <p:nvSpPr>
          <p:cNvPr id="179" name="Oval 178"/>
          <p:cNvSpPr/>
          <p:nvPr/>
        </p:nvSpPr>
        <p:spPr>
          <a:xfrm>
            <a:off x="5897880" y="2377440"/>
            <a:ext cx="237744" cy="237744"/>
          </a:xfrm>
          <a:prstGeom prst="ellipse">
            <a:avLst/>
          </a:prstGeom>
          <a:solidFill>
            <a:srgbClr val="241A13"/>
          </a:solidFill>
          <a:ln w="22225">
            <a:solidFill>
              <a:srgbClr val="93CD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TextBox 179"/>
          <p:cNvSpPr txBox="1"/>
          <p:nvPr/>
        </p:nvSpPr>
        <p:spPr>
          <a:xfrm>
            <a:off x="5029200" y="20574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spc="200">
                <a:solidFill>
                  <a:srgbClr val="93CDB9"/>
                </a:solidFill>
                <a:latin typeface="Segoe UI Semibold"/>
              </a:rPr>
              <a:t>THEN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5029200" y="2788920"/>
            <a:ext cx="2121408" cy="3017520"/>
          </a:xfrm>
          <a:prstGeom prst="roundRect">
            <a:avLst>
              <a:gd name="adj" fmla="val 6000"/>
            </a:avLst>
          </a:prstGeom>
          <a:solidFill>
            <a:srgbClr val="93CDB9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Rounded Rectangle 181"/>
          <p:cNvSpPr/>
          <p:nvPr/>
        </p:nvSpPr>
        <p:spPr>
          <a:xfrm>
            <a:off x="5212080" y="29443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93CDB9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5212080" y="35661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Live SIIS retrieval</a:t>
            </a:r>
          </a:p>
        </p:txBody>
      </p:sp>
      <p:sp>
        <p:nvSpPr>
          <p:cNvPr id="185" name="Oval 184"/>
          <p:cNvSpPr/>
          <p:nvPr/>
        </p:nvSpPr>
        <p:spPr>
          <a:xfrm>
            <a:off x="5230368" y="4178808"/>
            <a:ext cx="64008" cy="64008"/>
          </a:xfrm>
          <a:prstGeom prst="ellipse">
            <a:avLst/>
          </a:prstGeom>
          <a:solidFill>
            <a:srgbClr val="93C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/>
          <p:cNvSpPr txBox="1"/>
          <p:nvPr/>
        </p:nvSpPr>
        <p:spPr>
          <a:xfrm>
            <a:off x="5376672" y="406908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hybrid search over the store</a:t>
            </a:r>
          </a:p>
        </p:txBody>
      </p:sp>
      <p:sp>
        <p:nvSpPr>
          <p:cNvPr id="187" name="Oval 186"/>
          <p:cNvSpPr/>
          <p:nvPr/>
        </p:nvSpPr>
        <p:spPr>
          <a:xfrm>
            <a:off x="5230368" y="4681728"/>
            <a:ext cx="64008" cy="64008"/>
          </a:xfrm>
          <a:prstGeom prst="ellipse">
            <a:avLst/>
          </a:prstGeom>
          <a:solidFill>
            <a:srgbClr val="93C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TextBox 187"/>
          <p:cNvSpPr txBox="1"/>
          <p:nvPr/>
        </p:nvSpPr>
        <p:spPr>
          <a:xfrm>
            <a:off x="5376672" y="457200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gate already scores fit</a:t>
            </a:r>
          </a:p>
        </p:txBody>
      </p:sp>
      <p:sp>
        <p:nvSpPr>
          <p:cNvPr id="189" name="Oval 188"/>
          <p:cNvSpPr/>
          <p:nvPr/>
        </p:nvSpPr>
        <p:spPr>
          <a:xfrm>
            <a:off x="5230368" y="5184648"/>
            <a:ext cx="64008" cy="64008"/>
          </a:xfrm>
          <a:prstGeom prst="ellipse">
            <a:avLst/>
          </a:prstGeom>
          <a:solidFill>
            <a:srgbClr val="93C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TextBox 189"/>
          <p:cNvSpPr txBox="1"/>
          <p:nvPr/>
        </p:nvSpPr>
        <p:spPr>
          <a:xfrm>
            <a:off x="5376672" y="507492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multi-document goals</a:t>
            </a:r>
          </a:p>
        </p:txBody>
      </p:sp>
      <p:sp>
        <p:nvSpPr>
          <p:cNvPr id="191" name="Oval 190"/>
          <p:cNvSpPr/>
          <p:nvPr/>
        </p:nvSpPr>
        <p:spPr>
          <a:xfrm>
            <a:off x="8129016" y="2377440"/>
            <a:ext cx="237744" cy="237744"/>
          </a:xfrm>
          <a:prstGeom prst="ellipse">
            <a:avLst/>
          </a:prstGeom>
          <a:solidFill>
            <a:srgbClr val="241A13"/>
          </a:solidFill>
          <a:ln w="22225">
            <a:solidFill>
              <a:srgbClr val="EE9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TextBox 191"/>
          <p:cNvSpPr txBox="1"/>
          <p:nvPr/>
        </p:nvSpPr>
        <p:spPr>
          <a:xfrm>
            <a:off x="7260336" y="20574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spc="200">
                <a:solidFill>
                  <a:srgbClr val="EE9A7E"/>
                </a:solidFill>
                <a:latin typeface="Segoe UI Semibold"/>
              </a:rPr>
              <a:t>LATER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7260336" y="2788920"/>
            <a:ext cx="2121408" cy="3017520"/>
          </a:xfrm>
          <a:prstGeom prst="roundRect">
            <a:avLst>
              <a:gd name="adj" fmla="val 6000"/>
            </a:avLst>
          </a:prstGeom>
          <a:solidFill>
            <a:srgbClr val="EE9A7E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Rounded Rectangle 193"/>
          <p:cNvSpPr/>
          <p:nvPr/>
        </p:nvSpPr>
        <p:spPr>
          <a:xfrm>
            <a:off x="7443216" y="29443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E9A7E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195"/>
          <p:cNvSpPr txBox="1"/>
          <p:nvPr/>
        </p:nvSpPr>
        <p:spPr>
          <a:xfrm>
            <a:off x="7443216" y="35661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Multilingual</a:t>
            </a:r>
          </a:p>
        </p:txBody>
      </p:sp>
      <p:sp>
        <p:nvSpPr>
          <p:cNvPr id="197" name="Oval 196"/>
          <p:cNvSpPr/>
          <p:nvPr/>
        </p:nvSpPr>
        <p:spPr>
          <a:xfrm>
            <a:off x="7461504" y="4178808"/>
            <a:ext cx="64008" cy="64008"/>
          </a:xfrm>
          <a:prstGeom prst="ellipse">
            <a:avLst/>
          </a:prstGeom>
          <a:solidFill>
            <a:srgbClr val="EE9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TextBox 197"/>
          <p:cNvSpPr txBox="1"/>
          <p:nvPr/>
        </p:nvSpPr>
        <p:spPr>
          <a:xfrm>
            <a:off x="7607808" y="406908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Hindi / Hinglish complaints</a:t>
            </a:r>
          </a:p>
        </p:txBody>
      </p:sp>
      <p:sp>
        <p:nvSpPr>
          <p:cNvPr id="199" name="Oval 198"/>
          <p:cNvSpPr/>
          <p:nvPr/>
        </p:nvSpPr>
        <p:spPr>
          <a:xfrm>
            <a:off x="7461504" y="4681728"/>
            <a:ext cx="64008" cy="64008"/>
          </a:xfrm>
          <a:prstGeom prst="ellipse">
            <a:avLst/>
          </a:prstGeom>
          <a:solidFill>
            <a:srgbClr val="EE9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TextBox 199"/>
          <p:cNvSpPr txBox="1"/>
          <p:nvPr/>
        </p:nvSpPr>
        <p:spPr>
          <a:xfrm>
            <a:off x="7607808" y="457200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multilingual embedder</a:t>
            </a:r>
          </a:p>
        </p:txBody>
      </p:sp>
      <p:sp>
        <p:nvSpPr>
          <p:cNvPr id="201" name="Oval 200"/>
          <p:cNvSpPr/>
          <p:nvPr/>
        </p:nvSpPr>
        <p:spPr>
          <a:xfrm>
            <a:off x="7461504" y="5184648"/>
            <a:ext cx="64008" cy="64008"/>
          </a:xfrm>
          <a:prstGeom prst="ellipse">
            <a:avLst/>
          </a:prstGeom>
          <a:solidFill>
            <a:srgbClr val="EE9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TextBox 201"/>
          <p:cNvSpPr txBox="1"/>
          <p:nvPr/>
        </p:nvSpPr>
        <p:spPr>
          <a:xfrm>
            <a:off x="7607808" y="507492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lexicons are data</a:t>
            </a:r>
          </a:p>
        </p:txBody>
      </p:sp>
      <p:sp>
        <p:nvSpPr>
          <p:cNvPr id="203" name="Oval 202"/>
          <p:cNvSpPr/>
          <p:nvPr/>
        </p:nvSpPr>
        <p:spPr>
          <a:xfrm>
            <a:off x="10360151" y="2377440"/>
            <a:ext cx="237744" cy="237744"/>
          </a:xfrm>
          <a:prstGeom prst="ellipse">
            <a:avLst/>
          </a:prstGeom>
          <a:solidFill>
            <a:srgbClr val="241A13"/>
          </a:solidFill>
          <a:ln w="22225">
            <a:solidFill>
              <a:srgbClr val="C9C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" name="TextBox 203"/>
          <p:cNvSpPr txBox="1"/>
          <p:nvPr/>
        </p:nvSpPr>
        <p:spPr>
          <a:xfrm>
            <a:off x="9491472" y="20574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spc="200">
                <a:solidFill>
                  <a:srgbClr val="C9C1B6"/>
                </a:solidFill>
                <a:latin typeface="Segoe UI Semibold"/>
              </a:rPr>
              <a:t>WORKLET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9491472" y="2788920"/>
            <a:ext cx="2121408" cy="3017520"/>
          </a:xfrm>
          <a:prstGeom prst="roundRect">
            <a:avLst>
              <a:gd name="adj" fmla="val 6000"/>
            </a:avLst>
          </a:prstGeom>
          <a:solidFill>
            <a:srgbClr val="C9C1B6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Rounded Rectangle 205"/>
          <p:cNvSpPr/>
          <p:nvPr/>
        </p:nvSpPr>
        <p:spPr>
          <a:xfrm>
            <a:off x="9674351" y="29443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C9C1B6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TextBox 207"/>
          <p:cNvSpPr txBox="1"/>
          <p:nvPr/>
        </p:nvSpPr>
        <p:spPr>
          <a:xfrm>
            <a:off x="9674351" y="35661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On-device</a:t>
            </a:r>
          </a:p>
        </p:txBody>
      </p:sp>
      <p:sp>
        <p:nvSpPr>
          <p:cNvPr id="209" name="Oval 208"/>
          <p:cNvSpPr/>
          <p:nvPr/>
        </p:nvSpPr>
        <p:spPr>
          <a:xfrm>
            <a:off x="9692640" y="4178808"/>
            <a:ext cx="64008" cy="64008"/>
          </a:xfrm>
          <a:prstGeom prst="ellipse">
            <a:avLst/>
          </a:prstGeom>
          <a:solidFill>
            <a:srgbClr val="C9C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TextBox 209"/>
          <p:cNvSpPr txBox="1"/>
          <p:nvPr/>
        </p:nvSpPr>
        <p:spPr>
          <a:xfrm>
            <a:off x="9838944" y="406908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~30 MB ONNX + ontology + cache</a:t>
            </a:r>
          </a:p>
        </p:txBody>
      </p:sp>
      <p:sp>
        <p:nvSpPr>
          <p:cNvPr id="211" name="Oval 210"/>
          <p:cNvSpPr/>
          <p:nvPr/>
        </p:nvSpPr>
        <p:spPr>
          <a:xfrm>
            <a:off x="9692640" y="4681728"/>
            <a:ext cx="64008" cy="64008"/>
          </a:xfrm>
          <a:prstGeom prst="ellipse">
            <a:avLst/>
          </a:prstGeom>
          <a:solidFill>
            <a:srgbClr val="C9C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TextBox 211"/>
          <p:cNvSpPr txBox="1"/>
          <p:nvPr/>
        </p:nvSpPr>
        <p:spPr>
          <a:xfrm>
            <a:off x="9838944" y="457200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voice in, confirmed taps out</a:t>
            </a:r>
          </a:p>
        </p:txBody>
      </p:sp>
      <p:sp>
        <p:nvSpPr>
          <p:cNvPr id="213" name="Oval 212"/>
          <p:cNvSpPr/>
          <p:nvPr/>
        </p:nvSpPr>
        <p:spPr>
          <a:xfrm>
            <a:off x="9692640" y="5184648"/>
            <a:ext cx="64008" cy="64008"/>
          </a:xfrm>
          <a:prstGeom prst="ellipse">
            <a:avLst/>
          </a:prstGeom>
          <a:solidFill>
            <a:srgbClr val="C9C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9838944" y="507492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offline Galaxy support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566928" y="5943600"/>
            <a:ext cx="11055096" cy="438912"/>
          </a:xfrm>
          <a:prstGeom prst="roundRect">
            <a:avLst>
              <a:gd name="adj" fmla="val 20000"/>
            </a:avLst>
          </a:prstGeom>
          <a:solidFill>
            <a:srgbClr val="000000">
              <a:alpha val="36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6" name="TextBox 215"/>
          <p:cNvSpPr txBox="1"/>
          <p:nvPr/>
        </p:nvSpPr>
        <p:spPr>
          <a:xfrm>
            <a:off x="841247" y="5943600"/>
            <a:ext cx="10506456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2B66D"/>
                </a:solidFill>
                <a:latin typeface="Segoe UI Semibold"/>
              </a:rPr>
              <a:t>Why it can become a worklet:  </a:t>
            </a:r>
            <a:r>
              <a:rPr sz="1050" b="0" i="0">
                <a:solidFill>
                  <a:srgbClr val="EDE5DA"/>
                </a:solidFill>
                <a:latin typeface="Segoe UI"/>
              </a:rPr>
              <a:t>the data audit, relevance gate and compiled ontology transfer to any catalog, and every decision is traceable for review.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B639ECC8-2AF6-45CF-E978-407DEB39946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3925" y="3058485"/>
            <a:ext cx="247253" cy="247253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2B428B7D-1D3E-C0FA-BF91-5578E78CE54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95061" y="3058485"/>
            <a:ext cx="247253" cy="247253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7C1DD288-33E1-6C6F-4665-B390910A1C4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26197" y="3058485"/>
            <a:ext cx="247253" cy="247253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87EE6626-CBBB-F9F6-0561-62C84259526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57333" y="3058485"/>
            <a:ext cx="247253" cy="247253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B7D77599-B28A-BE2D-F79D-D9F464304D4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788469" y="3058485"/>
            <a:ext cx="247253" cy="24725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Picture 148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50" name="Oval 149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09  |  BROWNIE POINTS (DIFFERENTIATION)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Where TapTrace differs from a typical pipeline -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with the evidence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 for each.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Each row points at code, data or a measurement in the repository.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10 / 12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566928" y="2103120"/>
            <a:ext cx="7589520" cy="425196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749808" y="2212848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A89F93"/>
                </a:solidFill>
                <a:latin typeface="Segoe UI Semibold"/>
              </a:rPr>
              <a:t>CAPABILITY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926080" y="221284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A89F93"/>
                </a:solidFill>
                <a:latin typeface="Segoe UI Semibold"/>
              </a:rPr>
              <a:t>TYPICAL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09160" y="221284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F2B66D"/>
                </a:solidFill>
                <a:latin typeface="Segoe UI Semibold"/>
              </a:rPr>
              <a:t>TAPTRACE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995160" y="221284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A89F93"/>
                </a:solidFill>
                <a:latin typeface="Segoe UI Semibold"/>
              </a:rPr>
              <a:t>EVIDENCE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704088" y="2542032"/>
            <a:ext cx="7315200" cy="13716"/>
          </a:xfrm>
          <a:prstGeom prst="rect">
            <a:avLst/>
          </a:prstGeom>
          <a:solidFill>
            <a:srgbClr val="8A7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749808" y="2615184"/>
            <a:ext cx="21031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 Semibold"/>
              </a:rPr>
              <a:t>Hallucinated steps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182112" y="2615184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possible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965192" y="2615184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impossible by construction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995160" y="2615184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A89F93"/>
                </a:solidFill>
                <a:latin typeface="Consolas"/>
              </a:rPr>
              <a:t>taptrace/siis.py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704088" y="3127248"/>
            <a:ext cx="731520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749808" y="3145536"/>
            <a:ext cx="21031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 Semibold"/>
              </a:rPr>
              <a:t>Wrong-document article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182112" y="3145536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extracts anyway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965192" y="3145536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no_match on 4/20, all as gold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995160" y="3145536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A89F93"/>
                </a:solidFill>
                <a:latin typeface="Consolas"/>
              </a:rPr>
              <a:t>eval/gold.json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04088" y="3657600"/>
            <a:ext cx="731520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TextBox 179"/>
          <p:cNvSpPr txBox="1"/>
          <p:nvPr/>
        </p:nvSpPr>
        <p:spPr>
          <a:xfrm>
            <a:off x="749808" y="3675887"/>
            <a:ext cx="21031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 Semibold"/>
              </a:rPr>
              <a:t>On / off twin deeplinks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82112" y="3675887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coin flip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965192" y="3675887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polarity picks the variant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995160" y="3675887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A89F93"/>
                </a:solidFill>
                <a:latin typeface="Consolas"/>
              </a:rPr>
              <a:t>resolver.py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704088" y="4187952"/>
            <a:ext cx="731520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749808" y="4206240"/>
            <a:ext cx="21031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 Semibold"/>
              </a:rPr>
              <a:t>Near-miss reset screen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182112" y="4206240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DL-0022 (wrong)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965192" y="4206240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abstains to dummy_positive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995160" y="4206240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A89F93"/>
                </a:solidFill>
                <a:latin typeface="Consolas"/>
              </a:rPr>
              <a:t>M20 in benchmark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704088" y="4718304"/>
            <a:ext cx="731520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TextBox 193"/>
          <p:cNvSpPr txBox="1"/>
          <p:nvPr/>
        </p:nvSpPr>
        <p:spPr>
          <a:xfrm>
            <a:off x="749808" y="4736592"/>
            <a:ext cx="21031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 Semibold"/>
              </a:rPr>
              <a:t>Cache false hits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182112" y="4736592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32% (dev)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4965192" y="4736592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5% (dev)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95160" y="4736592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A89F93"/>
                </a:solidFill>
                <a:latin typeface="Consolas"/>
              </a:rPr>
              <a:t>metrics.md §5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04088" y="5248656"/>
            <a:ext cx="731520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TextBox 200"/>
          <p:cNvSpPr txBox="1"/>
          <p:nvPr/>
        </p:nvSpPr>
        <p:spPr>
          <a:xfrm>
            <a:off x="749808" y="5266944"/>
            <a:ext cx="21031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 Semibold"/>
              </a:rPr>
              <a:t>validationDeeplink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182112" y="5266944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left null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965192" y="5266944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verbatim probe + demo ✓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6995160" y="5266944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A89F93"/>
                </a:solidFill>
                <a:latin typeface="Consolas"/>
              </a:rPr>
              <a:t>results.jsonl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704088" y="5779008"/>
            <a:ext cx="731520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TextBox 207"/>
          <p:cNvSpPr txBox="1"/>
          <p:nvPr/>
        </p:nvSpPr>
        <p:spPr>
          <a:xfrm>
            <a:off x="749808" y="5797296"/>
            <a:ext cx="21031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 Semibold"/>
              </a:rPr>
              <a:t>Runs without API key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3182112" y="5797296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no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965192" y="5797296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yes - deterministic + cache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6995160" y="5797296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A89F93"/>
                </a:solidFill>
                <a:latin typeface="Consolas"/>
              </a:rPr>
              <a:t>TAPTRACE_OFFLINE=1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8321040" y="2103120"/>
            <a:ext cx="3300984" cy="425196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8503920" y="221284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SEMANTIC CACHE · DEV SET</a:t>
            </a:r>
          </a:p>
        </p:txBody>
      </p:sp>
      <p:graphicFrame>
        <p:nvGraphicFramePr>
          <p:cNvPr id="216" name="Chart 215"/>
          <p:cNvGraphicFramePr>
            <a:graphicFrameLocks noGrp="1"/>
          </p:cNvGraphicFramePr>
          <p:nvPr/>
        </p:nvGraphicFramePr>
        <p:xfrm>
          <a:off x="8412480" y="2468880"/>
          <a:ext cx="31546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7" name="TextBox 216"/>
          <p:cNvSpPr txBox="1"/>
          <p:nvPr/>
        </p:nvSpPr>
        <p:spPr>
          <a:xfrm>
            <a:off x="8503920" y="5577840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Frozen test (never tuned on): 80% hits, 77.5% correct, 6.7% false hits.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C86DD8C8-2284-6FA5-CA59-D7811B4A422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6080" y="2761488"/>
            <a:ext cx="182880" cy="182880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85F91D8E-5E9C-3C34-9409-2728C553F31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160" y="2761488"/>
            <a:ext cx="182880" cy="182880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B4A7C590-028B-75BA-6622-05F0502FCFB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6080" y="3291840"/>
            <a:ext cx="182880" cy="182880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27B56703-5ECD-43EC-75A3-F839DC02400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160" y="3291840"/>
            <a:ext cx="182880" cy="182880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2470324C-08FC-F119-7C7E-C1F596CC31E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6080" y="3822191"/>
            <a:ext cx="182880" cy="182880"/>
          </a:xfrm>
          <a:prstGeom prst="rect">
            <a:avLst/>
          </a:prstGeom>
        </p:spPr>
      </p:pic>
      <p:pic>
        <p:nvPicPr>
          <p:cNvPr id="13" name="icon">
            <a:extLst>
              <a:ext uri="{FF2B5EF4-FFF2-40B4-BE49-F238E27FC236}">
                <a16:creationId xmlns:a16="http://schemas.microsoft.com/office/drawing/2014/main" id="{7E23C3B3-8BE7-E7E1-BA2C-00AEF28A7F5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160" y="3822191"/>
            <a:ext cx="182880" cy="182880"/>
          </a:xfrm>
          <a:prstGeom prst="rect">
            <a:avLst/>
          </a:prstGeom>
        </p:spPr>
      </p:pic>
      <p:pic>
        <p:nvPicPr>
          <p:cNvPr id="15" name="icon">
            <a:extLst>
              <a:ext uri="{FF2B5EF4-FFF2-40B4-BE49-F238E27FC236}">
                <a16:creationId xmlns:a16="http://schemas.microsoft.com/office/drawing/2014/main" id="{E327151B-FDD7-2D17-0F50-78D0983E8CA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6080" y="4352544"/>
            <a:ext cx="182880" cy="182880"/>
          </a:xfrm>
          <a:prstGeom prst="rect">
            <a:avLst/>
          </a:prstGeom>
        </p:spPr>
      </p:pic>
      <p:pic>
        <p:nvPicPr>
          <p:cNvPr id="17" name="icon">
            <a:extLst>
              <a:ext uri="{FF2B5EF4-FFF2-40B4-BE49-F238E27FC236}">
                <a16:creationId xmlns:a16="http://schemas.microsoft.com/office/drawing/2014/main" id="{9E9EB41C-9D6F-F693-D67F-B3574A21CF0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160" y="4352544"/>
            <a:ext cx="182880" cy="182880"/>
          </a:xfrm>
          <a:prstGeom prst="rect">
            <a:avLst/>
          </a:prstGeom>
        </p:spPr>
      </p:pic>
      <p:pic>
        <p:nvPicPr>
          <p:cNvPr id="19" name="icon">
            <a:extLst>
              <a:ext uri="{FF2B5EF4-FFF2-40B4-BE49-F238E27FC236}">
                <a16:creationId xmlns:a16="http://schemas.microsoft.com/office/drawing/2014/main" id="{CFCB1AA5-EBCE-BDFA-8C57-6130F7904C5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6080" y="4882896"/>
            <a:ext cx="182880" cy="182880"/>
          </a:xfrm>
          <a:prstGeom prst="rect">
            <a:avLst/>
          </a:prstGeom>
        </p:spPr>
      </p:pic>
      <p:pic>
        <p:nvPicPr>
          <p:cNvPr id="21" name="icon">
            <a:extLst>
              <a:ext uri="{FF2B5EF4-FFF2-40B4-BE49-F238E27FC236}">
                <a16:creationId xmlns:a16="http://schemas.microsoft.com/office/drawing/2014/main" id="{B37A3333-604C-8574-D1AD-A16D706B2F0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160" y="4882896"/>
            <a:ext cx="182880" cy="182880"/>
          </a:xfrm>
          <a:prstGeom prst="rect">
            <a:avLst/>
          </a:prstGeom>
        </p:spPr>
      </p:pic>
      <p:pic>
        <p:nvPicPr>
          <p:cNvPr id="23" name="icon">
            <a:extLst>
              <a:ext uri="{FF2B5EF4-FFF2-40B4-BE49-F238E27FC236}">
                <a16:creationId xmlns:a16="http://schemas.microsoft.com/office/drawing/2014/main" id="{33B4C9F2-A2B1-672D-A676-625674D7D52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6080" y="5413248"/>
            <a:ext cx="182880" cy="182880"/>
          </a:xfrm>
          <a:prstGeom prst="rect">
            <a:avLst/>
          </a:prstGeom>
        </p:spPr>
      </p:pic>
      <p:pic>
        <p:nvPicPr>
          <p:cNvPr id="25" name="icon">
            <a:extLst>
              <a:ext uri="{FF2B5EF4-FFF2-40B4-BE49-F238E27FC236}">
                <a16:creationId xmlns:a16="http://schemas.microsoft.com/office/drawing/2014/main" id="{9EA8116D-7B57-9ABD-94BA-04284B41730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160" y="5413248"/>
            <a:ext cx="182880" cy="182880"/>
          </a:xfrm>
          <a:prstGeom prst="rect">
            <a:avLst/>
          </a:prstGeom>
        </p:spPr>
      </p:pic>
      <p:pic>
        <p:nvPicPr>
          <p:cNvPr id="27" name="icon">
            <a:extLst>
              <a:ext uri="{FF2B5EF4-FFF2-40B4-BE49-F238E27FC236}">
                <a16:creationId xmlns:a16="http://schemas.microsoft.com/office/drawing/2014/main" id="{16F17542-B93A-03A2-8137-0BF896D6209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6080" y="5943600"/>
            <a:ext cx="182880" cy="182880"/>
          </a:xfrm>
          <a:prstGeom prst="rect">
            <a:avLst/>
          </a:prstGeom>
        </p:spPr>
      </p:pic>
      <p:pic>
        <p:nvPicPr>
          <p:cNvPr id="29" name="icon">
            <a:extLst>
              <a:ext uri="{FF2B5EF4-FFF2-40B4-BE49-F238E27FC236}">
                <a16:creationId xmlns:a16="http://schemas.microsoft.com/office/drawing/2014/main" id="{862AD4DD-6974-8840-8C8F-D088388419A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160" y="5943600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Picture 154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56" name="Oval 155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Oval 156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10  |  CHECKLIST - UPDATED ON PUBLIC GITHUB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Everything the submission guideline asks for is in the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tagged commit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Release tag PRISM_GENAI_HACKATHON_Y2026 marks the judged commit.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11 / 12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566928" y="2103120"/>
            <a:ext cx="11055096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Rounded Rectangle 166"/>
          <p:cNvSpPr/>
          <p:nvPr/>
        </p:nvSpPr>
        <p:spPr>
          <a:xfrm>
            <a:off x="694944" y="2194560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1298448" y="2103120"/>
            <a:ext cx="6217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Working prototype code - public or shared GitHub repo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040880" y="2103120"/>
            <a:ext cx="3291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github.com/Arnav020/Tap-Trace  ·  live: taptrace.onrender.com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10561320" y="2249424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 i="0">
                <a:solidFill>
                  <a:srgbClr val="F2B66D"/>
                </a:solidFill>
                <a:latin typeface="Segoe UI Semibold"/>
              </a:rPr>
              <a:t>YES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2807208"/>
            <a:ext cx="11055096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ounded Rectangle 172"/>
          <p:cNvSpPr/>
          <p:nvPr/>
        </p:nvSpPr>
        <p:spPr>
          <a:xfrm>
            <a:off x="694944" y="2898648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1298448" y="2807208"/>
            <a:ext cx="6217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README with reproducible setup: Docker, compose, venv, tests, evaluation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040880" y="2807208"/>
            <a:ext cx="3291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README.md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0561320" y="2953512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 i="0">
                <a:solidFill>
                  <a:srgbClr val="F2B66D"/>
                </a:solidFill>
                <a:latin typeface="Segoe UI Semibold"/>
              </a:rPr>
              <a:t>YES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566928" y="3511296"/>
            <a:ext cx="11055096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ounded Rectangle 178"/>
          <p:cNvSpPr/>
          <p:nvPr/>
        </p:nvSpPr>
        <p:spPr>
          <a:xfrm>
            <a:off x="694944" y="360273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1298448" y="3511296"/>
            <a:ext cx="6217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Demo video, max 5 minutes (YouTube or Drive)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040880" y="3511296"/>
            <a:ext cx="3291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https://youtu.be/72Otbd-1QvM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0561320" y="3657600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 i="0">
                <a:solidFill>
                  <a:srgbClr val="F2B66D"/>
                </a:solidFill>
                <a:latin typeface="Segoe UI Semibold"/>
              </a:rPr>
              <a:t>YES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566928" y="4215383"/>
            <a:ext cx="11055096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Rounded Rectangle 184"/>
          <p:cNvSpPr/>
          <p:nvPr/>
        </p:nvSpPr>
        <p:spPr>
          <a:xfrm>
            <a:off x="694944" y="4306823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1298448" y="4215383"/>
            <a:ext cx="6217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Presentation file named CollegeName_TeamName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040880" y="4215383"/>
            <a:ext cx="3291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submission/TIET_TapTrace.pptx + .pdf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0561320" y="436168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 i="0">
                <a:solidFill>
                  <a:srgbClr val="F2B66D"/>
                </a:solidFill>
                <a:latin typeface="Segoe UI Semibold"/>
              </a:rPr>
              <a:t>YES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566928" y="4919472"/>
            <a:ext cx="11055096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Rounded Rectangle 190"/>
          <p:cNvSpPr/>
          <p:nvPr/>
        </p:nvSpPr>
        <p:spPr>
          <a:xfrm>
            <a:off x="694944" y="5010912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1298448" y="4919472"/>
            <a:ext cx="6217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Release tag PRISM_GENAI_HACKATHON_Y2026 on the final commit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040880" y="4919472"/>
            <a:ext cx="3291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everything referenced is in the tagged commit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10561320" y="506577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 i="0">
                <a:solidFill>
                  <a:srgbClr val="F2B66D"/>
                </a:solidFill>
                <a:latin typeface="Segoe UI Semibold"/>
              </a:rPr>
              <a:t>YES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566928" y="5623560"/>
            <a:ext cx="11055096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Rounded Rectangle 196"/>
          <p:cNvSpPr/>
          <p:nvPr/>
        </p:nvSpPr>
        <p:spPr>
          <a:xfrm>
            <a:off x="694944" y="5715000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TextBox 198"/>
          <p:cNvSpPr txBox="1"/>
          <p:nvPr/>
        </p:nvSpPr>
        <p:spPr>
          <a:xfrm>
            <a:off x="1298448" y="5623560"/>
            <a:ext cx="6217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results.jsonl · metrics.md · AI disclosure form · docs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040880" y="5623560"/>
            <a:ext cx="3291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repository root · submission/ · docs/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10561320" y="5769864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 i="0">
                <a:solidFill>
                  <a:srgbClr val="F2B66D"/>
                </a:solidFill>
                <a:latin typeface="Segoe UI Semibold"/>
              </a:rPr>
              <a:t>YES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33A2B87F-BDF0-1FCA-A36E-5413A44713E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5893" y="2295509"/>
            <a:ext cx="218724" cy="218724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F49B5164-73EC-4DA1-FE1B-47C2F61DE89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5893" y="2999597"/>
            <a:ext cx="218724" cy="218724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248165E2-8DC3-7EBA-3546-48479EC7B18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5893" y="3703685"/>
            <a:ext cx="218724" cy="218724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00C21327-E81D-A50B-501E-7A26E75DDB9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5893" y="4407773"/>
            <a:ext cx="218724" cy="218724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21D42B11-957B-4337-596F-9E1CB494896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5893" y="5111861"/>
            <a:ext cx="218724" cy="218724"/>
          </a:xfrm>
          <a:prstGeom prst="rect">
            <a:avLst/>
          </a:prstGeom>
        </p:spPr>
      </p:pic>
      <p:pic>
        <p:nvPicPr>
          <p:cNvPr id="13" name="icon">
            <a:extLst>
              <a:ext uri="{FF2B5EF4-FFF2-40B4-BE49-F238E27FC236}">
                <a16:creationId xmlns:a16="http://schemas.microsoft.com/office/drawing/2014/main" id="{307C50B6-7660-B22E-5978-3A434505A80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5893" y="5815949"/>
            <a:ext cx="218724" cy="2187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Picture 161" descr="hero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63" name="Oval 162"/>
          <p:cNvSpPr/>
          <p:nvPr/>
        </p:nvSpPr>
        <p:spPr>
          <a:xfrm>
            <a:off x="685800" y="566928"/>
            <a:ext cx="310896" cy="310896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Oval 163"/>
          <p:cNvSpPr/>
          <p:nvPr/>
        </p:nvSpPr>
        <p:spPr>
          <a:xfrm>
            <a:off x="779068" y="660196"/>
            <a:ext cx="124358" cy="124358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1097280" y="530352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Segoe UI Semibold"/>
              </a:rPr>
              <a:t>TapTrace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85800" y="155448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0" i="0">
                <a:solidFill>
                  <a:srgbClr val="FFFFFF"/>
                </a:solidFill>
                <a:latin typeface="Segoe UI Semibold"/>
              </a:rPr>
              <a:t>Thank you.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85800" y="2514600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E6DDD1"/>
                </a:solidFill>
                <a:latin typeface="Segoe UI"/>
              </a:rPr>
              <a:t>Grounded steps. Exact screens. Honest answers when the knowledge does not fit.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85800" y="370332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F2B66D"/>
                </a:solidFill>
                <a:latin typeface="Segoe UI Semibold"/>
              </a:rPr>
              <a:t>100%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85800" y="427939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FC6BA"/>
                </a:solidFill>
                <a:latin typeface="Segoe UI"/>
              </a:rPr>
              <a:t>exact deeplinks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286000" y="370332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 Semibold"/>
              </a:rPr>
              <a:t>80%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286000" y="427939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FC6BA"/>
                </a:solidFill>
                <a:latin typeface="Segoe UI"/>
              </a:rPr>
              <a:t>paraphrase cache hits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886200" y="370332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 Semibold"/>
              </a:rPr>
              <a:t>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886200" y="427939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FC6BA"/>
                </a:solidFill>
                <a:latin typeface="Segoe UI"/>
              </a:rPr>
              <a:t>URL leaks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5486400" y="370332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 Semibold"/>
              </a:rPr>
              <a:t>4/20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486400" y="427939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FC6BA"/>
                </a:solidFill>
                <a:latin typeface="Segoe UI"/>
              </a:rPr>
              <a:t>wrong articles refused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85800" y="5806440"/>
            <a:ext cx="10835640" cy="9144"/>
          </a:xfrm>
          <a:prstGeom prst="rect">
            <a:avLst/>
          </a:prstGeom>
          <a:solidFill>
            <a:srgbClr val="5A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685800" y="5897880"/>
            <a:ext cx="10835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120">
                <a:solidFill>
                  <a:srgbClr val="CFC6BA"/>
                </a:solidFill>
                <a:latin typeface="Segoe UI"/>
              </a:rPr>
              <a:t>ARNAV JOSHI  ·  ajoshi4_be23@thapar.edu  ·  THAPAR INSTITUTE OF ENGINEERING &amp; TECHNOLOGY  ·  github.com/Arnav020/Tap-Trace  ·  LIVE taptrace.onrender.com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85800" y="6263640"/>
            <a:ext cx="10835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8A8176"/>
                </a:solidFill>
                <a:latin typeface="Segoe UI"/>
              </a:rPr>
              <a:t>Organised by the Language AI Team and the PRISM Team, Samsung R&amp;D Institute India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2445</Words>
  <Application>Microsoft Office PowerPoint</Application>
  <PresentationFormat>Widescreen</PresentationFormat>
  <Paragraphs>414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Arnav Joshi</cp:lastModifiedBy>
  <cp:revision>1</cp:revision>
  <dcterms:created xsi:type="dcterms:W3CDTF">2026-09-07T12:01:01Z</dcterms:created>
  <dcterms:modified xsi:type="dcterms:W3CDTF">2026-09-30T20:03:08Z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