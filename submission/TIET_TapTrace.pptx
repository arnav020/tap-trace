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D4F9-4624-A28C-C1FA71C873CA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D4F9-4624-A28C-C1FA71C873CA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D4F9-4624-A28C-C1FA71C873CA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D4F9-4624-A28C-C1FA71C873C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</c:v>
                </c:pt>
                <c:pt idx="2">
                  <c:v>Full LLM</c:v>
                </c:pt>
                <c:pt idx="3">
                  <c:v>TapTrace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46</c:v>
                </c:pt>
                <c:pt idx="2">
                  <c:v>81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4F9-4624-A28C-C1FA71C873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5F32-499D-AA5B-6CEC5D281991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5F32-499D-AA5B-6CEC5D281991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5F32-499D-AA5B-6CEC5D281991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5F32-499D-AA5B-6CEC5D281991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Pure rules</c:v>
                </c:pt>
                <c:pt idx="1">
                  <c:v>Hybrid BM25 + dense</c:v>
                </c:pt>
                <c:pt idx="2">
                  <c:v>Full-LLM mapping</c:v>
                </c:pt>
                <c:pt idx="3">
                  <c:v>TapTrace resolver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59.5</c:v>
                </c:pt>
                <c:pt idx="1">
                  <c:v>45.9</c:v>
                </c:pt>
                <c:pt idx="2">
                  <c:v>81.099999999999994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F32-499D-AA5B-6CEC5D28199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Global threshold</c:v>
                </c:pt>
              </c:strCache>
            </c:strRef>
          </c:tx>
          <c:spPr>
            <a:solidFill>
              <a:srgbClr val="6B6259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31.8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0E-49FD-8142-F3949D4AD1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TapTrace</c:v>
                </c:pt>
              </c:strCache>
            </c:strRef>
          </c:tx>
          <c:spPr>
            <a:solidFill>
              <a:srgbClr val="F2B66D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Correct hits</c:v>
                </c:pt>
                <c:pt idx="1">
                  <c:v>False hits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86.7</c:v>
                </c:pt>
                <c:pt idx="1">
                  <c:v>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70E-49FD-8142-F3949D4AD18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90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D9D2C7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jp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svg"/><Relationship Id="rId3" Type="http://schemas.openxmlformats.org/officeDocument/2006/relationships/image" Target="../media/image6.jp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svg"/><Relationship Id="rId4" Type="http://schemas.openxmlformats.org/officeDocument/2006/relationships/chart" Target="../charts/chart1.xml"/><Relationship Id="rId9" Type="http://schemas.openxmlformats.org/officeDocument/2006/relationships/image" Target="../media/image16.svg"/><Relationship Id="rId14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13" Type="http://schemas.openxmlformats.org/officeDocument/2006/relationships/image" Target="../media/image33.svg"/><Relationship Id="rId18" Type="http://schemas.openxmlformats.org/officeDocument/2006/relationships/image" Target="../media/image38.svg"/><Relationship Id="rId3" Type="http://schemas.openxmlformats.org/officeDocument/2006/relationships/image" Target="../media/image6.jpg"/><Relationship Id="rId21" Type="http://schemas.openxmlformats.org/officeDocument/2006/relationships/image" Target="../media/image40.sv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17" Type="http://schemas.openxmlformats.org/officeDocument/2006/relationships/image" Target="../media/image37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6.svg"/><Relationship Id="rId20" Type="http://schemas.openxmlformats.org/officeDocument/2006/relationships/image" Target="../media/image1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1.svg"/><Relationship Id="rId5" Type="http://schemas.openxmlformats.org/officeDocument/2006/relationships/image" Target="../media/image25.svg"/><Relationship Id="rId15" Type="http://schemas.openxmlformats.org/officeDocument/2006/relationships/image" Target="../media/image35.svg"/><Relationship Id="rId10" Type="http://schemas.openxmlformats.org/officeDocument/2006/relationships/image" Target="../media/image30.svg"/><Relationship Id="rId19" Type="http://schemas.openxmlformats.org/officeDocument/2006/relationships/image" Target="../media/image39.svg"/><Relationship Id="rId4" Type="http://schemas.openxmlformats.org/officeDocument/2006/relationships/image" Target="../media/image24.svg"/><Relationship Id="rId9" Type="http://schemas.openxmlformats.org/officeDocument/2006/relationships/image" Target="../media/image29.svg"/><Relationship Id="rId14" Type="http://schemas.openxmlformats.org/officeDocument/2006/relationships/image" Target="../media/image3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6.jp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13" Type="http://schemas.openxmlformats.org/officeDocument/2006/relationships/image" Target="../media/image55.svg"/><Relationship Id="rId18" Type="http://schemas.openxmlformats.org/officeDocument/2006/relationships/image" Target="../media/image11.svg"/><Relationship Id="rId3" Type="http://schemas.openxmlformats.org/officeDocument/2006/relationships/image" Target="../media/image6.jpg"/><Relationship Id="rId21" Type="http://schemas.openxmlformats.org/officeDocument/2006/relationships/image" Target="../media/image62.svg"/><Relationship Id="rId7" Type="http://schemas.openxmlformats.org/officeDocument/2006/relationships/image" Target="../media/image49.svg"/><Relationship Id="rId12" Type="http://schemas.openxmlformats.org/officeDocument/2006/relationships/image" Target="../media/image54.svg"/><Relationship Id="rId17" Type="http://schemas.openxmlformats.org/officeDocument/2006/relationships/image" Target="../media/image59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8.svg"/><Relationship Id="rId20" Type="http://schemas.openxmlformats.org/officeDocument/2006/relationships/image" Target="../media/image6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11" Type="http://schemas.openxmlformats.org/officeDocument/2006/relationships/image" Target="../media/image53.svg"/><Relationship Id="rId5" Type="http://schemas.openxmlformats.org/officeDocument/2006/relationships/image" Target="../media/image47.svg"/><Relationship Id="rId15" Type="http://schemas.openxmlformats.org/officeDocument/2006/relationships/image" Target="../media/image57.svg"/><Relationship Id="rId10" Type="http://schemas.openxmlformats.org/officeDocument/2006/relationships/image" Target="../media/image52.svg"/><Relationship Id="rId19" Type="http://schemas.openxmlformats.org/officeDocument/2006/relationships/image" Target="../media/image60.svg"/><Relationship Id="rId4" Type="http://schemas.openxmlformats.org/officeDocument/2006/relationships/image" Target="../media/image46.svg"/><Relationship Id="rId9" Type="http://schemas.openxmlformats.org/officeDocument/2006/relationships/image" Target="../media/image51.svg"/><Relationship Id="rId14" Type="http://schemas.openxmlformats.org/officeDocument/2006/relationships/image" Target="../media/image5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6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7.svg"/><Relationship Id="rId3" Type="http://schemas.openxmlformats.org/officeDocument/2006/relationships/image" Target="../media/image6.jpg"/><Relationship Id="rId7" Type="http://schemas.openxmlformats.org/officeDocument/2006/relationships/image" Target="../media/image67.svg"/><Relationship Id="rId12" Type="http://schemas.openxmlformats.org/officeDocument/2006/relationships/image" Target="../media/image70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29.svg"/><Relationship Id="rId5" Type="http://schemas.openxmlformats.org/officeDocument/2006/relationships/image" Target="../media/image66.svg"/><Relationship Id="rId15" Type="http://schemas.openxmlformats.org/officeDocument/2006/relationships/image" Target="../media/image71.svg"/><Relationship Id="rId10" Type="http://schemas.openxmlformats.org/officeDocument/2006/relationships/image" Target="../media/image69.svg"/><Relationship Id="rId4" Type="http://schemas.openxmlformats.org/officeDocument/2006/relationships/chart" Target="../charts/chart2.xml"/><Relationship Id="rId9" Type="http://schemas.openxmlformats.org/officeDocument/2006/relationships/image" Target="../media/image68.svg"/><Relationship Id="rId1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.jpg"/><Relationship Id="rId7" Type="http://schemas.openxmlformats.org/officeDocument/2006/relationships/image" Target="../media/image7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svg"/><Relationship Id="rId5" Type="http://schemas.openxmlformats.org/officeDocument/2006/relationships/image" Target="../media/image73.svg"/><Relationship Id="rId4" Type="http://schemas.openxmlformats.org/officeDocument/2006/relationships/image" Target="../media/image6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svg"/><Relationship Id="rId5" Type="http://schemas.openxmlformats.org/officeDocument/2006/relationships/image" Target="../media/image13.svg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6.jp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svg"/><Relationship Id="rId5" Type="http://schemas.openxmlformats.org/officeDocument/2006/relationships/image" Target="../media/image79.svg"/><Relationship Id="rId4" Type="http://schemas.openxmlformats.org/officeDocument/2006/relationships/image" Target="../media/image78.svg"/><Relationship Id="rId9" Type="http://schemas.openxmlformats.org/officeDocument/2006/relationships/image" Target="../media/image8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1" name="Oval 90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06040" y="717804"/>
            <a:ext cx="1097280" cy="9144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840480" y="5669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300">
                <a:solidFill>
                  <a:srgbClr val="CFC6BA"/>
                </a:solidFill>
                <a:latin typeface="Segoe UI"/>
              </a:rPr>
              <a:t>SAMSUNG PRISM  ·  GENAI HACKATHON 3.0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41732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From a vague complaint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to a </a:t>
            </a:r>
            <a:r>
              <a:rPr sz="4400" b="0" i="0">
                <a:solidFill>
                  <a:srgbClr val="F2B66D"/>
                </a:solidFill>
                <a:latin typeface="Segoe UI Semibold"/>
              </a:rPr>
              <a:t>verified fix</a:t>
            </a:r>
            <a:r>
              <a:rPr sz="4400" b="0" i="0">
                <a:solidFill>
                  <a:srgbClr val="FFFFFF"/>
                </a:solidFill>
                <a:latin typeface="Segoe UI Semibold"/>
              </a:rPr>
              <a:t>,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in one tap.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384048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E6DDD1"/>
                </a:solidFill>
                <a:latin typeface="Segoe UI"/>
              </a:rPr>
              <a:t>A grounded troubleshooting engine for Samsung PRISM Theme 02: every step traced to its source, every Settings fix one exact deeplink away, every repeat answered from cache in milliseconds.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Evidence-locked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67128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Exact-screen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deeplinks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39112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648456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Relevance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29784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Contrastive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cache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01768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85800" y="6144768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85800" y="6236208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CFC6BA"/>
                </a:solidFill>
                <a:latin typeface="Segoe UI"/>
              </a:rPr>
              <a:t>THEME ID 02   |   TEAM TAPTRACE   |   THAPAR INSTITUTE OF ENGINEERING &amp; TECHNOLOGY   |   ARNAV JOSHI · ajoshi4_be23@thapar.edu   |   github link to be added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3D9B2235-6977-4BBC-161B-32594A86A72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4892040"/>
            <a:ext cx="329184" cy="32918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B17726DF-5911-612B-F6FC-C9FE1873533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7128" y="4892040"/>
            <a:ext cx="329184" cy="32918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9BB99165-04D5-9274-270A-BEA0C1C5201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48456" y="4892040"/>
            <a:ext cx="329184" cy="32918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6EA5CD24-15C4-37D6-BA84-D3E9F72BDFA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9784" y="489204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Oval 10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01  |  THEME · THE PROBLEM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One vague sentence costs an agent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~15 minutes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— and the customer still hunts through Settings.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Theme 02 asks for a REST engine that turns such complaints into a grounded, ordered, one-tap plan under hard latency, cost and hygiene rules.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02 / 12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210312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95528" y="22677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THE INPUT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2560320"/>
            <a:ext cx="3200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F5EFE6"/>
                </a:solidFill>
                <a:latin typeface="Segoe UI"/>
              </a:rPr>
              <a:t>“My Nexa X1 screen inputs are delayed and the touch responsiveness is laggy, causing a noticeable delay when I try to interact with the phone.”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5528" y="39319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input.txt, line 19  +  SIIS ‘Touchscreen issues’ (9 sections)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5528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setting names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74519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technical terms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953512" y="4389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 i="0">
                <a:solidFill>
                  <a:srgbClr val="D9D2C7"/>
                </a:solidFill>
                <a:latin typeface="Segoe UI"/>
              </a:rPr>
              <a:t>no order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4315968" y="3611880"/>
            <a:ext cx="512064" cy="0"/>
          </a:xfrm>
          <a:prstGeom prst="line">
            <a:avLst/>
          </a:prstGeom>
          <a:ln w="25400">
            <a:solidFill>
              <a:srgbClr val="F2B6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4206240" y="32004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2B66D"/>
                </a:solidFill>
                <a:latin typeface="Segoe UI Semibold"/>
              </a:rPr>
              <a:t>3.1 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19472" y="2103120"/>
            <a:ext cx="6702552" cy="3017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138928" y="226771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THE REQUIRED OUTPUT (SCHEMA.PY CONTRACT)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38928" y="260604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goal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11696" y="260604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Follow these steps to perform this Touchscreen Lag Troubleshooting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138928" y="290779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title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11696" y="290779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Touchscreen lag recovery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266944" y="332841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449824" y="320954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actionName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022592" y="3209544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Configure Navigation Bar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266944" y="3630168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49824" y="351129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description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22592" y="3511296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"/>
              </a:rPr>
              <a:t>It will stop gestures blocking your taps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66944" y="3931920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5449824" y="381304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category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022592" y="3813048"/>
            <a:ext cx="44897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auto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577840" y="4233672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760720" y="41148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steps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33488" y="4114800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 Display → Tap Navigation bar → Select Buttons to turn off full scree…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77840" y="4535424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760720" y="44165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actionableDeeplink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33488" y="4416552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Consolas"/>
              </a:rPr>
              <a:t>voiceassist://masked/act/2f3dd95259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4837176"/>
            <a:ext cx="109728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760720" y="4718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Consolas"/>
              </a:rPr>
              <a:t>validationDeeplink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333488" y="4718304"/>
            <a:ext cx="41788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2B66D"/>
                </a:solidFill>
                <a:latin typeface="Segoe UI"/>
              </a:rPr>
              <a:t>key = ‘Navigation bar’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6928" y="5330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HARD CONSTRAINTS WE ENFORCE IN CODE (THEME 2 PDF §4 AND §6)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94944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261872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0 URL leaks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regex gate on every field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788920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2916936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83864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5–7-word descriptions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validators + repair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10912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5138928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705856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Critical steps last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disruption-cost ordering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32904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ounded Rectangle 158"/>
          <p:cNvSpPr/>
          <p:nvPr/>
        </p:nvSpPr>
        <p:spPr>
          <a:xfrm>
            <a:off x="7360920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927848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300 ms cached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no LLM call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54896" y="5596128"/>
            <a:ext cx="2130552" cy="7315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9582912" y="57332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149840" y="5687568"/>
            <a:ext cx="13898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≤ 8 s cold</a:t>
            </a:r>
          </a:p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P95, two parallel LLM calls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2EF65604-67CE-C07A-84F4-C9684FB94E9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" y="5843016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429CD85D-46F1-97D2-E17A-2551EFAA7BE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26664" y="5843016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FDBF9006-4664-69A6-8563-D756690F238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48656" y="5843016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9AA7F407-7616-D42E-24F5-ACCCFDED8F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70648" y="5843016"/>
            <a:ext cx="237744" cy="23774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8F17DE7F-03E3-3739-621D-630C3E7992B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92640" y="5843016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02  |  EXISTING SOLUTIONS &amp; GAPS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provided data is adversarial — a textbook RAG pipeline walks into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six traps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We audited all 578 catalog rows and 20 SIIS articles before writing code (docs/DATA_AUDIT.md).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03 / 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2103120"/>
            <a:ext cx="2788920" cy="425196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768096" y="224942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TEXTBOOK PIPELINE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68096" y="257860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1207007" y="257860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LLM writes the steps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096" y="308152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207007" y="308152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Top-1 embedding match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8096" y="358444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207007" y="358444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One global cache threshold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68096" y="4087368"/>
            <a:ext cx="2377440" cy="402336"/>
          </a:xfrm>
          <a:prstGeom prst="roundRect">
            <a:avLst>
              <a:gd name="adj" fmla="val 20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207007" y="4087368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Trust any SIIS article</a:t>
            </a:r>
          </a:p>
        </p:txBody>
      </p:sp>
      <p:graphicFrame>
        <p:nvGraphicFramePr>
          <p:cNvPr id="136" name="Chart 135"/>
          <p:cNvGraphicFramePr>
            <a:graphicFrameLocks noGrp="1"/>
          </p:cNvGraphicFramePr>
          <p:nvPr/>
        </p:nvGraphicFramePr>
        <p:xfrm>
          <a:off x="612648" y="4846320"/>
          <a:ext cx="269748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7" name="TextBox 136"/>
          <p:cNvSpPr txBox="1"/>
          <p:nvPr/>
        </p:nvSpPr>
        <p:spPr>
          <a:xfrm>
            <a:off x="768096" y="4681728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D9D2C7"/>
                </a:solidFill>
                <a:latin typeface="Segoe UI Semibold"/>
              </a:rPr>
              <a:t>Exact deeplinks, 37-case benchmark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538728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3703320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233672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03320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TV &amp; appliance screens hidden in the phone catalog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703320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DL-0468 … DL-0569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950208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Catalog Compiler quarantines them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45352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6409944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6940296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09944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labels that name the wrong feature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09944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DL-0162 “Disable Grayscale” = mono audio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56832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Match on screen labels, never messages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951976" y="2103120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9116567" y="22677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646919" y="223113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0.94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116567" y="2798063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cosine of “won’t turn ON” vs “won’t turn OFF”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16567" y="3291839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embeddings are polarity-blind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63455" y="369417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Facet guard + per-entry 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538728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3703320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233672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4/20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03320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SIIS articles are the wrong document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703320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row_8: TV mirroring for a small phone screen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950208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Relevance Gate → honest no_match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245352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6409944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940296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DL-0022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409944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nearest entry to “factory data reset”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409944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it is the AUTO reset after failed unlocks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56832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Abstain → dummy_positive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951976" y="4261104"/>
            <a:ext cx="2596896" cy="202996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9116567" y="442569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9646919" y="43891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F5EFE6"/>
                </a:solidFill>
                <a:latin typeface="Segoe UI Semibold"/>
              </a:rPr>
              <a:t>12 words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16567" y="49560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5EFE6"/>
                </a:solidFill>
                <a:latin typeface="Segoe UI Semibold"/>
              </a:rPr>
              <a:t>in the official sample description (5–7 allowed)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9116567" y="5449824"/>
            <a:ext cx="2286000" cy="310896"/>
          </a:xfrm>
          <a:prstGeom prst="roundRect">
            <a:avLst>
              <a:gd name="adj" fmla="val 25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50" b="0" i="0">
                <a:solidFill>
                  <a:srgbClr val="D9D2C7"/>
                </a:solidFill>
                <a:latin typeface="Consolas"/>
              </a:rPr>
              <a:t>sample_output.json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363455" y="58521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Every field rule enforced in code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977605C0-EF1A-9316-DBB2-4096B2690CC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6112" y="2679191"/>
            <a:ext cx="219456" cy="21945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6FBD668B-88AB-E480-8D28-13E21A04FFF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2697479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B16ACB7E-5CDB-3143-3E9E-3ED49B9DC2E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6112" y="3182112"/>
            <a:ext cx="219456" cy="21945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9A711ECD-6D06-7262-5247-84FCD5563BE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20040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F500FA33-47F5-9CB0-8510-304D6FE2E2A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6112" y="3685032"/>
            <a:ext cx="219456" cy="21945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845C90ED-BA81-411F-A7C5-9119D5ED1D2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3703320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27B0AA94-9CCD-283B-3426-41984FF6CF5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6112" y="4187952"/>
            <a:ext cx="219456" cy="21945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C463729F-92B3-376E-43FB-74383D2F4E3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8648" y="4206240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6B9735BF-64CD-EB32-E1CC-C899587CC4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04269" y="2368661"/>
            <a:ext cx="218724" cy="21872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336D1D27-F107-4F4E-F4A3-019EB8E1293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3749039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7E3267D2-DDD7-2544-0CF3-A5D91913E6A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10893" y="2368661"/>
            <a:ext cx="218724" cy="21872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F4065287-8975-60EE-ABD4-30E499B31C7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3749039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1F4D313E-CA63-FE86-E11F-492D1C4550D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217517" y="2368661"/>
            <a:ext cx="218724" cy="218724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28416282-D164-92ED-A6E2-066E32DE928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3749039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F344BCAE-35B8-7773-1922-BDC0D017BB8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04269" y="4526645"/>
            <a:ext cx="218724" cy="21872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B4B024E9-DFE6-347F-334E-25B21F3446F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03320" y="5907024"/>
            <a:ext cx="182880" cy="182880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A6F17297-997D-E8A6-8323-1B349FD3A9D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10893" y="4526645"/>
            <a:ext cx="218724" cy="21872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BF736627-3D38-FBEF-147F-E7EBD053F9E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09944" y="5907024"/>
            <a:ext cx="182880" cy="182880"/>
          </a:xfrm>
          <a:prstGeom prst="rect">
            <a:avLst/>
          </a:prstGeom>
        </p:spPr>
      </p:pic>
      <p:pic>
        <p:nvPicPr>
          <p:cNvPr id="39" name="icon">
            <a:extLst>
              <a:ext uri="{FF2B5EF4-FFF2-40B4-BE49-F238E27FC236}">
                <a16:creationId xmlns:a16="http://schemas.microsoft.com/office/drawing/2014/main" id="{2B3DC62D-46A5-E63E-1219-94C44AF7623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17517" y="4526645"/>
            <a:ext cx="218724" cy="218724"/>
          </a:xfrm>
          <a:prstGeom prst="rect">
            <a:avLst/>
          </a:prstGeom>
        </p:spPr>
      </p:pic>
      <p:pic>
        <p:nvPicPr>
          <p:cNvPr id="41" name="icon">
            <a:extLst>
              <a:ext uri="{FF2B5EF4-FFF2-40B4-BE49-F238E27FC236}">
                <a16:creationId xmlns:a16="http://schemas.microsoft.com/office/drawing/2014/main" id="{F912F8A2-2AA4-D809-9CE7-4747AA9E88A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16567" y="5907024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1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4" name="Oval 11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03  |  OUR SOLUTION &amp; ARCHITECTURE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A five-stage pipeline where the LLM may select and name — but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never write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— a step.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Two LLM calls run in parallel on the cold path. Everything else is deterministic, tested code.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04 / 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6692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713232" y="2240280"/>
            <a:ext cx="365760" cy="365760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7043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Understand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8580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17043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Facet frame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symptom · part · component · on/off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9DBF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17043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A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canonical query, 10 paraphrases, hard negatives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8580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17043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hit in 3 ms, $0, no LLM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2679191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2804464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950768" y="2240280"/>
            <a:ext cx="365760" cy="36576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07968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Ground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923336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3407968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full · partial · none → no_match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3336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407968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SIIS normaliser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span ids, leak &amp; corrupt flags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923336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3407968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 units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verbatim steps + provenance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16728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5042001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188305" y="2240280"/>
            <a:ext cx="365760" cy="36576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45505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Resolve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60873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5645505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Catalog Compiler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397 screens × on/off/open/set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160873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5645505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Screen resolver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leaf label → fuzzy → abstain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160873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645505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+ probe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variant + validationDeeplink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154265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7279538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425842" y="2240280"/>
            <a:ext cx="365760" cy="36576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83042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Compose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398410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13970">
            <a:solidFill>
              <a:srgbClr val="EE9A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7883042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Stage B · LLM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select, group, name — no step text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98410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883042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Category &amp; order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auto → manual →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398410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7883042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Computed score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fit × grounding × mapping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9391802" y="3566160"/>
            <a:ext cx="116129" cy="0"/>
          </a:xfrm>
          <a:prstGeom prst="line">
            <a:avLst/>
          </a:prstGeom>
          <a:ln w="15875">
            <a:solidFill>
              <a:srgbClr val="8A817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Rounded Rectangle 175"/>
          <p:cNvSpPr/>
          <p:nvPr/>
        </p:nvSpPr>
        <p:spPr>
          <a:xfrm>
            <a:off x="9517075" y="2103120"/>
            <a:ext cx="2103120" cy="297180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9663379" y="2240280"/>
            <a:ext cx="365760" cy="365760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120579" y="224028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Guarantee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635947" y="2743200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0120579" y="2816352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Output gate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organisers’ schema · URI set · 0 leaks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635947" y="3502152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10120579" y="3575304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write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τ from own ± clouds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635947" y="4261104"/>
            <a:ext cx="1865376" cy="658368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0120579" y="4334256"/>
            <a:ext cx="13350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REST API</a:t>
            </a:r>
          </a:p>
          <a:p>
            <a:pPr algn="l">
              <a:lnSpc>
                <a:spcPct val="95000"/>
              </a:lnSpc>
            </a:pPr>
            <a:r>
              <a:rPr sz="800" b="0" i="0">
                <a:solidFill>
                  <a:srgbClr val="A89F93"/>
                </a:solidFill>
                <a:latin typeface="Segoe UI"/>
              </a:rPr>
              <a:t>/v1/troubleshoot · /health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66928" y="5257800"/>
            <a:ext cx="76352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749808" y="53675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LATENCY BUDGET (MEASURED)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49808" y="5650992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Cache hit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984248" y="5669280"/>
            <a:ext cx="73152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normalise + facets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2715768" y="5669280"/>
            <a:ext cx="146304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embed (INT8 ONNX)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178808" y="5669280"/>
            <a:ext cx="822960" cy="219456"/>
          </a:xfrm>
          <a:prstGeom prst="rect">
            <a:avLst/>
          </a:prstGeom>
          <a:solidFill>
            <a:srgbClr val="F2B66D">
              <a:alpha val="14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F7D3A6"/>
                </a:solidFill>
                <a:latin typeface="Segoe UI"/>
              </a:rPr>
              <a:t>ANN + guard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93208" y="56509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P95 3.2 ms  ·  $0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749808" y="598932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Cold path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984248" y="6007608"/>
            <a:ext cx="640080" cy="219456"/>
          </a:xfrm>
          <a:prstGeom prst="rect">
            <a:avLst/>
          </a:prstGeom>
          <a:solidFill>
            <a:srgbClr val="C9C1B6">
              <a:alpha val="10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C9C1B6"/>
                </a:solidFill>
                <a:latin typeface="Segoe UI"/>
              </a:rPr>
              <a:t>gate + units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624328" y="6007608"/>
            <a:ext cx="2926080" cy="219456"/>
          </a:xfrm>
          <a:prstGeom prst="rect">
            <a:avLst/>
          </a:prstGeom>
          <a:solidFill>
            <a:srgbClr val="EE9A7E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EE9A7E"/>
                </a:solidFill>
                <a:latin typeface="Segoe UI"/>
              </a:rPr>
              <a:t>Stage A ∥ Stage B (LLM)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550408" y="6007608"/>
            <a:ext cx="914400" cy="219456"/>
          </a:xfrm>
          <a:prstGeom prst="rect">
            <a:avLst/>
          </a:prstGeom>
          <a:solidFill>
            <a:srgbClr val="93CDB9">
              <a:alpha val="13000"/>
            </a:srgbClr>
          </a:solidFill>
          <a:ln w="19050">
            <a:solidFill>
              <a:srgbClr val="00000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 i="0">
                <a:solidFill>
                  <a:srgbClr val="93CDB9"/>
                </a:solidFill>
                <a:latin typeface="Segoe UI"/>
              </a:rPr>
              <a:t>resolve + compose + gate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556248" y="59893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EE9A7E"/>
                </a:solidFill>
                <a:latin typeface="Segoe UI Semibold"/>
              </a:rPr>
              <a:t>P50 3.1 s  ·  P95 5.1 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8412480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8531352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$0.00064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cold query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500615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9619488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$0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per cache hit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0588751" y="5257800"/>
            <a:ext cx="1005840" cy="1097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10707624" y="5669280"/>
            <a:ext cx="868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2</a:t>
            </a:r>
          </a:p>
          <a:p>
            <a:pPr algn="l">
              <a:lnSpc>
                <a:spcPct val="95000"/>
              </a:lnSpc>
            </a:pPr>
            <a:r>
              <a:rPr sz="750" b="0" i="0">
                <a:solidFill>
                  <a:srgbClr val="A89F93"/>
                </a:solidFill>
                <a:latin typeface="Segoe UI"/>
              </a:rPr>
              <a:t>LLM calls per cold query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F03FAB26-0707-4D96-69A5-F1491F1445E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528" y="29260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E1B0B8A5-42D0-A957-C530-BCAE897F64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528" y="3685032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CB69C80E-320B-726E-AE60-B2D9AA29D73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528" y="4443984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E1FE17B0-44C5-2C29-6887-CFF7FADD6C4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33064" y="29260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1CD3CECF-22FE-0BB9-C9F7-254B11E6E57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3064" y="3685032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DF8C8ECA-91F7-391C-64D0-33D4BCA469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3064" y="4443984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80676823-9C2B-9777-ABAE-EBF5E010BF1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70601" y="2926080"/>
            <a:ext cx="274320" cy="27432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AB698ECE-C017-98BF-4AB1-51AC8DEE12C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0601" y="3685032"/>
            <a:ext cx="274320" cy="27432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236C676C-C5DE-FF7E-36B0-F1515D123D1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0601" y="4443984"/>
            <a:ext cx="274320" cy="27432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76AB0163-DFD7-D035-466A-6FD61BDC26D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08138" y="2926080"/>
            <a:ext cx="274320" cy="27432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785B7198-8E44-DDB6-0F1B-E36E0CF5D90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08138" y="3685032"/>
            <a:ext cx="274320" cy="27432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C903CDBA-2373-3A1B-DFBF-FB28417DDEC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08138" y="4443984"/>
            <a:ext cx="274320" cy="27432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032F8E0D-20F6-64D3-7C62-116AB4AC8F7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45675" y="2926080"/>
            <a:ext cx="274320" cy="27432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618A59B6-46EA-B80F-6AEB-E8DDF39DFEF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45675" y="3685032"/>
            <a:ext cx="274320" cy="27432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B27EB0B9-FD12-6F78-5EB3-0CEBDB06D76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45675" y="4443984"/>
            <a:ext cx="274320" cy="27432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1B1C0270-7C77-BB70-93C6-90915EAF1A8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31352" y="5376672"/>
            <a:ext cx="219456" cy="219456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819EA593-C244-A7D7-5CBE-6FE995B8838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19488" y="5376672"/>
            <a:ext cx="219456" cy="219456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83249117-DB7A-AE2F-9566-1C9006735E3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707624" y="537667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0" name="Oval 11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04  |  DEMO &amp; PRODUCT WALKTHROUGH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live console shows every step’s source sentence and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closes the loop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with a probe.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Real screenshot of demo/ served by the same container (device simulated in the browser).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05 / 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2057400"/>
            <a:ext cx="5856549" cy="4334256"/>
          </a:xfrm>
          <a:prstGeom prst="roundRect">
            <a:avLst>
              <a:gd name="adj" fmla="val 3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04088" y="2148840"/>
            <a:ext cx="91440" cy="91440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868680" y="2148840"/>
            <a:ext cx="91440" cy="9144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033271" y="2148840"/>
            <a:ext cx="91440" cy="91440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1298448" y="2112264"/>
            <a:ext cx="2926080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700" b="0" i="0">
                <a:solidFill>
                  <a:srgbClr val="A89F93"/>
                </a:solidFill>
                <a:latin typeface="Segoe UI"/>
              </a:rPr>
              <a:t>localhost:8000  ·  TapTrace console</a:t>
            </a:r>
          </a:p>
        </p:txBody>
      </p:sp>
      <p:pic>
        <p:nvPicPr>
          <p:cNvPr id="135" name="Picture 134" descr="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331720"/>
            <a:ext cx="5819973" cy="4041648"/>
          </a:xfrm>
          <a:prstGeom prst="rect">
            <a:avLst/>
          </a:prstGeom>
        </p:spPr>
      </p:pic>
      <p:sp>
        <p:nvSpPr>
          <p:cNvPr id="136" name="Oval 135"/>
          <p:cNvSpPr/>
          <p:nvPr/>
        </p:nvSpPr>
        <p:spPr>
          <a:xfrm>
            <a:off x="528888" y="533896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37" name="Oval 136"/>
          <p:cNvSpPr/>
          <p:nvPr/>
        </p:nvSpPr>
        <p:spPr>
          <a:xfrm>
            <a:off x="2084923" y="3757415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8" name="Oval 137"/>
          <p:cNvSpPr/>
          <p:nvPr/>
        </p:nvSpPr>
        <p:spPr>
          <a:xfrm>
            <a:off x="4385078" y="4579132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39" name="Oval 138"/>
          <p:cNvSpPr/>
          <p:nvPr/>
        </p:nvSpPr>
        <p:spPr>
          <a:xfrm>
            <a:off x="4385078" y="3750594"/>
            <a:ext cx="274320" cy="274320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697797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6862389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62389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Provenance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every plan step is highlighted in its source SIIS sentence, with span ids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243578" y="2057400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9408170" y="2221992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08170" y="2624328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Cache decision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exact or semantic hit with similarity ≥ per-entry τ at $0, or the guard that refused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697797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6862389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62389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One tap + probe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an auto step runs its deeplink; the validationDeeplink probe turns ✓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243578" y="3502152"/>
            <a:ext cx="2381189" cy="1298448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9408170" y="3666744"/>
            <a:ext cx="310896" cy="310896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08170" y="4069080"/>
            <a:ext cx="207029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EFE6"/>
                </a:solidFill>
                <a:latin typeface="Segoe UI Semibold"/>
              </a:rPr>
              <a:t>Conditional options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one screen, two step groups: ON with a screen protector, OFF without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697797" y="4946904"/>
            <a:ext cx="4926970" cy="1444752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6880677" y="5074920"/>
            <a:ext cx="456121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WHAT THE PHONE RECEIVED (RESULTS.JSONL, LINE 19)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880677" y="5367528"/>
            <a:ext cx="456121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"actionName": "Adjust Touch Sensitivity Setting",  "category": "auto",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"deeplink": "voiceassist://masked/act/14eb42b895",  "originalType": "onURL",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F2B66D"/>
                </a:solidFill>
                <a:latin typeface="Consolas"/>
              </a:rPr>
              <a:t>"validationDeeplink": {"key": "Touch sensitivity",</a:t>
            </a:r>
          </a:p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E6DDD1"/>
                </a:solidFill>
                <a:latin typeface="Consolas"/>
              </a:rPr>
              <a:t>    "condition": "equal", "value": "True"}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E56AF20F-F6AD-D8F7-FAA6-10BA16CF77A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8362" y="2240280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21D0D0E4-07F2-3A47-1978-4C94D2BE599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04143" y="2240280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F13332A3-58AE-BA02-F9F2-7AF6C22B5F9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58362" y="3685032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B889FCF8-BCD2-A0C8-1840-8A85000DA3C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04143" y="368503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2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6" name="Oval 12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05  |  TOOLS AND TECH STACK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Small,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CPU-only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and reproducible — one container, no GPU, and it runs even without an API key.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Every dependency is pinned in requirements.txt; the INT8 embedder and pre-warmed cache ship in the image.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06 /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SERVING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49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49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FastAPI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92808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892808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Uvicorn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49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49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Pydantic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892808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892808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ORJSON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154680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3337560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INTELLIGENCE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337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337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gpt-oss-120b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480560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4480560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Groq API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337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3337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MiniLM-L6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80560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480560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ONNX Runtime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742432" y="2103120"/>
            <a:ext cx="246888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5925312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DATA &amp; QUALITY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925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925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Python 3.12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068312" y="2606040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068312" y="322783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NumPy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925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5925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SQLite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068312" y="3776472"/>
            <a:ext cx="1005840" cy="1005840"/>
          </a:xfrm>
          <a:prstGeom prst="roundRect">
            <a:avLst>
              <a:gd name="adj" fmla="val 1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068312" y="4398264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3A322B"/>
                </a:solidFill>
                <a:latin typeface="Segoe UI"/>
              </a:rPr>
              <a:t>pytest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5193792"/>
            <a:ext cx="7653527" cy="1188720"/>
          </a:xfrm>
          <a:prstGeom prst="roundRect">
            <a:avLst>
              <a:gd name="adj" fmla="val 4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768096" y="530352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93CDB9"/>
                </a:solidFill>
                <a:latin typeface="Consolas"/>
              </a:rPr>
              <a:t>taptrace/  catalog.py · siis.py · facets.py · resolver.py · plan.py · cache.py · engine.py · api.py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scripts/   build_results · evaluate · stress_test · audit_report · build_deck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eval/      gold · mapping_benchmark · heldout + test paraphrases · hard_negatives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EDE5DA"/>
                </a:solidFill>
                <a:latin typeface="Consolas"/>
              </a:rPr>
              <a:t>Dockerfile · docker-compose.yml · results.jsonl · metrics.md · tests/ (20 gates)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430768" y="214883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9015984" y="210312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23 MB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INT8 ONNX embedder, 0.97 cosine vs FP32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8430768" y="30175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9015984" y="29718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1.6 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container cold start to healthy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430768" y="388619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9015984" y="384047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495 req/s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16 concurrent clients, 0 errors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430768" y="475487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9015984" y="4709159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20 gates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pytest: contract, traps, gate, cache, API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8430768" y="5623559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9015984" y="557784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5EFE6"/>
                </a:solidFill>
                <a:latin typeface="Segoe UI Semibold"/>
              </a:rPr>
              <a:t>0 keys</a:t>
            </a:r>
          </a:p>
          <a:p>
            <a:pPr algn="l"/>
            <a:r>
              <a:rPr sz="900" b="0" i="0">
                <a:solidFill>
                  <a:srgbClr val="A89F93"/>
                </a:solidFill>
                <a:latin typeface="Segoe UI"/>
              </a:rPr>
              <a:t>needed to run: deterministic path + cache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00BE82D0-2F6C-FBA0-8750-3BFB4F3E193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" y="2734056"/>
            <a:ext cx="402336" cy="40233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FA80A284-68CE-0612-24A0-21B39DA78A6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4560" y="2734056"/>
            <a:ext cx="402336" cy="402336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FE1DAD81-F475-802D-ECF0-D045C64EC02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3904487"/>
            <a:ext cx="402336" cy="40233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0C288410-F21F-568F-0E6F-15757DD43F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4560" y="3904487"/>
            <a:ext cx="402336" cy="402336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DE04ABD0-2EA4-A83A-28E5-C59DB4500D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39312" y="2734056"/>
            <a:ext cx="402336" cy="402336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91892F97-E250-DC23-7109-5177C6C1F7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82312" y="2734056"/>
            <a:ext cx="402336" cy="402336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F079BAF8-4D74-1FF2-752B-0E6E35C489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312" y="3904487"/>
            <a:ext cx="402336" cy="402336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80711B0D-69C1-D830-63BD-EE0CF370DDD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82312" y="3904487"/>
            <a:ext cx="402336" cy="402336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65FFFD09-ED32-F0A9-B34D-AEF09E1FF21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27064" y="2734056"/>
            <a:ext cx="402336" cy="402336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9FDFCB51-E871-9DDD-6D76-DBF0978097F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70064" y="2734056"/>
            <a:ext cx="402336" cy="402336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4D45E23A-410F-21BF-B829-600F8E763D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7064" y="3904487"/>
            <a:ext cx="402336" cy="402336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300E8CF1-07D8-E980-F69F-0EBFB2A2EFB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370064" y="3904487"/>
            <a:ext cx="402336" cy="402336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97D724A4-D3BF-62A4-B76A-5215B53757D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589520" y="5349240"/>
            <a:ext cx="457200" cy="45720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95249E71-25E7-C856-3243-E935DE306FB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540496" y="2258568"/>
            <a:ext cx="237744" cy="237744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BB16C506-8B72-2732-375E-24725ADDF1D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40496" y="3127248"/>
            <a:ext cx="237744" cy="23774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EE5F1A0B-9EE3-80C6-AE78-D9D087F99A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40496" y="3995927"/>
            <a:ext cx="237744" cy="237744"/>
          </a:xfrm>
          <a:prstGeom prst="rect">
            <a:avLst/>
          </a:prstGeom>
        </p:spPr>
      </p:pic>
      <p:pic>
        <p:nvPicPr>
          <p:cNvPr id="35" name="icon">
            <a:extLst>
              <a:ext uri="{FF2B5EF4-FFF2-40B4-BE49-F238E27FC236}">
                <a16:creationId xmlns:a16="http://schemas.microsoft.com/office/drawing/2014/main" id="{09527491-3644-CB8C-DA75-3FF87D0C829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496" y="4864607"/>
            <a:ext cx="237744" cy="237744"/>
          </a:xfrm>
          <a:prstGeom prst="rect">
            <a:avLst/>
          </a:prstGeom>
        </p:spPr>
      </p:pic>
      <p:pic>
        <p:nvPicPr>
          <p:cNvPr id="37" name="icon">
            <a:extLst>
              <a:ext uri="{FF2B5EF4-FFF2-40B4-BE49-F238E27FC236}">
                <a16:creationId xmlns:a16="http://schemas.microsoft.com/office/drawing/2014/main" id="{93B6D3EA-9F7F-8153-15EF-357A01EA73D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496" y="573328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3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2" name="Oval 13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06  |  IMPACT &amp; USE CASE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~15 minutes of manual triage 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~3 seconds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— and $0 for every repeat complaint.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About 293× faster on a new complaint; a cache hit is served in 2 ms.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07 / 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210312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95528" y="22402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TIME TO AN ACTIONABLE PLAN (TO SCALE)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95528" y="26517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21408" y="2724912"/>
            <a:ext cx="3291840" cy="219456"/>
          </a:xfrm>
          <a:prstGeom prst="rect">
            <a:avLst/>
          </a:prstGeom>
          <a:solidFill>
            <a:srgbClr val="6B6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486400" y="26517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D9D2C7"/>
                </a:solidFill>
                <a:latin typeface="Segoe UI Semibold"/>
              </a:rPr>
              <a:t>≈ 15 min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5528" y="3200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new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21408" y="3273552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240279" y="320040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3.1 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5528" y="37490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TapTrace, repeat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121408" y="3822191"/>
            <a:ext cx="45720" cy="219456"/>
          </a:xfrm>
          <a:prstGeom prst="rect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240279" y="3749039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2B66D"/>
                </a:solidFill>
                <a:latin typeface="Segoe UI Semibold"/>
              </a:rPr>
              <a:t>2 ms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5528" y="4114800"/>
            <a:ext cx="5120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8A8176"/>
                </a:solidFill>
                <a:latin typeface="Segoe UI"/>
              </a:rPr>
              <a:t>New-complaint time is the measured cold-path P50; repeat time is the measured cache-hit P50.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81928" y="2103120"/>
            <a:ext cx="5340096" cy="23317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492240" y="224028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AT PRODUCTION SCALE: 10,000 SCENARIOS (BROCHURE TARGET)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92240" y="2606040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Manual triage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229600" y="260604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2,500 agent-hours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at 15 min each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492240" y="3017520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492240" y="303580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TapTrace first pass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29600" y="3035808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≈ $6.40 LLM cost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8.5 h sequential; parallelisable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92240" y="3447288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492240" y="3465576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Every repeat after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0" y="3465576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$0  ·  milliseconds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served from the contrastive cache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492240" y="3877056"/>
            <a:ext cx="493776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492240" y="3895344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9D2C7"/>
                </a:solidFill>
                <a:latin typeface="Segoe UI"/>
              </a:rPr>
              <a:t>Mapping reuse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0" y="3895344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shared step-path memo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screens resolved once, reused everywhere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ounded Rectangle 167"/>
          <p:cNvSpPr/>
          <p:nvPr/>
        </p:nvSpPr>
        <p:spPr>
          <a:xfrm>
            <a:off x="749808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344168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Customer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49808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 text steps, then hunts nested menus.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49808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Taps once: the exact screen and toggle state opens; a probe confirms the fix.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288536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ounded Rectangle 173"/>
          <p:cNvSpPr/>
          <p:nvPr/>
        </p:nvSpPr>
        <p:spPr>
          <a:xfrm>
            <a:off x="4471416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5065776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Support agent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471416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Reads, selects and orders steps by hand.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71416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Gets an ordered plan with every step highlighted in its source article.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8010144" y="461772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ounded Rectangle 179"/>
          <p:cNvSpPr/>
          <p:nvPr/>
        </p:nvSpPr>
        <p:spPr>
          <a:xfrm>
            <a:off x="8193023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8787384" y="4754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Operations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3023" y="532180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8A8176"/>
                </a:solidFill>
                <a:latin typeface="Segoe UI Semibold"/>
              </a:rPr>
              <a:t>BEFORE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Wrong articles turn into wrong advice.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3023" y="57607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spc="150">
                <a:solidFill>
                  <a:srgbClr val="F2B66D"/>
                </a:solidFill>
                <a:latin typeface="Segoe UI Semibold"/>
              </a:rPr>
              <a:t>AFTER  </a:t>
            </a:r>
            <a:r>
              <a:rPr sz="950" b="0" i="0">
                <a:solidFill>
                  <a:srgbClr val="F5EFE6"/>
                </a:solidFill>
                <a:latin typeface="Segoe UI"/>
              </a:rPr>
              <a:t>Wrong-document tickets return no_match; ≈$0.0006 per new scenario.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D44032B7-1F1C-616B-C2E1-CB81D12C2FB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9536" y="4864608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313E22D1-6B2A-EA35-73B4-58F7248C824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81144" y="4864608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93AA6B19-1B5E-B8B7-F546-4C6ADA78906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2751" y="486460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3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8" name="Oval 13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07  |  INNOVATION HIGHLIGHTS, RESULTS AND LIMITATIONS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2B66D"/>
                </a:solidFill>
                <a:latin typeface="Segoe UI Semibold"/>
              </a:rPr>
              <a:t>Every target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in the brief is met — measured on the provided data and a frozen test set.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All numbers are produced by scripts/evaluate.py and artifacts/stress.json; nothing is typed by hand.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08 / 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6692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3152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3152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schema-valid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≥ 99%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427732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592324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592324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URL leaks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0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288536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4453128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3.00/3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453128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step accuracy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vs hand-annotated gold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49340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3932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13932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exact deeplinks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37 cases, 5 domains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010144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8174736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80%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74736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paraphrase hits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frozen test, target ≥ 80%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870948" y="2103120"/>
            <a:ext cx="1764792" cy="123444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0035540" y="2542032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5.1 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035540" y="2926080"/>
            <a:ext cx="1554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 Semibold"/>
              </a:rPr>
              <a:t>cold-path P95</a:t>
            </a:r>
          </a:p>
          <a:p>
            <a:pPr algn="l"/>
            <a:r>
              <a:rPr sz="800" b="0" i="0">
                <a:solidFill>
                  <a:srgbClr val="A89F93"/>
                </a:solidFill>
                <a:latin typeface="Segoe UI"/>
              </a:rPr>
              <a:t>target ≤ 8 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6928" y="35661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INNOVATION HIGHLIGHTS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2688" y="388620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Evidence-locked steps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the LLM can never author a step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32688" y="4306824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Compiled catalog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397 screens × on / off / open / 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2688" y="472744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Relevance Gate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honest no_match on wrong articles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32688" y="5148072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Contrastive cache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per-entry τ + symbolic facet guard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2688" y="556869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Conditional polarity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one screen, two step groups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32688" y="598932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Closed loop  </a:t>
            </a:r>
            <a:r>
              <a:rPr sz="950" b="0" i="0">
                <a:solidFill>
                  <a:srgbClr val="A89F93"/>
                </a:solidFill>
                <a:latin typeface="Segoe UI"/>
              </a:rPr>
              <a:t>verbatim validation probes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069080" y="3566160"/>
            <a:ext cx="402336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4251960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EXACT DEEPLINKS · SAME 37 INPUTS</a:t>
            </a:r>
          </a:p>
        </p:txBody>
      </p:sp>
      <p:graphicFrame>
        <p:nvGraphicFramePr>
          <p:cNvPr id="187" name="Chart 186"/>
          <p:cNvGraphicFramePr>
            <a:graphicFrameLocks noGrp="1"/>
          </p:cNvGraphicFramePr>
          <p:nvPr/>
        </p:nvGraphicFramePr>
        <p:xfrm>
          <a:off x="4160520" y="3931920"/>
          <a:ext cx="384048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8" name="Rounded Rectangle 187"/>
          <p:cNvSpPr/>
          <p:nvPr/>
        </p:nvSpPr>
        <p:spPr>
          <a:xfrm>
            <a:off x="8275320" y="3566160"/>
            <a:ext cx="3346704" cy="278892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8485632" y="3675887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EE9A7E"/>
                </a:solidFill>
                <a:latin typeface="Segoe UI Semibold"/>
              </a:rPr>
              <a:t>LIMITATIONS (HONEST)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759952" y="400507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Free-tier LLM: ~3 new scenarios per minute; overflow degrades to deterministic wording, never fails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59952" y="4581144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22% of unseen rewordings still miss or mis-hit (frozen test)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759952" y="5157216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Facet lexicons cover six domains; new vocabulary relies on embeddings alone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759952" y="573328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D2C7"/>
                </a:solidFill>
                <a:latin typeface="Segoe UI"/>
              </a:rPr>
              <a:t>Validation probes shown on a simulated device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C7A3468A-EA9C-F991-004D-68C00DDED5F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2240280"/>
            <a:ext cx="274320" cy="27432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C34C6932-1BBB-DB34-3CD0-1D513323BD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324" y="2240280"/>
            <a:ext cx="274320" cy="27432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039EC2D1-4CA9-D40E-E31F-293BF75F5EB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3128" y="2240280"/>
            <a:ext cx="274320" cy="27432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D9C52D32-FAC6-C1E4-7195-9EADF61040E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3932" y="2240280"/>
            <a:ext cx="274320" cy="27432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7C1416C6-E635-CA35-83AE-07EA7DCBB74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74736" y="2240280"/>
            <a:ext cx="274320" cy="27432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B738B1D1-9A00-40FB-3C78-FA1A08D217F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035540" y="2240280"/>
            <a:ext cx="274320" cy="27432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70AC80E5-7655-CFE6-D6B4-97ACA4161E6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6928" y="3941063"/>
            <a:ext cx="237744" cy="237744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5C0F1CD3-F83E-20C1-9D76-BA47AEB1020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6928" y="4361688"/>
            <a:ext cx="237744" cy="237744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D658F103-5B89-F595-F4E9-44BC6CA2767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6928" y="4782312"/>
            <a:ext cx="237744" cy="23774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FE696FDF-F574-F86B-D7B0-C4E64F729B9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6928" y="5202936"/>
            <a:ext cx="237744" cy="237744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27E2D658-5523-8A35-B9F7-664D0BE0A5F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6928" y="5623559"/>
            <a:ext cx="237744" cy="23774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B6BBAC05-F005-8C15-3943-F8F3C366BFD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928" y="6044184"/>
            <a:ext cx="237744" cy="237744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3E213083-07D8-25EA-3A3F-45498A77669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032504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EC7E3E65-CD0D-1C44-CFEE-8F8016A2F40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4608576"/>
            <a:ext cx="182880" cy="182880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785F9A9B-6DD5-91FD-9490-9B8F66BB39A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184648"/>
            <a:ext cx="182880" cy="182880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1FD30518-11FB-5620-879C-3768493E843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576072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44" name="Oval 14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08  |  WHAT'S NEXT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From hackathon engine to Galaxy support worklet — every next step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reuses what is built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phase extends an existing component rather than adding a new system.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09 / 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49808" y="2487168"/>
            <a:ext cx="10689336" cy="2286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435607" y="2377440"/>
            <a:ext cx="237744" cy="237744"/>
          </a:xfrm>
          <a:prstGeom prst="ellipse">
            <a:avLst/>
          </a:prstGeom>
          <a:solidFill>
            <a:srgbClr val="F2B66D"/>
          </a:solidFill>
          <a:ln w="22225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566928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F2B66D"/>
                </a:solidFill>
                <a:latin typeface="Segoe UI Semibold"/>
              </a:rPr>
              <a:t>NOW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66928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49808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2B66D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749808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TapTrace v1</a:t>
            </a:r>
          </a:p>
        </p:txBody>
      </p:sp>
      <p:sp>
        <p:nvSpPr>
          <p:cNvPr id="161" name="Oval 160"/>
          <p:cNvSpPr/>
          <p:nvPr/>
        </p:nvSpPr>
        <p:spPr>
          <a:xfrm>
            <a:off x="768096" y="417880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14400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REST API + cache + gate</a:t>
            </a:r>
          </a:p>
        </p:txBody>
      </p:sp>
      <p:sp>
        <p:nvSpPr>
          <p:cNvPr id="163" name="Oval 162"/>
          <p:cNvSpPr/>
          <p:nvPr/>
        </p:nvSpPr>
        <p:spPr>
          <a:xfrm>
            <a:off x="768096" y="468172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914400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37/37 deeplink benchmark</a:t>
            </a:r>
          </a:p>
        </p:txBody>
      </p:sp>
      <p:sp>
        <p:nvSpPr>
          <p:cNvPr id="165" name="Oval 164"/>
          <p:cNvSpPr/>
          <p:nvPr/>
        </p:nvSpPr>
        <p:spPr>
          <a:xfrm>
            <a:off x="768096" y="5184648"/>
            <a:ext cx="64008" cy="6400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914400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metrics.md, Docker</a:t>
            </a:r>
          </a:p>
        </p:txBody>
      </p:sp>
      <p:sp>
        <p:nvSpPr>
          <p:cNvPr id="167" name="Oval 166"/>
          <p:cNvSpPr/>
          <p:nvPr/>
        </p:nvSpPr>
        <p:spPr>
          <a:xfrm>
            <a:off x="3666744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DB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2798064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DBFE3"/>
                </a:solidFill>
                <a:latin typeface="Segoe UI Semibold"/>
              </a:rPr>
              <a:t>NEXT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798064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2980944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DBFE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2980944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Learn from probes</a:t>
            </a:r>
          </a:p>
        </p:txBody>
      </p:sp>
      <p:sp>
        <p:nvSpPr>
          <p:cNvPr id="173" name="Oval 172"/>
          <p:cNvSpPr/>
          <p:nvPr/>
        </p:nvSpPr>
        <p:spPr>
          <a:xfrm>
            <a:off x="2999232" y="417880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145536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validation results as labels</a:t>
            </a:r>
          </a:p>
        </p:txBody>
      </p:sp>
      <p:sp>
        <p:nvSpPr>
          <p:cNvPr id="175" name="Oval 174"/>
          <p:cNvSpPr/>
          <p:nvPr/>
        </p:nvSpPr>
        <p:spPr>
          <a:xfrm>
            <a:off x="2999232" y="468172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3145536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rank actions by fix rate</a:t>
            </a:r>
          </a:p>
        </p:txBody>
      </p:sp>
      <p:sp>
        <p:nvSpPr>
          <p:cNvPr id="177" name="Oval 176"/>
          <p:cNvSpPr/>
          <p:nvPr/>
        </p:nvSpPr>
        <p:spPr>
          <a:xfrm>
            <a:off x="2999232" y="5184648"/>
            <a:ext cx="64008" cy="64008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145536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per-model feedback</a:t>
            </a:r>
          </a:p>
        </p:txBody>
      </p:sp>
      <p:sp>
        <p:nvSpPr>
          <p:cNvPr id="179" name="Oval 178"/>
          <p:cNvSpPr/>
          <p:nvPr/>
        </p:nvSpPr>
        <p:spPr>
          <a:xfrm>
            <a:off x="5897880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93CD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5029200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93CDB9"/>
                </a:solidFill>
                <a:latin typeface="Segoe UI Semibold"/>
              </a:rPr>
              <a:t>THEN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029200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5212080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93CDB9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5212080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Live SIIS retrieval</a:t>
            </a:r>
          </a:p>
        </p:txBody>
      </p:sp>
      <p:sp>
        <p:nvSpPr>
          <p:cNvPr id="185" name="Oval 184"/>
          <p:cNvSpPr/>
          <p:nvPr/>
        </p:nvSpPr>
        <p:spPr>
          <a:xfrm>
            <a:off x="5230368" y="417880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5376672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hybrid search over the store</a:t>
            </a:r>
          </a:p>
        </p:txBody>
      </p:sp>
      <p:sp>
        <p:nvSpPr>
          <p:cNvPr id="187" name="Oval 186"/>
          <p:cNvSpPr/>
          <p:nvPr/>
        </p:nvSpPr>
        <p:spPr>
          <a:xfrm>
            <a:off x="5230368" y="468172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5376672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gate already scores fit</a:t>
            </a:r>
          </a:p>
        </p:txBody>
      </p:sp>
      <p:sp>
        <p:nvSpPr>
          <p:cNvPr id="189" name="Oval 188"/>
          <p:cNvSpPr/>
          <p:nvPr/>
        </p:nvSpPr>
        <p:spPr>
          <a:xfrm>
            <a:off x="5230368" y="5184648"/>
            <a:ext cx="64008" cy="64008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5376672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multi-document goals</a:t>
            </a:r>
          </a:p>
        </p:txBody>
      </p:sp>
      <p:sp>
        <p:nvSpPr>
          <p:cNvPr id="191" name="Oval 190"/>
          <p:cNvSpPr/>
          <p:nvPr/>
        </p:nvSpPr>
        <p:spPr>
          <a:xfrm>
            <a:off x="8129016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EE9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7260336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E9A7E"/>
                </a:solidFill>
                <a:latin typeface="Segoe UI Semibold"/>
              </a:rPr>
              <a:t>LATER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7260336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3"/>
          <p:cNvSpPr/>
          <p:nvPr/>
        </p:nvSpPr>
        <p:spPr>
          <a:xfrm>
            <a:off x="7443216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9A7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7443216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Multilingual</a:t>
            </a:r>
          </a:p>
        </p:txBody>
      </p:sp>
      <p:sp>
        <p:nvSpPr>
          <p:cNvPr id="197" name="Oval 196"/>
          <p:cNvSpPr/>
          <p:nvPr/>
        </p:nvSpPr>
        <p:spPr>
          <a:xfrm>
            <a:off x="7461504" y="417880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/>
          <p:cNvSpPr txBox="1"/>
          <p:nvPr/>
        </p:nvSpPr>
        <p:spPr>
          <a:xfrm>
            <a:off x="7607808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Hindi / Hinglish complaints</a:t>
            </a:r>
          </a:p>
        </p:txBody>
      </p:sp>
      <p:sp>
        <p:nvSpPr>
          <p:cNvPr id="199" name="Oval 198"/>
          <p:cNvSpPr/>
          <p:nvPr/>
        </p:nvSpPr>
        <p:spPr>
          <a:xfrm>
            <a:off x="7461504" y="468172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7607808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multilingual embedder</a:t>
            </a:r>
          </a:p>
        </p:txBody>
      </p:sp>
      <p:sp>
        <p:nvSpPr>
          <p:cNvPr id="201" name="Oval 200"/>
          <p:cNvSpPr/>
          <p:nvPr/>
        </p:nvSpPr>
        <p:spPr>
          <a:xfrm>
            <a:off x="7461504" y="5184648"/>
            <a:ext cx="64008" cy="64008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7607808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lexicons are data</a:t>
            </a:r>
          </a:p>
        </p:txBody>
      </p:sp>
      <p:sp>
        <p:nvSpPr>
          <p:cNvPr id="203" name="Oval 202"/>
          <p:cNvSpPr/>
          <p:nvPr/>
        </p:nvSpPr>
        <p:spPr>
          <a:xfrm>
            <a:off x="10360151" y="2377440"/>
            <a:ext cx="237744" cy="237744"/>
          </a:xfrm>
          <a:prstGeom prst="ellipse">
            <a:avLst/>
          </a:prstGeom>
          <a:solidFill>
            <a:srgbClr val="241A13"/>
          </a:solidFill>
          <a:ln w="22225">
            <a:solidFill>
              <a:srgbClr val="C9C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Box 203"/>
          <p:cNvSpPr txBox="1"/>
          <p:nvPr/>
        </p:nvSpPr>
        <p:spPr>
          <a:xfrm>
            <a:off x="9491472" y="20574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C9C1B6"/>
                </a:solidFill>
                <a:latin typeface="Segoe UI Semibold"/>
              </a:rPr>
              <a:t>WORKLET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9491472" y="2788920"/>
            <a:ext cx="2121408" cy="3017520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ounded Rectangle 205"/>
          <p:cNvSpPr/>
          <p:nvPr/>
        </p:nvSpPr>
        <p:spPr>
          <a:xfrm>
            <a:off x="9674351" y="2944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C9C1B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9674351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On-device</a:t>
            </a:r>
          </a:p>
        </p:txBody>
      </p:sp>
      <p:sp>
        <p:nvSpPr>
          <p:cNvPr id="209" name="Oval 208"/>
          <p:cNvSpPr/>
          <p:nvPr/>
        </p:nvSpPr>
        <p:spPr>
          <a:xfrm>
            <a:off x="9692640" y="417880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/>
          <p:cNvSpPr txBox="1"/>
          <p:nvPr/>
        </p:nvSpPr>
        <p:spPr>
          <a:xfrm>
            <a:off x="9838944" y="406908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~30 MB ONNX + ontology + cache</a:t>
            </a:r>
          </a:p>
        </p:txBody>
      </p:sp>
      <p:sp>
        <p:nvSpPr>
          <p:cNvPr id="211" name="Oval 210"/>
          <p:cNvSpPr/>
          <p:nvPr/>
        </p:nvSpPr>
        <p:spPr>
          <a:xfrm>
            <a:off x="9692640" y="468172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9838944" y="457200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voice in, confirmed taps out</a:t>
            </a:r>
          </a:p>
        </p:txBody>
      </p:sp>
      <p:sp>
        <p:nvSpPr>
          <p:cNvPr id="213" name="Oval 212"/>
          <p:cNvSpPr/>
          <p:nvPr/>
        </p:nvSpPr>
        <p:spPr>
          <a:xfrm>
            <a:off x="9692640" y="5184648"/>
            <a:ext cx="64008" cy="64008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9838944" y="5074920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offline Galaxy support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566928" y="5943600"/>
            <a:ext cx="11055096" cy="438912"/>
          </a:xfrm>
          <a:prstGeom prst="roundRect">
            <a:avLst>
              <a:gd name="adj" fmla="val 20000"/>
            </a:avLst>
          </a:prstGeom>
          <a:solidFill>
            <a:srgbClr val="000000">
              <a:alpha val="3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841247" y="5943600"/>
            <a:ext cx="105064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2B66D"/>
                </a:solidFill>
                <a:latin typeface="Segoe UI Semibold"/>
              </a:rPr>
              <a:t>Why it can become a worklet:  </a:t>
            </a:r>
            <a:r>
              <a:rPr sz="1050" b="0" i="0">
                <a:solidFill>
                  <a:srgbClr val="EDE5DA"/>
                </a:solidFill>
                <a:latin typeface="Segoe UI"/>
              </a:rPr>
              <a:t>the data audit, relevance gate and compiled ontology transfer to any catalog, and every decision is traceable for review.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9835237B-9656-0BF9-372C-EC5B3099DD9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25" y="3058485"/>
            <a:ext cx="247253" cy="247253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622356B6-8914-C1AC-501A-9CF6BC681B6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95061" y="3058485"/>
            <a:ext cx="247253" cy="247253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31EF6336-2D92-E084-E924-B710DC8BBD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6197" y="3058485"/>
            <a:ext cx="247253" cy="247253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04A29102-C729-1DA5-6904-F16AFDF34F2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57333" y="3058485"/>
            <a:ext cx="247253" cy="247253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8713F952-2C1E-F1C9-B5CC-428C3A7E2DD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88469" y="3058485"/>
            <a:ext cx="247253" cy="2472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Picture 14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0" name="Oval 14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09  |  BROWNIE POINTS (DIFFERENTIATION)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Where TapTrace differs from a typical pipeline —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with the evidence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for each.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Each row points at code, data or a measurement in the repository.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10 / 12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66928" y="2103120"/>
            <a:ext cx="7589520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49808" y="221284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CAPABILITY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926080" y="22128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TYPICAL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709160" y="221284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F2B66D"/>
                </a:solidFill>
                <a:latin typeface="Segoe UI Semibold"/>
              </a:rPr>
              <a:t>TAPTRACE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95160" y="221284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00">
                <a:solidFill>
                  <a:srgbClr val="A89F93"/>
                </a:solidFill>
                <a:latin typeface="Segoe UI Semibold"/>
              </a:rPr>
              <a:t>EVIDENCE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4088" y="2542032"/>
            <a:ext cx="7315200" cy="13716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49808" y="261518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Hallucinated steps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82112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possible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965192" y="261518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impossible by construction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95160" y="261518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taptrace/siis.py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04088" y="312724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49808" y="314553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Wrong-document article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182112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extracts anyway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965192" y="314553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no_match on 4/20, all as gold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995160" y="314553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eval/gold.json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04088" y="3657600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749808" y="3675887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On / off twin deeplinks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coin flip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65192" y="3675887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polarity picks the variant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995160" y="3675887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resolver.py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4088" y="4187952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749808" y="4206240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Near-miss reset screen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82112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DL-0022 (wrong)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65192" y="4206240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abstains to dummy_positive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995160" y="4206240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M20 in benchmark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04088" y="4718304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749808" y="4736592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Cache false hits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182112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32% (dev)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65192" y="473659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5% (dev)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95160" y="4736592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metrics.md §5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04088" y="5248656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749808" y="5266944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validationDeeplink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182112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left null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965192" y="526694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verbatim probe + demo ✓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995160" y="5266944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results.jsonl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04088" y="5779008"/>
            <a:ext cx="7315200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49808" y="5797296"/>
            <a:ext cx="21031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F5EFE6"/>
                </a:solidFill>
                <a:latin typeface="Segoe UI Semibold"/>
              </a:rPr>
              <a:t>Runs without API key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182112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965192" y="57972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yes — deterministic + cache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995160" y="5797296"/>
            <a:ext cx="14630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A89F93"/>
                </a:solidFill>
                <a:latin typeface="Consolas"/>
              </a:rPr>
              <a:t>TAPTRACE_OFFLINE=1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321040" y="2103120"/>
            <a:ext cx="3300984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503920" y="221284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SEMANTIC CACHE · DEV SET</a:t>
            </a:r>
          </a:p>
        </p:txBody>
      </p:sp>
      <p:graphicFrame>
        <p:nvGraphicFramePr>
          <p:cNvPr id="216" name="Chart 215"/>
          <p:cNvGraphicFramePr>
            <a:graphicFrameLocks noGrp="1"/>
          </p:cNvGraphicFramePr>
          <p:nvPr/>
        </p:nvGraphicFramePr>
        <p:xfrm>
          <a:off x="8412480" y="2468880"/>
          <a:ext cx="31546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7" name="TextBox 216"/>
          <p:cNvSpPr txBox="1"/>
          <p:nvPr/>
        </p:nvSpPr>
        <p:spPr>
          <a:xfrm>
            <a:off x="8503920" y="55778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Frozen test (never tuned on): 80% hits, 77.5% correct, 6.7% false hits.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7F51E7B0-E2B4-E0A7-9316-914D54ACB7E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2761488"/>
            <a:ext cx="182880" cy="182880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59C235D5-6FE6-0EC7-DEE4-7D0163AD40F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2761488"/>
            <a:ext cx="182880" cy="182880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2E94D91D-F6CF-49BC-6601-521744B146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291840"/>
            <a:ext cx="182880" cy="182880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7C4DB75B-D75F-D04A-C4E5-A9B8F42311C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291840"/>
            <a:ext cx="182880" cy="182880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896310F7-0F91-C434-0DB9-B6785A84647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3822191"/>
            <a:ext cx="182880" cy="182880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5E3F4045-336E-F8EE-E23E-B2E18ED0BE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3822191"/>
            <a:ext cx="182880" cy="182880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258C837B-BE34-BFFB-77E2-4E8142BA22B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352544"/>
            <a:ext cx="182880" cy="182880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93C711D3-F5D1-6D0B-B389-AA17DF11C0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352544"/>
            <a:ext cx="182880" cy="182880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68F9D33B-B32C-F348-81D7-A5312F548BC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4882896"/>
            <a:ext cx="182880" cy="182880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E4830732-41C7-1858-35C6-5C44D87A80E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4882896"/>
            <a:ext cx="182880" cy="182880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56010AD8-F63A-CD01-7634-1AC5337D2CD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413248"/>
            <a:ext cx="182880" cy="182880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828A032C-C2EC-DB75-A2C5-4C54EF940DD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413248"/>
            <a:ext cx="182880" cy="182880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12D6F23C-3797-6A4B-27D5-8B60E8BD85F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6080" y="5943600"/>
            <a:ext cx="182880" cy="182880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188C00A8-B60E-CE49-E3F3-F41B5170054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160" y="594360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15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10  |  CHECKLIST — UPDATED ON PUBLIC GITHUB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Everything the submission guideline asks for is in the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tagged commit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Release tag PRISM_GENAI_HACKATHON_Y2026 marks the judged commit.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11 / 12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66928" y="210312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694944" y="219456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298448" y="210312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Working prototype code — public or shared GitHub repo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040880" y="210312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github link to be added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0561320" y="224942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EE9A7E"/>
                </a:solidFill>
                <a:latin typeface="Segoe UI Semibold"/>
              </a:rPr>
              <a:t>TO ADD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2807208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694944" y="289864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298448" y="2807208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README with reproducible setup: Docker, compose, venv, tests, evaluation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040880" y="2807208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README.md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561320" y="29535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3511296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178"/>
          <p:cNvSpPr/>
          <p:nvPr/>
        </p:nvSpPr>
        <p:spPr>
          <a:xfrm>
            <a:off x="694944" y="36027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298448" y="3511296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Demo video, max 5 minutes (YouTube or Drive)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040880" y="3511296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video link to be added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561320" y="365760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EE9A7E"/>
                </a:solidFill>
                <a:latin typeface="Segoe UI Semibold"/>
              </a:rPr>
              <a:t>TO ADD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566928" y="4215383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ounded Rectangle 184"/>
          <p:cNvSpPr/>
          <p:nvPr/>
        </p:nvSpPr>
        <p:spPr>
          <a:xfrm>
            <a:off x="694944" y="4306823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298448" y="4215383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Presentation file named CollegeName_TeamName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0" y="4215383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submission/TIET_TapTrace.pptx + .pdf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561320" y="436168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566928" y="4919472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ounded Rectangle 190"/>
          <p:cNvSpPr/>
          <p:nvPr/>
        </p:nvSpPr>
        <p:spPr>
          <a:xfrm>
            <a:off x="694944" y="501091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298448" y="4919472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Release tag PRISM_GENAI_HACKATHON_Y2026 on the final commit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040880" y="4919472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everything referenced is in the tagged commit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10561320" y="506577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566928" y="5623560"/>
            <a:ext cx="11055096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ounded Rectangle 196"/>
          <p:cNvSpPr/>
          <p:nvPr/>
        </p:nvSpPr>
        <p:spPr>
          <a:xfrm>
            <a:off x="694944" y="5715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1298448" y="5623560"/>
            <a:ext cx="6217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5EFE6"/>
                </a:solidFill>
                <a:latin typeface="Segoe UI Semibold"/>
              </a:rPr>
              <a:t>results.jsonl · metrics.md · AI disclosure form · docs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040880" y="562356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repository root · submission/ · docs/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561320" y="576986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 i="0">
                <a:solidFill>
                  <a:srgbClr val="F2B66D"/>
                </a:solidFill>
                <a:latin typeface="Segoe UI Semibold"/>
              </a:rPr>
              <a:t>YES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12D78B92-F446-C8AF-F2FB-A3895272ABD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893" y="2295509"/>
            <a:ext cx="218724" cy="21872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DB584F9E-8B62-A5A2-2FAE-83BB5570BAE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893" y="2999597"/>
            <a:ext cx="218724" cy="21872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4DB53EBE-DF4C-540E-770E-0A0FD3037CE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893" y="3703685"/>
            <a:ext cx="218724" cy="21872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E46AF685-BEEE-68BA-E90C-E54FBF475D9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5893" y="4407773"/>
            <a:ext cx="218724" cy="218724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B726E166-F4B2-D406-A03F-80B63022F12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893" y="5111861"/>
            <a:ext cx="218724" cy="218724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892B6BD6-8EFD-EA43-8F4D-B8227A18F95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893" y="5815949"/>
            <a:ext cx="218724" cy="2187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Picture 161" descr="hero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63" name="Oval 162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85800" y="155448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85800" y="251460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E6DDD1"/>
                </a:solidFill>
                <a:latin typeface="Segoe UI"/>
              </a:rPr>
              <a:t>Grounded steps. Exact screens. Honest answers when the knowledge does not fit.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858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2B66D"/>
                </a:solidFill>
                <a:latin typeface="Segoe UI Semibold"/>
              </a:rPr>
              <a:t>100%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858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exact deeplinks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2860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2860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paraphrase cache hits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862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8862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URL leaks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864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4/20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4864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wrong articles refused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85800" y="5806440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85800" y="589788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20">
                <a:solidFill>
                  <a:srgbClr val="CFC6BA"/>
                </a:solidFill>
                <a:latin typeface="Segoe UI"/>
              </a:rPr>
              <a:t>ARNAV JOSHI  ·  ajoshi4_be23@thapar.edu  ·  THAPAR INSTITUTE OF ENGINEERING &amp; TECHNOLOGY  ·  github link to be added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85800" y="6263640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8A8176"/>
                </a:solidFill>
                <a:latin typeface="Segoe UI"/>
              </a:rPr>
              <a:t>Organised by the Language AI Team and the PRISM Team, Samsung R&amp;D Institute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2414</Words>
  <Application>Microsoft Office PowerPoint</Application>
  <PresentationFormat>Widescreen</PresentationFormat>
  <Paragraphs>413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Arnav Joshi</cp:lastModifiedBy>
  <cp:revision>1</cp:revision>
  <dcterms:created xsi:type="dcterms:W3CDTF">2026-09-07T12:01:01Z</dcterms:created>
  <dcterms:modified xsi:type="dcterms:W3CDTF">2026-09-30T14:19:18Z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