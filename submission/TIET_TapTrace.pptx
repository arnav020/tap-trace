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B6259"/>
              </a:solidFill>
            </c:spPr>
            <c:extLst>
              <c:ext xmlns:c16="http://schemas.microsoft.com/office/drawing/2014/chart" uri="{C3380CC4-5D6E-409C-BE32-E72D297353CC}">
                <c16:uniqueId val="{00000001-F88C-4D99-8FDC-47310BD78BBA}"/>
              </c:ext>
            </c:extLst>
          </c:dPt>
          <c:dPt>
            <c:idx val="1"/>
            <c:invertIfNegative val="1"/>
            <c:bubble3D val="0"/>
            <c:spPr>
              <a:solidFill>
                <a:srgbClr val="6B6259"/>
              </a:solidFill>
            </c:spPr>
            <c:extLst>
              <c:ext xmlns:c16="http://schemas.microsoft.com/office/drawing/2014/chart" uri="{C3380CC4-5D6E-409C-BE32-E72D297353CC}">
                <c16:uniqueId val="{00000003-F88C-4D99-8FDC-47310BD78BBA}"/>
              </c:ext>
            </c:extLst>
          </c:dPt>
          <c:dPt>
            <c:idx val="2"/>
            <c:invertIfNegative val="1"/>
            <c:bubble3D val="0"/>
            <c:spPr>
              <a:solidFill>
                <a:srgbClr val="6B6259"/>
              </a:solidFill>
            </c:spPr>
            <c:extLst>
              <c:ext xmlns:c16="http://schemas.microsoft.com/office/drawing/2014/chart" uri="{C3380CC4-5D6E-409C-BE32-E72D297353CC}">
                <c16:uniqueId val="{00000005-F88C-4D99-8FDC-47310BD78BBA}"/>
              </c:ext>
            </c:extLst>
          </c:dPt>
          <c:dPt>
            <c:idx val="3"/>
            <c:invertIfNegative val="1"/>
            <c:bubble3D val="0"/>
            <c:spPr>
              <a:solidFill>
                <a:srgbClr val="F2B66D"/>
              </a:solidFill>
            </c:spPr>
            <c:extLst>
              <c:ext xmlns:c16="http://schemas.microsoft.com/office/drawing/2014/chart" uri="{C3380CC4-5D6E-409C-BE32-E72D297353CC}">
                <c16:uniqueId val="{00000007-F88C-4D99-8FDC-47310BD78BBA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>
                    <a:solidFill>
                      <a:srgbClr val="F5EFE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Pure rules</c:v>
                </c:pt>
                <c:pt idx="1">
                  <c:v>Hybrid</c:v>
                </c:pt>
                <c:pt idx="2">
                  <c:v>Full LLM</c:v>
                </c:pt>
                <c:pt idx="3">
                  <c:v>TapTrace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</c:v>
                </c:pt>
                <c:pt idx="1">
                  <c:v>46</c:v>
                </c:pt>
                <c:pt idx="2">
                  <c:v>81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88C-4D99-8FDC-47310BD78BB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5A534B"/>
            </a:solidFill>
          </a:ln>
        </c:spPr>
        <c:txPr>
          <a:bodyPr/>
          <a:lstStyle/>
          <a:p>
            <a:pPr>
              <a:defRPr sz="950">
                <a:solidFill>
                  <a:srgbClr val="D9D2C7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5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50">
          <a:solidFill>
            <a:srgbClr val="D9D2C7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B6259"/>
              </a:solidFill>
            </c:spPr>
            <c:extLst>
              <c:ext xmlns:c16="http://schemas.microsoft.com/office/drawing/2014/chart" uri="{C3380CC4-5D6E-409C-BE32-E72D297353CC}">
                <c16:uniqueId val="{00000001-E838-420A-BA78-B12484192D31}"/>
              </c:ext>
            </c:extLst>
          </c:dPt>
          <c:dPt>
            <c:idx val="1"/>
            <c:invertIfNegative val="1"/>
            <c:bubble3D val="0"/>
            <c:spPr>
              <a:solidFill>
                <a:srgbClr val="6B6259"/>
              </a:solidFill>
            </c:spPr>
            <c:extLst>
              <c:ext xmlns:c16="http://schemas.microsoft.com/office/drawing/2014/chart" uri="{C3380CC4-5D6E-409C-BE32-E72D297353CC}">
                <c16:uniqueId val="{00000003-E838-420A-BA78-B12484192D31}"/>
              </c:ext>
            </c:extLst>
          </c:dPt>
          <c:dPt>
            <c:idx val="2"/>
            <c:invertIfNegative val="1"/>
            <c:bubble3D val="0"/>
            <c:spPr>
              <a:solidFill>
                <a:srgbClr val="6B6259"/>
              </a:solidFill>
            </c:spPr>
            <c:extLst>
              <c:ext xmlns:c16="http://schemas.microsoft.com/office/drawing/2014/chart" uri="{C3380CC4-5D6E-409C-BE32-E72D297353CC}">
                <c16:uniqueId val="{00000005-E838-420A-BA78-B12484192D31}"/>
              </c:ext>
            </c:extLst>
          </c:dPt>
          <c:dPt>
            <c:idx val="3"/>
            <c:invertIfNegative val="1"/>
            <c:bubble3D val="0"/>
            <c:spPr>
              <a:solidFill>
                <a:srgbClr val="F2B66D"/>
              </a:solidFill>
            </c:spPr>
            <c:extLst>
              <c:ext xmlns:c16="http://schemas.microsoft.com/office/drawing/2014/chart" uri="{C3380CC4-5D6E-409C-BE32-E72D297353CC}">
                <c16:uniqueId val="{00000007-E838-420A-BA78-B12484192D31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>
                    <a:solidFill>
                      <a:srgbClr val="F5EFE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Pure rules</c:v>
                </c:pt>
                <c:pt idx="1">
                  <c:v>Hybrid BM25 + dense</c:v>
                </c:pt>
                <c:pt idx="2">
                  <c:v>Full-LLM mapping</c:v>
                </c:pt>
                <c:pt idx="3">
                  <c:v>TapTrace resolver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59.5</c:v>
                </c:pt>
                <c:pt idx="1">
                  <c:v>45.9</c:v>
                </c:pt>
                <c:pt idx="2">
                  <c:v>81.099999999999994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838-420A-BA78-B12484192D3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5A534B"/>
            </a:solidFill>
          </a:ln>
        </c:spPr>
        <c:txPr>
          <a:bodyPr/>
          <a:lstStyle/>
          <a:p>
            <a:pPr>
              <a:defRPr sz="950">
                <a:solidFill>
                  <a:srgbClr val="D9D2C7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5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50">
          <a:solidFill>
            <a:srgbClr val="D9D2C7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Global threshold</c:v>
                </c:pt>
              </c:strCache>
            </c:strRef>
          </c:tx>
          <c:spPr>
            <a:solidFill>
              <a:srgbClr val="6B6259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5EFE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Correct hits</c:v>
                </c:pt>
                <c:pt idx="1">
                  <c:v>False hits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31.8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C85-4FBE-BE50-8D5DA8F132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TapTrace</c:v>
                </c:pt>
              </c:strCache>
            </c:strRef>
          </c:tx>
          <c:spPr>
            <a:solidFill>
              <a:srgbClr val="F2B66D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5EFE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Correct hits</c:v>
                </c:pt>
                <c:pt idx="1">
                  <c:v>False hits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86.7</c:v>
                </c:pt>
                <c:pt idx="1">
                  <c:v>4.5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C85-4FBE-BE50-8D5DA8F132D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5A534B"/>
            </a:solidFill>
          </a:ln>
        </c:spPr>
        <c:txPr>
          <a:bodyPr/>
          <a:lstStyle/>
          <a:p>
            <a:pPr>
              <a:defRPr sz="900">
                <a:solidFill>
                  <a:srgbClr val="D9D2C7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D9D2C7"/>
              </a:solidFill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D9D2C7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jp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svg"/><Relationship Id="rId3" Type="http://schemas.openxmlformats.org/officeDocument/2006/relationships/image" Target="../media/image6.jp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svg"/><Relationship Id="rId4" Type="http://schemas.openxmlformats.org/officeDocument/2006/relationships/chart" Target="../charts/chart1.xml"/><Relationship Id="rId9" Type="http://schemas.openxmlformats.org/officeDocument/2006/relationships/image" Target="../media/image16.svg"/><Relationship Id="rId1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svg"/><Relationship Id="rId18" Type="http://schemas.openxmlformats.org/officeDocument/2006/relationships/image" Target="../media/image38.svg"/><Relationship Id="rId3" Type="http://schemas.openxmlformats.org/officeDocument/2006/relationships/image" Target="../media/image6.jpg"/><Relationship Id="rId21" Type="http://schemas.openxmlformats.org/officeDocument/2006/relationships/image" Target="../media/image40.svg"/><Relationship Id="rId7" Type="http://schemas.openxmlformats.org/officeDocument/2006/relationships/image" Target="../media/image27.svg"/><Relationship Id="rId12" Type="http://schemas.openxmlformats.org/officeDocument/2006/relationships/image" Target="../media/image32.svg"/><Relationship Id="rId17" Type="http://schemas.openxmlformats.org/officeDocument/2006/relationships/image" Target="../media/image37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6.svg"/><Relationship Id="rId20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5" Type="http://schemas.openxmlformats.org/officeDocument/2006/relationships/image" Target="../media/image35.svg"/><Relationship Id="rId10" Type="http://schemas.openxmlformats.org/officeDocument/2006/relationships/image" Target="../media/image30.svg"/><Relationship Id="rId19" Type="http://schemas.openxmlformats.org/officeDocument/2006/relationships/image" Target="../media/image39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Relationship Id="rId14" Type="http://schemas.openxmlformats.org/officeDocument/2006/relationships/image" Target="../media/image3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6.jp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sv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13" Type="http://schemas.openxmlformats.org/officeDocument/2006/relationships/image" Target="../media/image55.svg"/><Relationship Id="rId18" Type="http://schemas.openxmlformats.org/officeDocument/2006/relationships/image" Target="../media/image11.svg"/><Relationship Id="rId3" Type="http://schemas.openxmlformats.org/officeDocument/2006/relationships/image" Target="../media/image6.jpg"/><Relationship Id="rId21" Type="http://schemas.openxmlformats.org/officeDocument/2006/relationships/image" Target="../media/image62.svg"/><Relationship Id="rId7" Type="http://schemas.openxmlformats.org/officeDocument/2006/relationships/image" Target="../media/image49.svg"/><Relationship Id="rId12" Type="http://schemas.openxmlformats.org/officeDocument/2006/relationships/image" Target="../media/image54.svg"/><Relationship Id="rId17" Type="http://schemas.openxmlformats.org/officeDocument/2006/relationships/image" Target="../media/image59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8.svg"/><Relationship Id="rId20" Type="http://schemas.openxmlformats.org/officeDocument/2006/relationships/image" Target="../media/image6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svg"/><Relationship Id="rId11" Type="http://schemas.openxmlformats.org/officeDocument/2006/relationships/image" Target="../media/image53.svg"/><Relationship Id="rId5" Type="http://schemas.openxmlformats.org/officeDocument/2006/relationships/image" Target="../media/image47.svg"/><Relationship Id="rId15" Type="http://schemas.openxmlformats.org/officeDocument/2006/relationships/image" Target="../media/image57.svg"/><Relationship Id="rId10" Type="http://schemas.openxmlformats.org/officeDocument/2006/relationships/image" Target="../media/image52.svg"/><Relationship Id="rId19" Type="http://schemas.openxmlformats.org/officeDocument/2006/relationships/image" Target="../media/image60.svg"/><Relationship Id="rId4" Type="http://schemas.openxmlformats.org/officeDocument/2006/relationships/image" Target="../media/image46.svg"/><Relationship Id="rId9" Type="http://schemas.openxmlformats.org/officeDocument/2006/relationships/image" Target="../media/image51.svg"/><Relationship Id="rId14" Type="http://schemas.openxmlformats.org/officeDocument/2006/relationships/image" Target="../media/image5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svg"/><Relationship Id="rId5" Type="http://schemas.openxmlformats.org/officeDocument/2006/relationships/image" Target="../media/image64.svg"/><Relationship Id="rId4" Type="http://schemas.openxmlformats.org/officeDocument/2006/relationships/image" Target="../media/image6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13" Type="http://schemas.openxmlformats.org/officeDocument/2006/relationships/image" Target="../media/image27.svg"/><Relationship Id="rId3" Type="http://schemas.openxmlformats.org/officeDocument/2006/relationships/image" Target="../media/image6.jpg"/><Relationship Id="rId7" Type="http://schemas.openxmlformats.org/officeDocument/2006/relationships/image" Target="../media/image67.svg"/><Relationship Id="rId12" Type="http://schemas.openxmlformats.org/officeDocument/2006/relationships/image" Target="../media/image70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29.svg"/><Relationship Id="rId5" Type="http://schemas.openxmlformats.org/officeDocument/2006/relationships/image" Target="../media/image66.svg"/><Relationship Id="rId15" Type="http://schemas.openxmlformats.org/officeDocument/2006/relationships/image" Target="../media/image71.svg"/><Relationship Id="rId10" Type="http://schemas.openxmlformats.org/officeDocument/2006/relationships/image" Target="../media/image69.svg"/><Relationship Id="rId4" Type="http://schemas.openxmlformats.org/officeDocument/2006/relationships/chart" Target="../charts/chart2.xml"/><Relationship Id="rId9" Type="http://schemas.openxmlformats.org/officeDocument/2006/relationships/image" Target="../media/image68.svg"/><Relationship Id="rId1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svg"/><Relationship Id="rId3" Type="http://schemas.openxmlformats.org/officeDocument/2006/relationships/image" Target="../media/image6.jpg"/><Relationship Id="rId7" Type="http://schemas.openxmlformats.org/officeDocument/2006/relationships/image" Target="../media/image7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svg"/><Relationship Id="rId5" Type="http://schemas.openxmlformats.org/officeDocument/2006/relationships/image" Target="../media/image73.svg"/><Relationship Id="rId4" Type="http://schemas.openxmlformats.org/officeDocument/2006/relationships/image" Target="../media/image6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svg"/><Relationship Id="rId5" Type="http://schemas.openxmlformats.org/officeDocument/2006/relationships/image" Target="../media/image13.svg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3" Type="http://schemas.openxmlformats.org/officeDocument/2006/relationships/image" Target="../media/image6.jp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svg"/><Relationship Id="rId5" Type="http://schemas.openxmlformats.org/officeDocument/2006/relationships/image" Target="../media/image79.svg"/><Relationship Id="rId4" Type="http://schemas.openxmlformats.org/officeDocument/2006/relationships/image" Target="../media/image78.svg"/><Relationship Id="rId9" Type="http://schemas.openxmlformats.org/officeDocument/2006/relationships/image" Target="../media/image8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89" descr="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1" name="Oval 90"/>
          <p:cNvSpPr/>
          <p:nvPr/>
        </p:nvSpPr>
        <p:spPr>
          <a:xfrm>
            <a:off x="685800" y="566928"/>
            <a:ext cx="310896" cy="310896"/>
          </a:xfrm>
          <a:prstGeom prst="ellipse">
            <a:avLst/>
          </a:prstGeom>
          <a:noFill/>
          <a:ln w="19050">
            <a:solidFill>
              <a:srgbClr val="F2B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779068" y="660196"/>
            <a:ext cx="124358" cy="124358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97280" y="530352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 Semibold"/>
              </a:rPr>
              <a:t>TapTrace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606040" y="717804"/>
            <a:ext cx="1097280" cy="9144"/>
          </a:xfrm>
          <a:prstGeom prst="rect">
            <a:avLst/>
          </a:prstGeom>
          <a:solidFill>
            <a:srgbClr val="8A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840480" y="566928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spc="300">
                <a:solidFill>
                  <a:srgbClr val="CFC6BA"/>
                </a:solidFill>
                <a:latin typeface="Segoe UI"/>
              </a:rPr>
              <a:t>SAMSUNG PRISM  ·  GENAI HACKATHON 3.0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5800" y="1417320"/>
            <a:ext cx="6400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0" i="0">
                <a:solidFill>
                  <a:srgbClr val="FFFFFF"/>
                </a:solidFill>
                <a:latin typeface="Segoe UI Semibold"/>
              </a:rPr>
              <a:t>From a vague complaint</a:t>
            </a:r>
          </a:p>
          <a:p>
            <a:pPr algn="l">
              <a:lnSpc>
                <a:spcPct val="95000"/>
              </a:lnSpc>
            </a:pPr>
            <a:r>
              <a:rPr sz="4400" b="0" i="0">
                <a:solidFill>
                  <a:srgbClr val="FFFFFF"/>
                </a:solidFill>
                <a:latin typeface="Segoe UI Semibold"/>
              </a:rPr>
              <a:t>to a </a:t>
            </a:r>
            <a:r>
              <a:rPr sz="4400" b="0" i="0">
                <a:solidFill>
                  <a:srgbClr val="F2B66D"/>
                </a:solidFill>
                <a:latin typeface="Segoe UI Semibold"/>
              </a:rPr>
              <a:t>verified fix</a:t>
            </a:r>
            <a:r>
              <a:rPr sz="4400" b="0" i="0">
                <a:solidFill>
                  <a:srgbClr val="FFFFFF"/>
                </a:solidFill>
                <a:latin typeface="Segoe UI Semibold"/>
              </a:rPr>
              <a:t>,</a:t>
            </a:r>
          </a:p>
          <a:p>
            <a:pPr algn="l">
              <a:lnSpc>
                <a:spcPct val="95000"/>
              </a:lnSpc>
            </a:pPr>
            <a:r>
              <a:rPr sz="4400" b="0" i="0">
                <a:solidFill>
                  <a:srgbClr val="FFFFFF"/>
                </a:solidFill>
                <a:latin typeface="Segoe UI Semibold"/>
              </a:rPr>
              <a:t>in one tap.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5800" y="3840480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6DDD1"/>
                </a:solidFill>
                <a:latin typeface="Segoe UI"/>
              </a:rPr>
              <a:t>A grounded troubleshooting engine for Samsung PRISM Theme 02: every step traced to its source, every Settings fix one exact deeplink away, every repeat answered from cache in milliseconds.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5800" y="532180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Evidence-locked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steps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67128" y="532180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Exact-screen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deeplinks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039112" y="4919472"/>
            <a:ext cx="9144" cy="777240"/>
          </a:xfrm>
          <a:prstGeom prst="rect">
            <a:avLst/>
          </a:prstGeom>
          <a:solidFill>
            <a:srgbClr val="5A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648456" y="532180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Relevance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gate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520440" y="4919472"/>
            <a:ext cx="9144" cy="777240"/>
          </a:xfrm>
          <a:prstGeom prst="rect">
            <a:avLst/>
          </a:prstGeom>
          <a:solidFill>
            <a:srgbClr val="5A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129784" y="532180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Contrastive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cache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001768" y="4919472"/>
            <a:ext cx="9144" cy="777240"/>
          </a:xfrm>
          <a:prstGeom prst="rect">
            <a:avLst/>
          </a:prstGeom>
          <a:solidFill>
            <a:srgbClr val="5A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685800" y="6144768"/>
            <a:ext cx="10835640" cy="9144"/>
          </a:xfrm>
          <a:prstGeom prst="rect">
            <a:avLst/>
          </a:prstGeom>
          <a:solidFill>
            <a:srgbClr val="5A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85800" y="6217920"/>
            <a:ext cx="10835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 spc="120">
                <a:solidFill>
                  <a:srgbClr val="CFC6BA"/>
                </a:solidFill>
                <a:latin typeface="Segoe UI"/>
              </a:rPr>
              <a:t>THEME ID 02   |   TEAM TAPTRACE   |   THAPAR INSTITUTE OF ENGINEERING &amp; TECHNOLOGY   |   ARNAV JOSHI · ajoshi4_be23@thapar.edu</a:t>
            </a:r>
          </a:p>
          <a:p>
            <a:pPr algn="l"/>
            <a:r>
              <a:rPr sz="850" b="0" i="0" spc="120">
                <a:solidFill>
                  <a:srgbClr val="F2B66D"/>
                </a:solidFill>
                <a:latin typeface="Segoe UI"/>
              </a:rPr>
              <a:t>CODE  github.com/Arnav020/Tap-Trace   |   LIVE DEMO  taptrace-abmd.onrender.com</a:t>
            </a:r>
          </a:p>
        </p:txBody>
      </p:sp>
      <p:pic>
        <p:nvPicPr>
          <p:cNvPr id="3" name="icon">
            <a:extLst>
              <a:ext uri="{FF2B5EF4-FFF2-40B4-BE49-F238E27FC236}">
                <a16:creationId xmlns:a16="http://schemas.microsoft.com/office/drawing/2014/main" id="{C2567E7A-107A-0393-9C39-FE19BD9B3EF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4892040"/>
            <a:ext cx="329184" cy="329184"/>
          </a:xfrm>
          <a:prstGeom prst="rect">
            <a:avLst/>
          </a:prstGeom>
        </p:spPr>
      </p:pic>
      <p:pic>
        <p:nvPicPr>
          <p:cNvPr id="5" name="icon">
            <a:extLst>
              <a:ext uri="{FF2B5EF4-FFF2-40B4-BE49-F238E27FC236}">
                <a16:creationId xmlns:a16="http://schemas.microsoft.com/office/drawing/2014/main" id="{E27205E1-C386-721D-A647-541344F224A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7128" y="4892040"/>
            <a:ext cx="329184" cy="329184"/>
          </a:xfrm>
          <a:prstGeom prst="rect">
            <a:avLst/>
          </a:prstGeom>
        </p:spPr>
      </p:pic>
      <p:pic>
        <p:nvPicPr>
          <p:cNvPr id="7" name="icon">
            <a:extLst>
              <a:ext uri="{FF2B5EF4-FFF2-40B4-BE49-F238E27FC236}">
                <a16:creationId xmlns:a16="http://schemas.microsoft.com/office/drawing/2014/main" id="{78B2CAAE-3838-FE91-EF15-72F7B65E22C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48456" y="4892040"/>
            <a:ext cx="329184" cy="329184"/>
          </a:xfrm>
          <a:prstGeom prst="rect">
            <a:avLst/>
          </a:prstGeom>
        </p:spPr>
      </p:pic>
      <p:pic>
        <p:nvPicPr>
          <p:cNvPr id="9" name="icon">
            <a:extLst>
              <a:ext uri="{FF2B5EF4-FFF2-40B4-BE49-F238E27FC236}">
                <a16:creationId xmlns:a16="http://schemas.microsoft.com/office/drawing/2014/main" id="{9327A067-A673-294A-E546-8843DA14EA7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9784" y="4892040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00" descr="bg_sl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2" name="Oval 101"/>
          <p:cNvSpPr/>
          <p:nvPr/>
        </p:nvSpPr>
        <p:spPr>
          <a:xfrm>
            <a:off x="566928" y="310896"/>
            <a:ext cx="237744" cy="237744"/>
          </a:xfrm>
          <a:prstGeom prst="ellipse">
            <a:avLst/>
          </a:prstGeom>
          <a:noFill/>
          <a:ln w="19050">
            <a:solidFill>
              <a:srgbClr val="F2B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638251" y="382219"/>
            <a:ext cx="95097" cy="95097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96112" y="2743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5EFE6"/>
                </a:solidFill>
                <a:latin typeface="Segoe UI Semibold"/>
              </a:rPr>
              <a:t>TapTrace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048256" y="329184"/>
            <a:ext cx="10972" cy="20116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21284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spc="250">
                <a:solidFill>
                  <a:srgbClr val="A89F93"/>
                </a:solidFill>
                <a:latin typeface="Segoe UI"/>
              </a:rPr>
              <a:t>01  |  THEME · THE PROBLEM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223760" y="274320"/>
            <a:ext cx="439826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 spc="200">
                <a:solidFill>
                  <a:srgbClr val="A89F93"/>
                </a:solidFill>
                <a:latin typeface="Segoe UI"/>
              </a:rPr>
              <a:t>SAMSUNG PRISM  ·  GENAI HACKATHON 3.0  ·  THEME 02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66928" y="822960"/>
            <a:ext cx="81838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0" i="0">
                <a:solidFill>
                  <a:srgbClr val="F5EFE6"/>
                </a:solidFill>
                <a:latin typeface="Segoe UI Semibold"/>
              </a:rPr>
              <a:t>One vague sentence costs an agent </a:t>
            </a:r>
            <a:r>
              <a:rPr sz="2700" b="0" i="0">
                <a:solidFill>
                  <a:srgbClr val="F2B66D"/>
                </a:solidFill>
                <a:latin typeface="Segoe UI Semibold"/>
              </a:rPr>
              <a:t>~15 minutes</a:t>
            </a:r>
            <a:r>
              <a:rPr sz="2700" b="0" i="0">
                <a:solidFill>
                  <a:srgbClr val="F5EFE6"/>
                </a:solidFill>
                <a:latin typeface="Segoe UI Semibold"/>
              </a:rPr>
              <a:t> - and the customer still hunts through Settings.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06840" y="896112"/>
            <a:ext cx="261518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D9D2C7"/>
                </a:solidFill>
                <a:latin typeface="Segoe UI"/>
              </a:rPr>
              <a:t>Theme 02 asks for a REST engine that turns such complaints into a grounded, ordered, one-tap plan under hard latency, cost and hygiene rules.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6473952"/>
            <a:ext cx="10149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8A8176"/>
                </a:solidFill>
                <a:latin typeface="Segoe UI"/>
              </a:rPr>
              <a:t>02 / 12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6928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spc="150">
                <a:solidFill>
                  <a:srgbClr val="8A8176"/>
                </a:solidFill>
                <a:latin typeface="Segoe UI"/>
              </a:rPr>
              <a:t>TIET  ·  TAPTRACE  ·  THEME 02 SMART GUIDED TROUBLESHOOTING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66928" y="210312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000000">
              <a:alpha val="26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95528" y="226771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20">
                <a:solidFill>
                  <a:srgbClr val="A89F93"/>
                </a:solidFill>
                <a:latin typeface="Segoe UI Semibold"/>
              </a:rPr>
              <a:t>THE INPUT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5528" y="256032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1">
                <a:solidFill>
                  <a:srgbClr val="F5EFE6"/>
                </a:solidFill>
                <a:latin typeface="Segoe UI"/>
              </a:rPr>
              <a:t>“My Nexa X1 screen inputs are delayed and the touch responsiveness is laggy, causing a noticeable delay when I try to interact with the phone.”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5528" y="3931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89F93"/>
                </a:solidFill>
                <a:latin typeface="Segoe UI"/>
              </a:rPr>
              <a:t>input.txt, line 19  +  SIIS ‘Touchscreen issues’ (9 sections)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95528" y="43891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1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 i="0">
                <a:solidFill>
                  <a:srgbClr val="D9D2C7"/>
                </a:solidFill>
                <a:latin typeface="Segoe UI"/>
              </a:rPr>
              <a:t>no setting names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874519" y="43891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1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 i="0">
                <a:solidFill>
                  <a:srgbClr val="D9D2C7"/>
                </a:solidFill>
                <a:latin typeface="Segoe UI"/>
              </a:rPr>
              <a:t>no technical terms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953512" y="43891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1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 i="0">
                <a:solidFill>
                  <a:srgbClr val="D9D2C7"/>
                </a:solidFill>
                <a:latin typeface="Segoe UI"/>
              </a:rPr>
              <a:t>no order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4315968" y="3611880"/>
            <a:ext cx="512064" cy="0"/>
          </a:xfrm>
          <a:prstGeom prst="line">
            <a:avLst/>
          </a:prstGeom>
          <a:ln w="25400">
            <a:solidFill>
              <a:srgbClr val="F2B66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4206240" y="32004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2B66D"/>
                </a:solidFill>
                <a:latin typeface="Segoe UI Semibold"/>
              </a:rPr>
              <a:t>1.3 s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919472" y="2103120"/>
            <a:ext cx="6702552" cy="301752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5138928" y="226771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20">
                <a:solidFill>
                  <a:srgbClr val="F2B66D"/>
                </a:solidFill>
                <a:latin typeface="Segoe UI Semibold"/>
              </a:rPr>
              <a:t>THE REQUIRED OUTPUT (SCHEMA.PY CONTRACT)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138928" y="260604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Consolas"/>
              </a:rPr>
              <a:t>goal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711696" y="2606040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F5EFE6"/>
                </a:solidFill>
                <a:latin typeface="Segoe UI"/>
              </a:rPr>
              <a:t>Follow these steps to perform this Touch Lag Troubleshooting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138928" y="2907792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Consolas"/>
              </a:rPr>
              <a:t>title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711696" y="2907792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F5EFE6"/>
                </a:solidFill>
                <a:latin typeface="Segoe UI"/>
              </a:rPr>
              <a:t>Touch lag recovery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266944" y="3328416"/>
            <a:ext cx="109728" cy="10972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5449824" y="320954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Consolas"/>
              </a:rPr>
              <a:t>actionName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022592" y="3209544"/>
            <a:ext cx="44897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F5EFE6"/>
                </a:solidFill>
                <a:latin typeface="Segoe UI"/>
              </a:rPr>
              <a:t>Configure Navigation Bar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266944" y="3630168"/>
            <a:ext cx="109728" cy="10972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5449824" y="3511296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Consolas"/>
              </a:rPr>
              <a:t>description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022592" y="3511296"/>
            <a:ext cx="44897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F5EFE6"/>
                </a:solidFill>
                <a:latin typeface="Segoe UI"/>
              </a:rPr>
              <a:t>It will stop gestures blocking your taps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266944" y="3931920"/>
            <a:ext cx="109728" cy="10972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5449824" y="381304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Consolas"/>
              </a:rPr>
              <a:t>category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022592" y="3813048"/>
            <a:ext cx="44897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F2B66D"/>
                </a:solidFill>
                <a:latin typeface="Segoe UI"/>
              </a:rPr>
              <a:t>auto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577840" y="4233672"/>
            <a:ext cx="109728" cy="10972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5760720" y="411480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Consolas"/>
              </a:rPr>
              <a:t>steps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333488" y="4114800"/>
            <a:ext cx="41788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D9D2C7"/>
                </a:solidFill>
                <a:latin typeface="Segoe UI"/>
              </a:rPr>
              <a:t>Tap Display → Tap Navigation bar → Select Buttons to turn off full scree…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577840" y="4535424"/>
            <a:ext cx="109728" cy="10972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5760720" y="4416552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Consolas"/>
              </a:rPr>
              <a:t>actionableDeeplink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33488" y="4416552"/>
            <a:ext cx="41788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F2B66D"/>
                </a:solidFill>
                <a:latin typeface="Consolas"/>
              </a:rPr>
              <a:t>voiceassist://masked/act/2f3dd95259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577840" y="4837176"/>
            <a:ext cx="109728" cy="10972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5760720" y="471830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Consolas"/>
              </a:rPr>
              <a:t>validationDeeplink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333488" y="4718304"/>
            <a:ext cx="41788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F2B66D"/>
                </a:solidFill>
                <a:latin typeface="Segoe UI"/>
              </a:rPr>
              <a:t>key = ‘Navigation bar’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66928" y="5330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20">
                <a:solidFill>
                  <a:srgbClr val="A89F93"/>
                </a:solidFill>
                <a:latin typeface="Segoe UI Semibold"/>
              </a:rPr>
              <a:t>HARD CONSTRAINTS WE ENFORCE IN CODE (THEME 2 PDF §4 AND §6)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66928" y="5596128"/>
            <a:ext cx="2130552" cy="73152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ounded Rectangle 146"/>
          <p:cNvSpPr/>
          <p:nvPr/>
        </p:nvSpPr>
        <p:spPr>
          <a:xfrm>
            <a:off x="694944" y="573328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261872" y="5687568"/>
            <a:ext cx="13898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5EFE6"/>
                </a:solidFill>
                <a:latin typeface="Segoe UI Semibold"/>
              </a:rPr>
              <a:t>0 URL leaks</a:t>
            </a:r>
          </a:p>
          <a:p>
            <a:pPr algn="l"/>
            <a:r>
              <a:rPr sz="850" b="0" i="0">
                <a:solidFill>
                  <a:srgbClr val="A89F93"/>
                </a:solidFill>
                <a:latin typeface="Segoe UI"/>
              </a:rPr>
              <a:t>regex gate on every field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2788920" y="5596128"/>
            <a:ext cx="2130552" cy="73152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2916936" y="573328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3483864" y="5687568"/>
            <a:ext cx="13898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5EFE6"/>
                </a:solidFill>
                <a:latin typeface="Segoe UI Semibold"/>
              </a:rPr>
              <a:t>5–7-word descriptions</a:t>
            </a:r>
          </a:p>
          <a:p>
            <a:pPr algn="l"/>
            <a:r>
              <a:rPr sz="850" b="0" i="0">
                <a:solidFill>
                  <a:srgbClr val="A89F93"/>
                </a:solidFill>
                <a:latin typeface="Segoe UI"/>
              </a:rPr>
              <a:t>validators + repair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010912" y="5596128"/>
            <a:ext cx="2130552" cy="73152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ounded Rectangle 154"/>
          <p:cNvSpPr/>
          <p:nvPr/>
        </p:nvSpPr>
        <p:spPr>
          <a:xfrm>
            <a:off x="5138928" y="573328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5705856" y="5687568"/>
            <a:ext cx="13898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5EFE6"/>
                </a:solidFill>
                <a:latin typeface="Segoe UI Semibold"/>
              </a:rPr>
              <a:t>Critical steps last</a:t>
            </a:r>
          </a:p>
          <a:p>
            <a:pPr algn="l"/>
            <a:r>
              <a:rPr sz="850" b="0" i="0">
                <a:solidFill>
                  <a:srgbClr val="A89F93"/>
                </a:solidFill>
                <a:latin typeface="Segoe UI"/>
              </a:rPr>
              <a:t>disruption-cost ordering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7232904" y="5596128"/>
            <a:ext cx="2130552" cy="73152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ounded Rectangle 158"/>
          <p:cNvSpPr/>
          <p:nvPr/>
        </p:nvSpPr>
        <p:spPr>
          <a:xfrm>
            <a:off x="7360920" y="573328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7927848" y="5687568"/>
            <a:ext cx="13898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5EFE6"/>
                </a:solidFill>
                <a:latin typeface="Segoe UI Semibold"/>
              </a:rPr>
              <a:t>≤ 300 ms cached</a:t>
            </a:r>
          </a:p>
          <a:p>
            <a:pPr algn="l"/>
            <a:r>
              <a:rPr sz="850" b="0" i="0">
                <a:solidFill>
                  <a:srgbClr val="A89F93"/>
                </a:solidFill>
                <a:latin typeface="Segoe UI"/>
              </a:rPr>
              <a:t>P95, no LLM call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9454896" y="5596128"/>
            <a:ext cx="2130552" cy="73152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9582912" y="573328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149840" y="5687568"/>
            <a:ext cx="13898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5EFE6"/>
                </a:solidFill>
                <a:latin typeface="Segoe UI Semibold"/>
              </a:rPr>
              <a:t>≤ 8 s cold</a:t>
            </a:r>
          </a:p>
          <a:p>
            <a:pPr algn="l"/>
            <a:r>
              <a:rPr sz="850" b="0" i="0">
                <a:solidFill>
                  <a:srgbClr val="A89F93"/>
                </a:solidFill>
                <a:latin typeface="Segoe UI"/>
              </a:rPr>
              <a:t>P95, two parallel LLM calls</a:t>
            </a:r>
          </a:p>
        </p:txBody>
      </p:sp>
      <p:pic>
        <p:nvPicPr>
          <p:cNvPr id="3" name="icon">
            <a:extLst>
              <a:ext uri="{FF2B5EF4-FFF2-40B4-BE49-F238E27FC236}">
                <a16:creationId xmlns:a16="http://schemas.microsoft.com/office/drawing/2014/main" id="{A0EC2B54-1E7B-7445-0D4E-2BB3DAE7692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672" y="5843016"/>
            <a:ext cx="237744" cy="237744"/>
          </a:xfrm>
          <a:prstGeom prst="rect">
            <a:avLst/>
          </a:prstGeom>
        </p:spPr>
      </p:pic>
      <p:pic>
        <p:nvPicPr>
          <p:cNvPr id="5" name="icon">
            <a:extLst>
              <a:ext uri="{FF2B5EF4-FFF2-40B4-BE49-F238E27FC236}">
                <a16:creationId xmlns:a16="http://schemas.microsoft.com/office/drawing/2014/main" id="{28954292-2A20-78DB-7040-A99DAB256CE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26664" y="5843016"/>
            <a:ext cx="237744" cy="237744"/>
          </a:xfrm>
          <a:prstGeom prst="rect">
            <a:avLst/>
          </a:prstGeom>
        </p:spPr>
      </p:pic>
      <p:pic>
        <p:nvPicPr>
          <p:cNvPr id="7" name="icon">
            <a:extLst>
              <a:ext uri="{FF2B5EF4-FFF2-40B4-BE49-F238E27FC236}">
                <a16:creationId xmlns:a16="http://schemas.microsoft.com/office/drawing/2014/main" id="{7FC62366-5441-5748-63FF-2EE8199378D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48656" y="5843016"/>
            <a:ext cx="237744" cy="237744"/>
          </a:xfrm>
          <a:prstGeom prst="rect">
            <a:avLst/>
          </a:prstGeom>
        </p:spPr>
      </p:pic>
      <p:pic>
        <p:nvPicPr>
          <p:cNvPr id="9" name="icon">
            <a:extLst>
              <a:ext uri="{FF2B5EF4-FFF2-40B4-BE49-F238E27FC236}">
                <a16:creationId xmlns:a16="http://schemas.microsoft.com/office/drawing/2014/main" id="{BF371556-2344-36C5-632D-A3E48C35E50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70648" y="5843016"/>
            <a:ext cx="237744" cy="237744"/>
          </a:xfrm>
          <a:prstGeom prst="rect">
            <a:avLst/>
          </a:prstGeom>
        </p:spPr>
      </p:pic>
      <p:pic>
        <p:nvPicPr>
          <p:cNvPr id="11" name="icon">
            <a:extLst>
              <a:ext uri="{FF2B5EF4-FFF2-40B4-BE49-F238E27FC236}">
                <a16:creationId xmlns:a16="http://schemas.microsoft.com/office/drawing/2014/main" id="{97E4FC26-E24A-B117-B007-63BCDF683E3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92640" y="5843016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06" descr="bg_sl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8" name="Oval 107"/>
          <p:cNvSpPr/>
          <p:nvPr/>
        </p:nvSpPr>
        <p:spPr>
          <a:xfrm>
            <a:off x="566928" y="310896"/>
            <a:ext cx="237744" cy="237744"/>
          </a:xfrm>
          <a:prstGeom prst="ellipse">
            <a:avLst/>
          </a:prstGeom>
          <a:noFill/>
          <a:ln w="19050">
            <a:solidFill>
              <a:srgbClr val="F2B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638251" y="382219"/>
            <a:ext cx="95097" cy="95097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896112" y="2743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5EFE6"/>
                </a:solidFill>
                <a:latin typeface="Segoe UI Semibold"/>
              </a:rPr>
              <a:t>TapTrace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48256" y="329184"/>
            <a:ext cx="10972" cy="20116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21284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spc="250">
                <a:solidFill>
                  <a:srgbClr val="A89F93"/>
                </a:solidFill>
                <a:latin typeface="Segoe UI"/>
              </a:rPr>
              <a:t>02  |  EXISTING SOLUTIONS &amp; GAPS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274320"/>
            <a:ext cx="439826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 spc="200">
                <a:solidFill>
                  <a:srgbClr val="A89F93"/>
                </a:solidFill>
                <a:latin typeface="Segoe UI"/>
              </a:rPr>
              <a:t>SAMSUNG PRISM  ·  GENAI HACKATHON 3.0  ·  THEME 02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" y="822960"/>
            <a:ext cx="81838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0" i="0">
                <a:solidFill>
                  <a:srgbClr val="F5EFE6"/>
                </a:solidFill>
                <a:latin typeface="Segoe UI Semibold"/>
              </a:rPr>
              <a:t>The provided data is adversarial - a textbook RAG pipeline walks into </a:t>
            </a:r>
            <a:r>
              <a:rPr sz="2700" b="0" i="0">
                <a:solidFill>
                  <a:srgbClr val="F2B66D"/>
                </a:solidFill>
                <a:latin typeface="Segoe UI Semibold"/>
              </a:rPr>
              <a:t>six traps</a:t>
            </a:r>
            <a:r>
              <a:rPr sz="2700" b="0" i="0">
                <a:solidFill>
                  <a:srgbClr val="F5EFE6"/>
                </a:solidFill>
                <a:latin typeface="Segoe UI Semibold"/>
              </a:rPr>
              <a:t>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06840" y="896112"/>
            <a:ext cx="261518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D9D2C7"/>
                </a:solidFill>
                <a:latin typeface="Segoe UI"/>
              </a:rPr>
              <a:t>We audited all 578 catalog rows and 20 SIIS articles before writing code (docs/DATA_AUDIT.md).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607040" y="6473952"/>
            <a:ext cx="10149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8A8176"/>
                </a:solidFill>
                <a:latin typeface="Segoe UI"/>
              </a:rPr>
              <a:t>03 / 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6928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spc="150">
                <a:solidFill>
                  <a:srgbClr val="8A8176"/>
                </a:solidFill>
                <a:latin typeface="Segoe UI"/>
              </a:rPr>
              <a:t>TIET  ·  TAPTRACE  ·  THEME 02 SMART GUIDED TROUBLESHOOTING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66928" y="2103120"/>
            <a:ext cx="2788920" cy="4251960"/>
          </a:xfrm>
          <a:prstGeom prst="roundRect">
            <a:avLst>
              <a:gd name="adj" fmla="val 6000"/>
            </a:avLst>
          </a:prstGeom>
          <a:solidFill>
            <a:srgbClr val="000000">
              <a:alpha val="26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68096" y="2249424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20">
                <a:solidFill>
                  <a:srgbClr val="A89F93"/>
                </a:solidFill>
                <a:latin typeface="Segoe UI Semibold"/>
              </a:rPr>
              <a:t>TEXTBOOK PIPELINE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68096" y="2578608"/>
            <a:ext cx="2377440" cy="402336"/>
          </a:xfrm>
          <a:prstGeom prst="roundRect">
            <a:avLst>
              <a:gd name="adj" fmla="val 20000"/>
            </a:avLst>
          </a:prstGeom>
          <a:solidFill>
            <a:srgbClr val="FFFFFF">
              <a:alpha val="11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207007" y="2578608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D9D2C7"/>
                </a:solidFill>
                <a:latin typeface="Segoe UI"/>
              </a:rPr>
              <a:t>LLM writes the steps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68096" y="3081528"/>
            <a:ext cx="2377440" cy="402336"/>
          </a:xfrm>
          <a:prstGeom prst="roundRect">
            <a:avLst>
              <a:gd name="adj" fmla="val 20000"/>
            </a:avLst>
          </a:prstGeom>
          <a:solidFill>
            <a:srgbClr val="FFFFFF">
              <a:alpha val="11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207007" y="3081528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D9D2C7"/>
                </a:solidFill>
                <a:latin typeface="Segoe UI"/>
              </a:rPr>
              <a:t>Top-1 embedding match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68096" y="3584448"/>
            <a:ext cx="2377440" cy="402336"/>
          </a:xfrm>
          <a:prstGeom prst="roundRect">
            <a:avLst>
              <a:gd name="adj" fmla="val 20000"/>
            </a:avLst>
          </a:prstGeom>
          <a:solidFill>
            <a:srgbClr val="FFFFFF">
              <a:alpha val="11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207007" y="3584448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D9D2C7"/>
                </a:solidFill>
                <a:latin typeface="Segoe UI"/>
              </a:rPr>
              <a:t>One global cache threshold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68096" y="4087368"/>
            <a:ext cx="2377440" cy="402336"/>
          </a:xfrm>
          <a:prstGeom prst="roundRect">
            <a:avLst>
              <a:gd name="adj" fmla="val 20000"/>
            </a:avLst>
          </a:prstGeom>
          <a:solidFill>
            <a:srgbClr val="FFFFFF">
              <a:alpha val="11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207007" y="4087368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D9D2C7"/>
                </a:solidFill>
                <a:latin typeface="Segoe UI"/>
              </a:rPr>
              <a:t>Trust any SIIS article</a:t>
            </a:r>
          </a:p>
        </p:txBody>
      </p:sp>
      <p:graphicFrame>
        <p:nvGraphicFramePr>
          <p:cNvPr id="136" name="Chart 135"/>
          <p:cNvGraphicFramePr>
            <a:graphicFrameLocks noGrp="1"/>
          </p:cNvGraphicFramePr>
          <p:nvPr/>
        </p:nvGraphicFramePr>
        <p:xfrm>
          <a:off x="612648" y="4846320"/>
          <a:ext cx="269748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768096" y="4681728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D9D2C7"/>
                </a:solidFill>
                <a:latin typeface="Segoe UI Semibold"/>
              </a:rPr>
              <a:t>Exact deeplinks, 37-case benchmark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538728" y="2103120"/>
            <a:ext cx="2596896" cy="2029968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3703320" y="22677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F08A7A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4233672" y="2231136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>
                <a:solidFill>
                  <a:srgbClr val="F5EFE6"/>
                </a:solidFill>
                <a:latin typeface="Segoe UI Semibold"/>
              </a:rPr>
              <a:t>21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703320" y="2798063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5EFE6"/>
                </a:solidFill>
                <a:latin typeface="Segoe UI Semibold"/>
              </a:rPr>
              <a:t>TV &amp; appliance screens hidden in the phone catalog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703320" y="3291839"/>
            <a:ext cx="2286000" cy="310896"/>
          </a:xfrm>
          <a:prstGeom prst="roundRect">
            <a:avLst>
              <a:gd name="adj" fmla="val 25000"/>
            </a:avLst>
          </a:prstGeom>
          <a:solidFill>
            <a:srgbClr val="00000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l"/>
            <a:r>
              <a:rPr sz="750" b="0" i="0">
                <a:solidFill>
                  <a:srgbClr val="D9D2C7"/>
                </a:solidFill>
                <a:latin typeface="Consolas"/>
              </a:rPr>
              <a:t>DL-0468 … DL-0569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950208" y="3694176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2B66D"/>
                </a:solidFill>
                <a:latin typeface="Segoe UI Semibold"/>
              </a:rPr>
              <a:t>Catalog Compiler quarantines them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245352" y="2103120"/>
            <a:ext cx="2596896" cy="2029968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ounded Rectangle 146"/>
          <p:cNvSpPr/>
          <p:nvPr/>
        </p:nvSpPr>
        <p:spPr>
          <a:xfrm>
            <a:off x="6409944" y="22677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F08A7A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6940296" y="2231136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>
                <a:solidFill>
                  <a:srgbClr val="F5EFE6"/>
                </a:solidFill>
                <a:latin typeface="Segoe UI Semibold"/>
              </a:rPr>
              <a:t>14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409944" y="2798063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5EFE6"/>
                </a:solidFill>
                <a:latin typeface="Segoe UI Semibold"/>
              </a:rPr>
              <a:t>labels that name the wrong feature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409944" y="3291839"/>
            <a:ext cx="2286000" cy="310896"/>
          </a:xfrm>
          <a:prstGeom prst="roundRect">
            <a:avLst>
              <a:gd name="adj" fmla="val 25000"/>
            </a:avLst>
          </a:prstGeom>
          <a:solidFill>
            <a:srgbClr val="00000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l"/>
            <a:r>
              <a:rPr sz="750" b="0" i="0">
                <a:solidFill>
                  <a:srgbClr val="D9D2C7"/>
                </a:solidFill>
                <a:latin typeface="Consolas"/>
              </a:rPr>
              <a:t>DL-0162 “Disable Grayscale” = mono audio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656832" y="3694176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2B66D"/>
                </a:solidFill>
                <a:latin typeface="Segoe UI Semibold"/>
              </a:rPr>
              <a:t>Match on screen labels, never messages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951976" y="2103120"/>
            <a:ext cx="2596896" cy="2029968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ounded Rectangle 154"/>
          <p:cNvSpPr/>
          <p:nvPr/>
        </p:nvSpPr>
        <p:spPr>
          <a:xfrm>
            <a:off x="9116567" y="22677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F08A7A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9646919" y="2231136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>
                <a:solidFill>
                  <a:srgbClr val="F5EFE6"/>
                </a:solidFill>
                <a:latin typeface="Segoe UI Semibold"/>
              </a:rPr>
              <a:t>0.94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116567" y="2798063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5EFE6"/>
                </a:solidFill>
                <a:latin typeface="Segoe UI Semibold"/>
              </a:rPr>
              <a:t>cosine of “won’t turn ON” vs “won’t turn OFF”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116567" y="3291839"/>
            <a:ext cx="2286000" cy="310896"/>
          </a:xfrm>
          <a:prstGeom prst="roundRect">
            <a:avLst>
              <a:gd name="adj" fmla="val 25000"/>
            </a:avLst>
          </a:prstGeom>
          <a:solidFill>
            <a:srgbClr val="00000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l"/>
            <a:r>
              <a:rPr sz="750" b="0" i="0">
                <a:solidFill>
                  <a:srgbClr val="D9D2C7"/>
                </a:solidFill>
                <a:latin typeface="Consolas"/>
              </a:rPr>
              <a:t>embeddings are polarity-blind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363455" y="3694176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2B66D"/>
                </a:solidFill>
                <a:latin typeface="Segoe UI Semibold"/>
              </a:rPr>
              <a:t>Facet guard + per-entry τ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538728" y="4261104"/>
            <a:ext cx="2596896" cy="2029968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3703320" y="442569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F08A7A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4233672" y="43891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>
                <a:solidFill>
                  <a:srgbClr val="F5EFE6"/>
                </a:solidFill>
                <a:latin typeface="Segoe UI Semibold"/>
              </a:rPr>
              <a:t>4/20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703320" y="495604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5EFE6"/>
                </a:solidFill>
                <a:latin typeface="Segoe UI Semibold"/>
              </a:rPr>
              <a:t>SIIS articles are the wrong document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3703320" y="5449824"/>
            <a:ext cx="2286000" cy="310896"/>
          </a:xfrm>
          <a:prstGeom prst="roundRect">
            <a:avLst>
              <a:gd name="adj" fmla="val 25000"/>
            </a:avLst>
          </a:prstGeom>
          <a:solidFill>
            <a:srgbClr val="00000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l"/>
            <a:r>
              <a:rPr sz="750" b="0" i="0">
                <a:solidFill>
                  <a:srgbClr val="D9D2C7"/>
                </a:solidFill>
                <a:latin typeface="Consolas"/>
              </a:rPr>
              <a:t>row_8: TV mirroring for a small phone screen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950208" y="585216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2B66D"/>
                </a:solidFill>
                <a:latin typeface="Segoe UI Semibold"/>
              </a:rPr>
              <a:t>Relevance Gate → honest no_match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245352" y="4261104"/>
            <a:ext cx="2596896" cy="2029968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ounded Rectangle 170"/>
          <p:cNvSpPr/>
          <p:nvPr/>
        </p:nvSpPr>
        <p:spPr>
          <a:xfrm>
            <a:off x="6409944" y="442569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F08A7A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6940296" y="43891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>
                <a:solidFill>
                  <a:srgbClr val="F5EFE6"/>
                </a:solidFill>
                <a:latin typeface="Segoe UI Semibold"/>
              </a:rPr>
              <a:t>DL-0022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409944" y="495604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5EFE6"/>
                </a:solidFill>
                <a:latin typeface="Segoe UI Semibold"/>
              </a:rPr>
              <a:t>nearest entry to “factory data reset”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409944" y="5449824"/>
            <a:ext cx="2286000" cy="310896"/>
          </a:xfrm>
          <a:prstGeom prst="roundRect">
            <a:avLst>
              <a:gd name="adj" fmla="val 25000"/>
            </a:avLst>
          </a:prstGeom>
          <a:solidFill>
            <a:srgbClr val="00000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l"/>
            <a:r>
              <a:rPr sz="750" b="0" i="0">
                <a:solidFill>
                  <a:srgbClr val="D9D2C7"/>
                </a:solidFill>
                <a:latin typeface="Consolas"/>
              </a:rPr>
              <a:t>it is the AUTO reset after failed unlocks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656832" y="585216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2B66D"/>
                </a:solidFill>
                <a:latin typeface="Segoe UI Semibold"/>
              </a:rPr>
              <a:t>Abstain → dummy_positive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8951976" y="4261104"/>
            <a:ext cx="2596896" cy="2029968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ounded Rectangle 178"/>
          <p:cNvSpPr/>
          <p:nvPr/>
        </p:nvSpPr>
        <p:spPr>
          <a:xfrm>
            <a:off x="9116567" y="442569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F08A7A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9646919" y="43891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>
                <a:solidFill>
                  <a:srgbClr val="F5EFE6"/>
                </a:solidFill>
                <a:latin typeface="Segoe UI Semibold"/>
              </a:rPr>
              <a:t>12 words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9116567" y="495604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5EFE6"/>
                </a:solidFill>
                <a:latin typeface="Segoe UI Semibold"/>
              </a:rPr>
              <a:t>in the official sample description (5–7 allowed)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9116567" y="5449824"/>
            <a:ext cx="2286000" cy="310896"/>
          </a:xfrm>
          <a:prstGeom prst="roundRect">
            <a:avLst>
              <a:gd name="adj" fmla="val 25000"/>
            </a:avLst>
          </a:prstGeom>
          <a:solidFill>
            <a:srgbClr val="00000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l"/>
            <a:r>
              <a:rPr sz="750" b="0" i="0">
                <a:solidFill>
                  <a:srgbClr val="D9D2C7"/>
                </a:solidFill>
                <a:latin typeface="Consolas"/>
              </a:rPr>
              <a:t>sample_output.json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363455" y="585216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2B66D"/>
                </a:solidFill>
                <a:latin typeface="Segoe UI Semibold"/>
              </a:rPr>
              <a:t>Every field rule enforced in code</a:t>
            </a:r>
          </a:p>
        </p:txBody>
      </p:sp>
      <p:pic>
        <p:nvPicPr>
          <p:cNvPr id="3" name="icon">
            <a:extLst>
              <a:ext uri="{FF2B5EF4-FFF2-40B4-BE49-F238E27FC236}">
                <a16:creationId xmlns:a16="http://schemas.microsoft.com/office/drawing/2014/main" id="{A2C72161-D42B-68E1-46C9-553394C4559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6112" y="2679191"/>
            <a:ext cx="219456" cy="219456"/>
          </a:xfrm>
          <a:prstGeom prst="rect">
            <a:avLst/>
          </a:prstGeom>
        </p:spPr>
      </p:pic>
      <p:pic>
        <p:nvPicPr>
          <p:cNvPr id="5" name="icon">
            <a:extLst>
              <a:ext uri="{FF2B5EF4-FFF2-40B4-BE49-F238E27FC236}">
                <a16:creationId xmlns:a16="http://schemas.microsoft.com/office/drawing/2014/main" id="{3C685D3B-D75D-0A76-8C1C-D4A44279E01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8648" y="2697479"/>
            <a:ext cx="182880" cy="182880"/>
          </a:xfrm>
          <a:prstGeom prst="rect">
            <a:avLst/>
          </a:prstGeom>
        </p:spPr>
      </p:pic>
      <p:pic>
        <p:nvPicPr>
          <p:cNvPr id="7" name="icon">
            <a:extLst>
              <a:ext uri="{FF2B5EF4-FFF2-40B4-BE49-F238E27FC236}">
                <a16:creationId xmlns:a16="http://schemas.microsoft.com/office/drawing/2014/main" id="{3532D5CF-32B8-D297-8DAB-BE7F1B1D40C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6112" y="3182112"/>
            <a:ext cx="219456" cy="219456"/>
          </a:xfrm>
          <a:prstGeom prst="rect">
            <a:avLst/>
          </a:prstGeom>
        </p:spPr>
      </p:pic>
      <p:pic>
        <p:nvPicPr>
          <p:cNvPr id="9" name="icon">
            <a:extLst>
              <a:ext uri="{FF2B5EF4-FFF2-40B4-BE49-F238E27FC236}">
                <a16:creationId xmlns:a16="http://schemas.microsoft.com/office/drawing/2014/main" id="{9C47E511-4316-1E58-C02B-3747BD61669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8648" y="3200400"/>
            <a:ext cx="182880" cy="182880"/>
          </a:xfrm>
          <a:prstGeom prst="rect">
            <a:avLst/>
          </a:prstGeom>
        </p:spPr>
      </p:pic>
      <p:pic>
        <p:nvPicPr>
          <p:cNvPr id="11" name="icon">
            <a:extLst>
              <a:ext uri="{FF2B5EF4-FFF2-40B4-BE49-F238E27FC236}">
                <a16:creationId xmlns:a16="http://schemas.microsoft.com/office/drawing/2014/main" id="{1F544AEC-A57C-5348-65B0-CF828A8055B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6112" y="3685032"/>
            <a:ext cx="219456" cy="219456"/>
          </a:xfrm>
          <a:prstGeom prst="rect">
            <a:avLst/>
          </a:prstGeom>
        </p:spPr>
      </p:pic>
      <p:pic>
        <p:nvPicPr>
          <p:cNvPr id="13" name="icon">
            <a:extLst>
              <a:ext uri="{FF2B5EF4-FFF2-40B4-BE49-F238E27FC236}">
                <a16:creationId xmlns:a16="http://schemas.microsoft.com/office/drawing/2014/main" id="{8725F2B9-A5DA-2986-8507-E1EAB512283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8648" y="3703320"/>
            <a:ext cx="182880" cy="182880"/>
          </a:xfrm>
          <a:prstGeom prst="rect">
            <a:avLst/>
          </a:prstGeom>
        </p:spPr>
      </p:pic>
      <p:pic>
        <p:nvPicPr>
          <p:cNvPr id="15" name="icon">
            <a:extLst>
              <a:ext uri="{FF2B5EF4-FFF2-40B4-BE49-F238E27FC236}">
                <a16:creationId xmlns:a16="http://schemas.microsoft.com/office/drawing/2014/main" id="{1A487375-B4F3-A895-941C-C83FC3BE048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6112" y="4187952"/>
            <a:ext cx="219456" cy="219456"/>
          </a:xfrm>
          <a:prstGeom prst="rect">
            <a:avLst/>
          </a:prstGeom>
        </p:spPr>
      </p:pic>
      <p:pic>
        <p:nvPicPr>
          <p:cNvPr id="17" name="icon">
            <a:extLst>
              <a:ext uri="{FF2B5EF4-FFF2-40B4-BE49-F238E27FC236}">
                <a16:creationId xmlns:a16="http://schemas.microsoft.com/office/drawing/2014/main" id="{9A3F07DD-6159-BAE9-376C-A57C85B5F1E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8648" y="4206240"/>
            <a:ext cx="182880" cy="182880"/>
          </a:xfrm>
          <a:prstGeom prst="rect">
            <a:avLst/>
          </a:prstGeom>
        </p:spPr>
      </p:pic>
      <p:pic>
        <p:nvPicPr>
          <p:cNvPr id="19" name="icon">
            <a:extLst>
              <a:ext uri="{FF2B5EF4-FFF2-40B4-BE49-F238E27FC236}">
                <a16:creationId xmlns:a16="http://schemas.microsoft.com/office/drawing/2014/main" id="{5392B2D9-2FE7-E1BE-849E-950BF3AD853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04269" y="2368661"/>
            <a:ext cx="218724" cy="218724"/>
          </a:xfrm>
          <a:prstGeom prst="rect">
            <a:avLst/>
          </a:prstGeom>
        </p:spPr>
      </p:pic>
      <p:pic>
        <p:nvPicPr>
          <p:cNvPr id="21" name="icon">
            <a:extLst>
              <a:ext uri="{FF2B5EF4-FFF2-40B4-BE49-F238E27FC236}">
                <a16:creationId xmlns:a16="http://schemas.microsoft.com/office/drawing/2014/main" id="{E0088A9A-E7FD-E37F-D3A5-9B7957183DD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03320" y="3749039"/>
            <a:ext cx="182880" cy="182880"/>
          </a:xfrm>
          <a:prstGeom prst="rect">
            <a:avLst/>
          </a:prstGeom>
        </p:spPr>
      </p:pic>
      <p:pic>
        <p:nvPicPr>
          <p:cNvPr id="23" name="icon">
            <a:extLst>
              <a:ext uri="{FF2B5EF4-FFF2-40B4-BE49-F238E27FC236}">
                <a16:creationId xmlns:a16="http://schemas.microsoft.com/office/drawing/2014/main" id="{EE81435F-2501-5559-3BFC-1D9846AC54A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10893" y="2368661"/>
            <a:ext cx="218724" cy="218724"/>
          </a:xfrm>
          <a:prstGeom prst="rect">
            <a:avLst/>
          </a:prstGeom>
        </p:spPr>
      </p:pic>
      <p:pic>
        <p:nvPicPr>
          <p:cNvPr id="25" name="icon">
            <a:extLst>
              <a:ext uri="{FF2B5EF4-FFF2-40B4-BE49-F238E27FC236}">
                <a16:creationId xmlns:a16="http://schemas.microsoft.com/office/drawing/2014/main" id="{8A06EBCA-6230-D290-347E-2C04102A1BC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09944" y="3749039"/>
            <a:ext cx="182880" cy="182880"/>
          </a:xfrm>
          <a:prstGeom prst="rect">
            <a:avLst/>
          </a:prstGeom>
        </p:spPr>
      </p:pic>
      <p:pic>
        <p:nvPicPr>
          <p:cNvPr id="27" name="icon">
            <a:extLst>
              <a:ext uri="{FF2B5EF4-FFF2-40B4-BE49-F238E27FC236}">
                <a16:creationId xmlns:a16="http://schemas.microsoft.com/office/drawing/2014/main" id="{74E4AD0B-4460-F220-0BE6-C101ECC255F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217517" y="2368661"/>
            <a:ext cx="218724" cy="218724"/>
          </a:xfrm>
          <a:prstGeom prst="rect">
            <a:avLst/>
          </a:prstGeom>
        </p:spPr>
      </p:pic>
      <p:pic>
        <p:nvPicPr>
          <p:cNvPr id="29" name="icon">
            <a:extLst>
              <a:ext uri="{FF2B5EF4-FFF2-40B4-BE49-F238E27FC236}">
                <a16:creationId xmlns:a16="http://schemas.microsoft.com/office/drawing/2014/main" id="{372CC006-529D-A7B2-4573-D7A93EA76B2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16567" y="3749039"/>
            <a:ext cx="182880" cy="182880"/>
          </a:xfrm>
          <a:prstGeom prst="rect">
            <a:avLst/>
          </a:prstGeom>
        </p:spPr>
      </p:pic>
      <p:pic>
        <p:nvPicPr>
          <p:cNvPr id="31" name="icon">
            <a:extLst>
              <a:ext uri="{FF2B5EF4-FFF2-40B4-BE49-F238E27FC236}">
                <a16:creationId xmlns:a16="http://schemas.microsoft.com/office/drawing/2014/main" id="{C90025AA-5FBC-3314-55D2-B8A001A2DFB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04269" y="4526645"/>
            <a:ext cx="218724" cy="218724"/>
          </a:xfrm>
          <a:prstGeom prst="rect">
            <a:avLst/>
          </a:prstGeom>
        </p:spPr>
      </p:pic>
      <p:pic>
        <p:nvPicPr>
          <p:cNvPr id="33" name="icon">
            <a:extLst>
              <a:ext uri="{FF2B5EF4-FFF2-40B4-BE49-F238E27FC236}">
                <a16:creationId xmlns:a16="http://schemas.microsoft.com/office/drawing/2014/main" id="{1C673357-58B4-675F-BF23-958D46369A5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03320" y="5907024"/>
            <a:ext cx="182880" cy="182880"/>
          </a:xfrm>
          <a:prstGeom prst="rect">
            <a:avLst/>
          </a:prstGeom>
        </p:spPr>
      </p:pic>
      <p:pic>
        <p:nvPicPr>
          <p:cNvPr id="35" name="icon">
            <a:extLst>
              <a:ext uri="{FF2B5EF4-FFF2-40B4-BE49-F238E27FC236}">
                <a16:creationId xmlns:a16="http://schemas.microsoft.com/office/drawing/2014/main" id="{5AE901B2-4D19-2444-BD34-C8C5C2BC3CE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10893" y="4526645"/>
            <a:ext cx="218724" cy="218724"/>
          </a:xfrm>
          <a:prstGeom prst="rect">
            <a:avLst/>
          </a:prstGeom>
        </p:spPr>
      </p:pic>
      <p:pic>
        <p:nvPicPr>
          <p:cNvPr id="37" name="icon">
            <a:extLst>
              <a:ext uri="{FF2B5EF4-FFF2-40B4-BE49-F238E27FC236}">
                <a16:creationId xmlns:a16="http://schemas.microsoft.com/office/drawing/2014/main" id="{EA3CA0C5-9EDA-13CB-1AEF-C1EEA7A3227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09944" y="5907024"/>
            <a:ext cx="182880" cy="182880"/>
          </a:xfrm>
          <a:prstGeom prst="rect">
            <a:avLst/>
          </a:prstGeom>
        </p:spPr>
      </p:pic>
      <p:pic>
        <p:nvPicPr>
          <p:cNvPr id="39" name="icon">
            <a:extLst>
              <a:ext uri="{FF2B5EF4-FFF2-40B4-BE49-F238E27FC236}">
                <a16:creationId xmlns:a16="http://schemas.microsoft.com/office/drawing/2014/main" id="{CB7B8649-7190-8644-8193-D70079FB6BE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17517" y="4526645"/>
            <a:ext cx="218724" cy="218724"/>
          </a:xfrm>
          <a:prstGeom prst="rect">
            <a:avLst/>
          </a:prstGeom>
        </p:spPr>
      </p:pic>
      <p:pic>
        <p:nvPicPr>
          <p:cNvPr id="41" name="icon">
            <a:extLst>
              <a:ext uri="{FF2B5EF4-FFF2-40B4-BE49-F238E27FC236}">
                <a16:creationId xmlns:a16="http://schemas.microsoft.com/office/drawing/2014/main" id="{9ABB2F92-3C51-173C-8DC8-8FB97897070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16567" y="5907024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112" descr="bg_sl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4" name="Oval 113"/>
          <p:cNvSpPr/>
          <p:nvPr/>
        </p:nvSpPr>
        <p:spPr>
          <a:xfrm>
            <a:off x="566928" y="310896"/>
            <a:ext cx="237744" cy="237744"/>
          </a:xfrm>
          <a:prstGeom prst="ellipse">
            <a:avLst/>
          </a:prstGeom>
          <a:noFill/>
          <a:ln w="19050">
            <a:solidFill>
              <a:srgbClr val="F2B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638251" y="382219"/>
            <a:ext cx="95097" cy="95097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96112" y="2743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5EFE6"/>
                </a:solidFill>
                <a:latin typeface="Segoe UI Semibold"/>
              </a:rPr>
              <a:t>TapTrace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048256" y="329184"/>
            <a:ext cx="10972" cy="20116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21284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spc="250">
                <a:solidFill>
                  <a:srgbClr val="A89F93"/>
                </a:solidFill>
                <a:latin typeface="Segoe UI"/>
              </a:rPr>
              <a:t>03  |  OUR SOLUTION &amp; ARCHITECTURE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23760" y="274320"/>
            <a:ext cx="439826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 spc="200">
                <a:solidFill>
                  <a:srgbClr val="A89F93"/>
                </a:solidFill>
                <a:latin typeface="Segoe UI"/>
              </a:rPr>
              <a:t>SAMSUNG PRISM  ·  GENAI HACKATHON 3.0  ·  THEME 02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6928" y="822960"/>
            <a:ext cx="81838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0" i="0">
                <a:solidFill>
                  <a:srgbClr val="F5EFE6"/>
                </a:solidFill>
                <a:latin typeface="Segoe UI Semibold"/>
              </a:rPr>
              <a:t>A five-stage pipeline where the LLM may select and name - but </a:t>
            </a:r>
            <a:r>
              <a:rPr sz="2700" b="0" i="0">
                <a:solidFill>
                  <a:srgbClr val="F2B66D"/>
                </a:solidFill>
                <a:latin typeface="Segoe UI Semibold"/>
              </a:rPr>
              <a:t>never write</a:t>
            </a:r>
            <a:r>
              <a:rPr sz="2700" b="0" i="0">
                <a:solidFill>
                  <a:srgbClr val="F5EFE6"/>
                </a:solidFill>
                <a:latin typeface="Segoe UI Semibold"/>
              </a:rPr>
              <a:t> - a step.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006840" y="896112"/>
            <a:ext cx="261518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D9D2C7"/>
                </a:solidFill>
                <a:latin typeface="Segoe UI"/>
              </a:rPr>
              <a:t>Two LLM calls run in parallel on the cold path. Everything else is deterministic, tested code.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607040" y="6473952"/>
            <a:ext cx="10149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8A8176"/>
                </a:solidFill>
                <a:latin typeface="Segoe UI"/>
              </a:rPr>
              <a:t>04 / 12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66928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spc="150">
                <a:solidFill>
                  <a:srgbClr val="8A8176"/>
                </a:solidFill>
                <a:latin typeface="Segoe UI"/>
              </a:rPr>
              <a:t>TIET  ·  TAPTRACE  ·  THEME 02 SMART GUIDED TROUBLESHOOTING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66928" y="2103120"/>
            <a:ext cx="2103120" cy="2971800"/>
          </a:xfrm>
          <a:prstGeom prst="roundRect">
            <a:avLst>
              <a:gd name="adj" fmla="val 6000"/>
            </a:avLst>
          </a:prstGeom>
          <a:solidFill>
            <a:srgbClr val="9DBFE3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713232" y="2240280"/>
            <a:ext cx="365760" cy="365760"/>
          </a:xfrm>
          <a:prstGeom prst="ellipse">
            <a:avLst/>
          </a:prstGeom>
          <a:solidFill>
            <a:srgbClr val="9DB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0" i="0">
                <a:solidFill>
                  <a:srgbClr val="2A1A0B"/>
                </a:solidFill>
                <a:latin typeface="Segoe UI Semibold"/>
              </a:rPr>
              <a:t>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70432" y="22402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F5EFE6"/>
                </a:solidFill>
                <a:latin typeface="Segoe UI Semibold"/>
              </a:rPr>
              <a:t>Understand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85800" y="2743200"/>
            <a:ext cx="1865376" cy="658368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1170432" y="2816352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Facet frame</a:t>
            </a:r>
          </a:p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A89F93"/>
                </a:solidFill>
                <a:latin typeface="Segoe UI"/>
              </a:rPr>
              <a:t>symptom · part · component · on/off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85800" y="3502152"/>
            <a:ext cx="1865376" cy="658368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 w="13970">
            <a:solidFill>
              <a:srgbClr val="9DBF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170432" y="3575304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Stage A · LLM</a:t>
            </a:r>
          </a:p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A89F93"/>
                </a:solidFill>
                <a:latin typeface="Segoe UI"/>
              </a:rPr>
              <a:t>canonical query, 10 paraphrases, hard negatives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85800" y="4261104"/>
            <a:ext cx="1865376" cy="658368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170432" y="4334256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Contrastive cache</a:t>
            </a:r>
          </a:p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A89F93"/>
                </a:solidFill>
                <a:latin typeface="Segoe UI"/>
              </a:rPr>
              <a:t>hit in 4 ms, $0, no LLM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2679191" y="3566160"/>
            <a:ext cx="116129" cy="0"/>
          </a:xfrm>
          <a:prstGeom prst="line">
            <a:avLst/>
          </a:prstGeom>
          <a:ln w="15875">
            <a:solidFill>
              <a:srgbClr val="8A817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ounded Rectangle 136"/>
          <p:cNvSpPr/>
          <p:nvPr/>
        </p:nvSpPr>
        <p:spPr>
          <a:xfrm>
            <a:off x="2804464" y="2103120"/>
            <a:ext cx="2103120" cy="2971800"/>
          </a:xfrm>
          <a:prstGeom prst="roundRect">
            <a:avLst>
              <a:gd name="adj" fmla="val 6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2950768" y="2240280"/>
            <a:ext cx="365760" cy="365760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0" i="0">
                <a:solidFill>
                  <a:srgbClr val="2A1A0B"/>
                </a:solidFill>
                <a:latin typeface="Segoe UI Semibold"/>
              </a:rP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407968" y="22402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F5EFE6"/>
                </a:solidFill>
                <a:latin typeface="Segoe UI Semibold"/>
              </a:rPr>
              <a:t>Ground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2923336" y="2743200"/>
            <a:ext cx="1865376" cy="658368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407968" y="2816352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Relevance Gate</a:t>
            </a:r>
          </a:p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A89F93"/>
                </a:solidFill>
                <a:latin typeface="Segoe UI"/>
              </a:rPr>
              <a:t>full · partial · none → no_match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923336" y="3502152"/>
            <a:ext cx="1865376" cy="658368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3407968" y="3575304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SIIS normaliser</a:t>
            </a:r>
          </a:p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A89F93"/>
                </a:solidFill>
                <a:latin typeface="Segoe UI"/>
              </a:rPr>
              <a:t>span ids, leak &amp; corrupt flags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2923336" y="4261104"/>
            <a:ext cx="1865376" cy="658368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3407968" y="4334256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Evidence units</a:t>
            </a:r>
          </a:p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A89F93"/>
                </a:solidFill>
                <a:latin typeface="Segoe UI"/>
              </a:rPr>
              <a:t>verbatim steps + provenance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4916728" y="3566160"/>
            <a:ext cx="116129" cy="0"/>
          </a:xfrm>
          <a:prstGeom prst="line">
            <a:avLst/>
          </a:prstGeom>
          <a:ln w="15875">
            <a:solidFill>
              <a:srgbClr val="8A817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149"/>
          <p:cNvSpPr/>
          <p:nvPr/>
        </p:nvSpPr>
        <p:spPr>
          <a:xfrm>
            <a:off x="5042001" y="2103120"/>
            <a:ext cx="2103120" cy="2971800"/>
          </a:xfrm>
          <a:prstGeom prst="roundRect">
            <a:avLst>
              <a:gd name="adj" fmla="val 6000"/>
            </a:avLst>
          </a:prstGeom>
          <a:solidFill>
            <a:srgbClr val="93CDB9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5188305" y="2240280"/>
            <a:ext cx="365760" cy="365760"/>
          </a:xfrm>
          <a:prstGeom prst="ellipse">
            <a:avLst/>
          </a:prstGeom>
          <a:solidFill>
            <a:srgbClr val="93CD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0" i="0">
                <a:solidFill>
                  <a:srgbClr val="2A1A0B"/>
                </a:solidFill>
                <a:latin typeface="Segoe UI Semibold"/>
              </a:rPr>
              <a:t>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645505" y="22402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F5EFE6"/>
                </a:solidFill>
                <a:latin typeface="Segoe UI Semibold"/>
              </a:rPr>
              <a:t>Resolve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160873" y="2743200"/>
            <a:ext cx="1865376" cy="658368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5645505" y="2816352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Catalog Compiler</a:t>
            </a:r>
          </a:p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A89F93"/>
                </a:solidFill>
                <a:latin typeface="Segoe UI"/>
              </a:rPr>
              <a:t>397 screens × on/off/open/set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5160873" y="3502152"/>
            <a:ext cx="1865376" cy="658368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645505" y="3575304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Screen resolver</a:t>
            </a:r>
          </a:p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A89F93"/>
                </a:solidFill>
                <a:latin typeface="Segoe UI"/>
              </a:rPr>
              <a:t>leaf label → fuzzy → abstain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160873" y="4261104"/>
            <a:ext cx="1865376" cy="658368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5645505" y="4334256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Polarity + probe</a:t>
            </a:r>
          </a:p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A89F93"/>
                </a:solidFill>
                <a:latin typeface="Segoe UI"/>
              </a:rPr>
              <a:t>variant + validationDeeplink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7154265" y="3566160"/>
            <a:ext cx="116129" cy="0"/>
          </a:xfrm>
          <a:prstGeom prst="line">
            <a:avLst/>
          </a:prstGeom>
          <a:ln w="15875">
            <a:solidFill>
              <a:srgbClr val="8A817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ounded Rectangle 162"/>
          <p:cNvSpPr/>
          <p:nvPr/>
        </p:nvSpPr>
        <p:spPr>
          <a:xfrm>
            <a:off x="7279538" y="2103120"/>
            <a:ext cx="2103120" cy="2971800"/>
          </a:xfrm>
          <a:prstGeom prst="roundRect">
            <a:avLst>
              <a:gd name="adj" fmla="val 6000"/>
            </a:avLst>
          </a:prstGeom>
          <a:solidFill>
            <a:srgbClr val="EE9A7E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7425842" y="2240280"/>
            <a:ext cx="365760" cy="365760"/>
          </a:xfrm>
          <a:prstGeom prst="ellipse">
            <a:avLst/>
          </a:prstGeom>
          <a:solidFill>
            <a:srgbClr val="EE9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0" i="0">
                <a:solidFill>
                  <a:srgbClr val="2A1A0B"/>
                </a:solidFill>
                <a:latin typeface="Segoe UI Semibold"/>
              </a:rPr>
              <a:t>4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883042" y="22402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F5EFE6"/>
                </a:solidFill>
                <a:latin typeface="Segoe UI Semibold"/>
              </a:rPr>
              <a:t>Compose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398410" y="2743200"/>
            <a:ext cx="1865376" cy="658368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 w="13970">
            <a:solidFill>
              <a:srgbClr val="EE9A7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883042" y="2816352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Stage B · LLM</a:t>
            </a:r>
          </a:p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A89F93"/>
                </a:solidFill>
                <a:latin typeface="Segoe UI"/>
              </a:rPr>
              <a:t>select, group, name - no step text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398410" y="3502152"/>
            <a:ext cx="1865376" cy="658368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7883042" y="3575304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Category &amp; order</a:t>
            </a:r>
          </a:p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A89F93"/>
                </a:solidFill>
                <a:latin typeface="Segoe UI"/>
              </a:rPr>
              <a:t>auto → manual → critical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7398410" y="4261104"/>
            <a:ext cx="1865376" cy="658368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7883042" y="4334256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Computed score</a:t>
            </a:r>
          </a:p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A89F93"/>
                </a:solidFill>
                <a:latin typeface="Segoe UI"/>
              </a:rPr>
              <a:t>fit × grounding × mapping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9391802" y="3566160"/>
            <a:ext cx="116129" cy="0"/>
          </a:xfrm>
          <a:prstGeom prst="line">
            <a:avLst/>
          </a:prstGeom>
          <a:ln w="15875">
            <a:solidFill>
              <a:srgbClr val="8A817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Rounded Rectangle 175"/>
          <p:cNvSpPr/>
          <p:nvPr/>
        </p:nvSpPr>
        <p:spPr>
          <a:xfrm>
            <a:off x="9517075" y="2103120"/>
            <a:ext cx="2103120" cy="2971800"/>
          </a:xfrm>
          <a:prstGeom prst="roundRect">
            <a:avLst>
              <a:gd name="adj" fmla="val 6000"/>
            </a:avLst>
          </a:prstGeom>
          <a:solidFill>
            <a:srgbClr val="C9C1B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9663379" y="2240280"/>
            <a:ext cx="365760" cy="365760"/>
          </a:xfrm>
          <a:prstGeom prst="ellipse">
            <a:avLst/>
          </a:prstGeom>
          <a:solidFill>
            <a:srgbClr val="C9C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0" i="0">
                <a:solidFill>
                  <a:srgbClr val="2A1A0B"/>
                </a:solidFill>
                <a:latin typeface="Segoe UI Semibold"/>
              </a:rPr>
              <a:t>5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120579" y="22402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F5EFE6"/>
                </a:solidFill>
                <a:latin typeface="Segoe UI Semibold"/>
              </a:rPr>
              <a:t>Guarantee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9635947" y="2743200"/>
            <a:ext cx="1865376" cy="658368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0120579" y="2816352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Output gate</a:t>
            </a:r>
          </a:p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A89F93"/>
                </a:solidFill>
                <a:latin typeface="Segoe UI"/>
              </a:rPr>
              <a:t>organisers’ schema · URI set · 0 leaks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9635947" y="3502152"/>
            <a:ext cx="1865376" cy="658368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10120579" y="3575304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Cache write</a:t>
            </a:r>
          </a:p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A89F93"/>
                </a:solidFill>
                <a:latin typeface="Segoe UI"/>
              </a:rPr>
              <a:t>τ from own ± clouds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9635947" y="4261104"/>
            <a:ext cx="1865376" cy="658368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10120579" y="4334256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REST API</a:t>
            </a:r>
          </a:p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A89F93"/>
                </a:solidFill>
                <a:latin typeface="Segoe UI"/>
              </a:rPr>
              <a:t>/v1/troubleshoot · /health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566928" y="5257800"/>
            <a:ext cx="7635240" cy="109728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749808" y="5367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20">
                <a:solidFill>
                  <a:srgbClr val="A89F93"/>
                </a:solidFill>
                <a:latin typeface="Segoe UI Semibold"/>
              </a:rPr>
              <a:t>LATENCY BUDGET (MEASURED)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49808" y="565099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Cache hit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984248" y="5669280"/>
            <a:ext cx="731520" cy="219456"/>
          </a:xfrm>
          <a:prstGeom prst="rect">
            <a:avLst/>
          </a:prstGeom>
          <a:solidFill>
            <a:srgbClr val="F2B66D">
              <a:alpha val="14000"/>
            </a:srgbClr>
          </a:solidFill>
          <a:ln w="19050">
            <a:solidFill>
              <a:srgbClr val="000000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 i="0">
                <a:solidFill>
                  <a:srgbClr val="F7D3A6"/>
                </a:solidFill>
                <a:latin typeface="Segoe UI"/>
              </a:rPr>
              <a:t>normalise + facets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715768" y="5669280"/>
            <a:ext cx="1463040" cy="219456"/>
          </a:xfrm>
          <a:prstGeom prst="rect">
            <a:avLst/>
          </a:prstGeom>
          <a:solidFill>
            <a:srgbClr val="F2B66D">
              <a:alpha val="14000"/>
            </a:srgbClr>
          </a:solidFill>
          <a:ln w="19050">
            <a:solidFill>
              <a:srgbClr val="000000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 i="0">
                <a:solidFill>
                  <a:srgbClr val="F7D3A6"/>
                </a:solidFill>
                <a:latin typeface="Segoe UI"/>
              </a:rPr>
              <a:t>embed (INT8 ONNX)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178808" y="5669280"/>
            <a:ext cx="822960" cy="219456"/>
          </a:xfrm>
          <a:prstGeom prst="rect">
            <a:avLst/>
          </a:prstGeom>
          <a:solidFill>
            <a:srgbClr val="F2B66D">
              <a:alpha val="14000"/>
            </a:srgbClr>
          </a:solidFill>
          <a:ln w="19050">
            <a:solidFill>
              <a:srgbClr val="000000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 i="0">
                <a:solidFill>
                  <a:srgbClr val="F7D3A6"/>
                </a:solidFill>
                <a:latin typeface="Segoe UI"/>
              </a:rPr>
              <a:t>ANN + guard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093208" y="565099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2B66D"/>
                </a:solidFill>
                <a:latin typeface="Segoe UI Semibold"/>
              </a:rPr>
              <a:t>P95 3.5 ms  ·  $0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749808" y="598932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Cold path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984248" y="6007608"/>
            <a:ext cx="640080" cy="219456"/>
          </a:xfrm>
          <a:prstGeom prst="rect">
            <a:avLst/>
          </a:prstGeom>
          <a:solidFill>
            <a:srgbClr val="C9C1B6">
              <a:alpha val="10000"/>
            </a:srgbClr>
          </a:solidFill>
          <a:ln w="19050">
            <a:solidFill>
              <a:srgbClr val="000000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 i="0">
                <a:solidFill>
                  <a:srgbClr val="C9C1B6"/>
                </a:solidFill>
                <a:latin typeface="Segoe UI"/>
              </a:rPr>
              <a:t>gate + units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624328" y="6007608"/>
            <a:ext cx="2926080" cy="219456"/>
          </a:xfrm>
          <a:prstGeom prst="rect">
            <a:avLst/>
          </a:prstGeom>
          <a:solidFill>
            <a:srgbClr val="EE9A7E">
              <a:alpha val="13000"/>
            </a:srgbClr>
          </a:solidFill>
          <a:ln w="19050">
            <a:solidFill>
              <a:srgbClr val="000000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 i="0">
                <a:solidFill>
                  <a:srgbClr val="EE9A7E"/>
                </a:solidFill>
                <a:latin typeface="Segoe UI"/>
              </a:rPr>
              <a:t>Stage A ∥ Stage B (LLM)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5550408" y="6007608"/>
            <a:ext cx="914400" cy="219456"/>
          </a:xfrm>
          <a:prstGeom prst="rect">
            <a:avLst/>
          </a:prstGeom>
          <a:solidFill>
            <a:srgbClr val="93CDB9">
              <a:alpha val="13000"/>
            </a:srgbClr>
          </a:solidFill>
          <a:ln w="19050">
            <a:solidFill>
              <a:srgbClr val="000000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 i="0">
                <a:solidFill>
                  <a:srgbClr val="93CDB9"/>
                </a:solidFill>
                <a:latin typeface="Segoe UI"/>
              </a:rPr>
              <a:t>resolve + compose + gate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556248" y="598932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EE9A7E"/>
                </a:solidFill>
                <a:latin typeface="Segoe UI Semibold"/>
              </a:rPr>
              <a:t>P50 1.3 s  ·  P95 3.8 s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8412480" y="5257800"/>
            <a:ext cx="1005840" cy="109728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8531352" y="5669280"/>
            <a:ext cx="8686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5EFE6"/>
                </a:solidFill>
                <a:latin typeface="Segoe UI Semibold"/>
              </a:rPr>
              <a:t>$0.00013</a:t>
            </a:r>
          </a:p>
          <a:p>
            <a:pPr algn="l">
              <a:lnSpc>
                <a:spcPct val="95000"/>
              </a:lnSpc>
            </a:pPr>
            <a:r>
              <a:rPr sz="750" b="0" i="0">
                <a:solidFill>
                  <a:srgbClr val="A89F93"/>
                </a:solidFill>
                <a:latin typeface="Segoe UI"/>
              </a:rPr>
              <a:t>per cold query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9500615" y="5257800"/>
            <a:ext cx="1005840" cy="109728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9619488" y="5669280"/>
            <a:ext cx="8686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5EFE6"/>
                </a:solidFill>
                <a:latin typeface="Segoe UI Semibold"/>
              </a:rPr>
              <a:t>$0</a:t>
            </a:r>
          </a:p>
          <a:p>
            <a:pPr algn="l">
              <a:lnSpc>
                <a:spcPct val="95000"/>
              </a:lnSpc>
            </a:pPr>
            <a:r>
              <a:rPr sz="750" b="0" i="0">
                <a:solidFill>
                  <a:srgbClr val="A89F93"/>
                </a:solidFill>
                <a:latin typeface="Segoe UI"/>
              </a:rPr>
              <a:t>per cache hit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10588751" y="5257800"/>
            <a:ext cx="1005840" cy="109728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10707624" y="5669280"/>
            <a:ext cx="8686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5EFE6"/>
                </a:solidFill>
                <a:latin typeface="Segoe UI Semibold"/>
              </a:rPr>
              <a:t>2</a:t>
            </a:r>
          </a:p>
          <a:p>
            <a:pPr algn="l">
              <a:lnSpc>
                <a:spcPct val="95000"/>
              </a:lnSpc>
            </a:pPr>
            <a:r>
              <a:rPr sz="750" b="0" i="0">
                <a:solidFill>
                  <a:srgbClr val="A89F93"/>
                </a:solidFill>
                <a:latin typeface="Segoe UI"/>
              </a:rPr>
              <a:t>LLM calls per cold query</a:t>
            </a:r>
          </a:p>
        </p:txBody>
      </p:sp>
      <p:pic>
        <p:nvPicPr>
          <p:cNvPr id="3" name="icon">
            <a:extLst>
              <a:ext uri="{FF2B5EF4-FFF2-40B4-BE49-F238E27FC236}">
                <a16:creationId xmlns:a16="http://schemas.microsoft.com/office/drawing/2014/main" id="{89ABD4A1-678B-059F-0112-E58BAA53AB8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528" y="2926080"/>
            <a:ext cx="274320" cy="274320"/>
          </a:xfrm>
          <a:prstGeom prst="rect">
            <a:avLst/>
          </a:prstGeom>
        </p:spPr>
      </p:pic>
      <p:pic>
        <p:nvPicPr>
          <p:cNvPr id="5" name="icon">
            <a:extLst>
              <a:ext uri="{FF2B5EF4-FFF2-40B4-BE49-F238E27FC236}">
                <a16:creationId xmlns:a16="http://schemas.microsoft.com/office/drawing/2014/main" id="{91DF5373-2217-A1A8-D7B5-02BA48CF4B0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528" y="3685032"/>
            <a:ext cx="274320" cy="274320"/>
          </a:xfrm>
          <a:prstGeom prst="rect">
            <a:avLst/>
          </a:prstGeom>
        </p:spPr>
      </p:pic>
      <p:pic>
        <p:nvPicPr>
          <p:cNvPr id="7" name="icon">
            <a:extLst>
              <a:ext uri="{FF2B5EF4-FFF2-40B4-BE49-F238E27FC236}">
                <a16:creationId xmlns:a16="http://schemas.microsoft.com/office/drawing/2014/main" id="{318F0DF5-60FA-D405-476C-440D2BA5BD9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528" y="4443984"/>
            <a:ext cx="274320" cy="274320"/>
          </a:xfrm>
          <a:prstGeom prst="rect">
            <a:avLst/>
          </a:prstGeom>
        </p:spPr>
      </p:pic>
      <p:pic>
        <p:nvPicPr>
          <p:cNvPr id="9" name="icon">
            <a:extLst>
              <a:ext uri="{FF2B5EF4-FFF2-40B4-BE49-F238E27FC236}">
                <a16:creationId xmlns:a16="http://schemas.microsoft.com/office/drawing/2014/main" id="{C3AB3A4E-4FD5-47E2-6D45-A20B82530CB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33064" y="2926080"/>
            <a:ext cx="274320" cy="274320"/>
          </a:xfrm>
          <a:prstGeom prst="rect">
            <a:avLst/>
          </a:prstGeom>
        </p:spPr>
      </p:pic>
      <p:pic>
        <p:nvPicPr>
          <p:cNvPr id="11" name="icon">
            <a:extLst>
              <a:ext uri="{FF2B5EF4-FFF2-40B4-BE49-F238E27FC236}">
                <a16:creationId xmlns:a16="http://schemas.microsoft.com/office/drawing/2014/main" id="{6671DEAF-C2E0-FE51-1FBD-73EA0EF592C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33064" y="3685032"/>
            <a:ext cx="274320" cy="274320"/>
          </a:xfrm>
          <a:prstGeom prst="rect">
            <a:avLst/>
          </a:prstGeom>
        </p:spPr>
      </p:pic>
      <p:pic>
        <p:nvPicPr>
          <p:cNvPr id="13" name="icon">
            <a:extLst>
              <a:ext uri="{FF2B5EF4-FFF2-40B4-BE49-F238E27FC236}">
                <a16:creationId xmlns:a16="http://schemas.microsoft.com/office/drawing/2014/main" id="{9DD198AD-96CD-0361-50B6-CB97574D5D5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064" y="4443984"/>
            <a:ext cx="274320" cy="274320"/>
          </a:xfrm>
          <a:prstGeom prst="rect">
            <a:avLst/>
          </a:prstGeom>
        </p:spPr>
      </p:pic>
      <p:pic>
        <p:nvPicPr>
          <p:cNvPr id="15" name="icon">
            <a:extLst>
              <a:ext uri="{FF2B5EF4-FFF2-40B4-BE49-F238E27FC236}">
                <a16:creationId xmlns:a16="http://schemas.microsoft.com/office/drawing/2014/main" id="{045BF5D4-751D-5197-E38B-89BCD08F40F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70601" y="2926080"/>
            <a:ext cx="274320" cy="274320"/>
          </a:xfrm>
          <a:prstGeom prst="rect">
            <a:avLst/>
          </a:prstGeom>
        </p:spPr>
      </p:pic>
      <p:pic>
        <p:nvPicPr>
          <p:cNvPr id="17" name="icon">
            <a:extLst>
              <a:ext uri="{FF2B5EF4-FFF2-40B4-BE49-F238E27FC236}">
                <a16:creationId xmlns:a16="http://schemas.microsoft.com/office/drawing/2014/main" id="{79802A1A-675F-B123-3C7E-2E9CC3FFBB0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70601" y="3685032"/>
            <a:ext cx="274320" cy="274320"/>
          </a:xfrm>
          <a:prstGeom prst="rect">
            <a:avLst/>
          </a:prstGeom>
        </p:spPr>
      </p:pic>
      <p:pic>
        <p:nvPicPr>
          <p:cNvPr id="19" name="icon">
            <a:extLst>
              <a:ext uri="{FF2B5EF4-FFF2-40B4-BE49-F238E27FC236}">
                <a16:creationId xmlns:a16="http://schemas.microsoft.com/office/drawing/2014/main" id="{771DC826-0120-4348-3C57-7CE1BF2F32B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70601" y="4443984"/>
            <a:ext cx="274320" cy="274320"/>
          </a:xfrm>
          <a:prstGeom prst="rect">
            <a:avLst/>
          </a:prstGeom>
        </p:spPr>
      </p:pic>
      <p:pic>
        <p:nvPicPr>
          <p:cNvPr id="21" name="icon">
            <a:extLst>
              <a:ext uri="{FF2B5EF4-FFF2-40B4-BE49-F238E27FC236}">
                <a16:creationId xmlns:a16="http://schemas.microsoft.com/office/drawing/2014/main" id="{AFDB6713-0132-1B30-E32A-E4F2A926461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08138" y="2926080"/>
            <a:ext cx="274320" cy="274320"/>
          </a:xfrm>
          <a:prstGeom prst="rect">
            <a:avLst/>
          </a:prstGeom>
        </p:spPr>
      </p:pic>
      <p:pic>
        <p:nvPicPr>
          <p:cNvPr id="23" name="icon">
            <a:extLst>
              <a:ext uri="{FF2B5EF4-FFF2-40B4-BE49-F238E27FC236}">
                <a16:creationId xmlns:a16="http://schemas.microsoft.com/office/drawing/2014/main" id="{EEBC862A-395E-92F0-9950-88A6E1745C3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08138" y="3685032"/>
            <a:ext cx="274320" cy="274320"/>
          </a:xfrm>
          <a:prstGeom prst="rect">
            <a:avLst/>
          </a:prstGeom>
        </p:spPr>
      </p:pic>
      <p:pic>
        <p:nvPicPr>
          <p:cNvPr id="25" name="icon">
            <a:extLst>
              <a:ext uri="{FF2B5EF4-FFF2-40B4-BE49-F238E27FC236}">
                <a16:creationId xmlns:a16="http://schemas.microsoft.com/office/drawing/2014/main" id="{4C6BFB89-9ABB-FC45-689A-5328CC90A41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08138" y="4443984"/>
            <a:ext cx="274320" cy="274320"/>
          </a:xfrm>
          <a:prstGeom prst="rect">
            <a:avLst/>
          </a:prstGeom>
        </p:spPr>
      </p:pic>
      <p:pic>
        <p:nvPicPr>
          <p:cNvPr id="27" name="icon">
            <a:extLst>
              <a:ext uri="{FF2B5EF4-FFF2-40B4-BE49-F238E27FC236}">
                <a16:creationId xmlns:a16="http://schemas.microsoft.com/office/drawing/2014/main" id="{6A57A93A-4523-FC13-472D-00FB1B0E9FF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45675" y="2926080"/>
            <a:ext cx="274320" cy="274320"/>
          </a:xfrm>
          <a:prstGeom prst="rect">
            <a:avLst/>
          </a:prstGeom>
        </p:spPr>
      </p:pic>
      <p:pic>
        <p:nvPicPr>
          <p:cNvPr id="29" name="icon">
            <a:extLst>
              <a:ext uri="{FF2B5EF4-FFF2-40B4-BE49-F238E27FC236}">
                <a16:creationId xmlns:a16="http://schemas.microsoft.com/office/drawing/2014/main" id="{2BFEEF51-8FD4-1120-7A8C-250563203A4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745675" y="3685032"/>
            <a:ext cx="274320" cy="274320"/>
          </a:xfrm>
          <a:prstGeom prst="rect">
            <a:avLst/>
          </a:prstGeom>
        </p:spPr>
      </p:pic>
      <p:pic>
        <p:nvPicPr>
          <p:cNvPr id="31" name="icon">
            <a:extLst>
              <a:ext uri="{FF2B5EF4-FFF2-40B4-BE49-F238E27FC236}">
                <a16:creationId xmlns:a16="http://schemas.microsoft.com/office/drawing/2014/main" id="{B74D6EC9-F296-6A69-ED43-A3B25219427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45675" y="4443984"/>
            <a:ext cx="274320" cy="274320"/>
          </a:xfrm>
          <a:prstGeom prst="rect">
            <a:avLst/>
          </a:prstGeom>
        </p:spPr>
      </p:pic>
      <p:pic>
        <p:nvPicPr>
          <p:cNvPr id="33" name="icon">
            <a:extLst>
              <a:ext uri="{FF2B5EF4-FFF2-40B4-BE49-F238E27FC236}">
                <a16:creationId xmlns:a16="http://schemas.microsoft.com/office/drawing/2014/main" id="{82A11975-BE8E-30C0-D592-D37741686FA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31352" y="5376672"/>
            <a:ext cx="219456" cy="219456"/>
          </a:xfrm>
          <a:prstGeom prst="rect">
            <a:avLst/>
          </a:prstGeom>
        </p:spPr>
      </p:pic>
      <p:pic>
        <p:nvPicPr>
          <p:cNvPr id="35" name="icon">
            <a:extLst>
              <a:ext uri="{FF2B5EF4-FFF2-40B4-BE49-F238E27FC236}">
                <a16:creationId xmlns:a16="http://schemas.microsoft.com/office/drawing/2014/main" id="{543BD890-C0F7-9D41-592C-88BB172A97A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619488" y="5376672"/>
            <a:ext cx="219456" cy="219456"/>
          </a:xfrm>
          <a:prstGeom prst="rect">
            <a:avLst/>
          </a:prstGeom>
        </p:spPr>
      </p:pic>
      <p:pic>
        <p:nvPicPr>
          <p:cNvPr id="37" name="icon">
            <a:extLst>
              <a:ext uri="{FF2B5EF4-FFF2-40B4-BE49-F238E27FC236}">
                <a16:creationId xmlns:a16="http://schemas.microsoft.com/office/drawing/2014/main" id="{F45D4589-4B56-EBE0-420E-4CD0650CB29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707624" y="5376672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 descr="bg_sl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20" name="Oval 119"/>
          <p:cNvSpPr/>
          <p:nvPr/>
        </p:nvSpPr>
        <p:spPr>
          <a:xfrm>
            <a:off x="566928" y="310896"/>
            <a:ext cx="237744" cy="237744"/>
          </a:xfrm>
          <a:prstGeom prst="ellipse">
            <a:avLst/>
          </a:prstGeom>
          <a:noFill/>
          <a:ln w="19050">
            <a:solidFill>
              <a:srgbClr val="F2B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638251" y="382219"/>
            <a:ext cx="95097" cy="95097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96112" y="2743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5EFE6"/>
                </a:solidFill>
                <a:latin typeface="Segoe UI Semibold"/>
              </a:rPr>
              <a:t>TapTrace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048256" y="329184"/>
            <a:ext cx="10972" cy="20116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221284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spc="250">
                <a:solidFill>
                  <a:srgbClr val="A89F93"/>
                </a:solidFill>
                <a:latin typeface="Segoe UI"/>
              </a:rPr>
              <a:t>04  |  DEMO &amp; PRODUCT WALKTHROUGH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223760" y="274320"/>
            <a:ext cx="439826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 spc="200">
                <a:solidFill>
                  <a:srgbClr val="A89F93"/>
                </a:solidFill>
                <a:latin typeface="Segoe UI"/>
              </a:rPr>
              <a:t>SAMSUNG PRISM  ·  GENAI HACKATHON 3.0  ·  THEME 02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" y="822960"/>
            <a:ext cx="81838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0" i="0">
                <a:solidFill>
                  <a:srgbClr val="F5EFE6"/>
                </a:solidFill>
                <a:latin typeface="Segoe UI Semibold"/>
              </a:rPr>
              <a:t>The live console shows every step’s source sentence and </a:t>
            </a:r>
            <a:r>
              <a:rPr sz="2700" b="0" i="0">
                <a:solidFill>
                  <a:srgbClr val="F2B66D"/>
                </a:solidFill>
                <a:latin typeface="Segoe UI Semibold"/>
              </a:rPr>
              <a:t>closes the loop</a:t>
            </a:r>
            <a:r>
              <a:rPr sz="2700" b="0" i="0">
                <a:solidFill>
                  <a:srgbClr val="F5EFE6"/>
                </a:solidFill>
                <a:latin typeface="Segoe UI Semibold"/>
              </a:rPr>
              <a:t> with a probe.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06840" y="896112"/>
            <a:ext cx="261518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D9D2C7"/>
                </a:solidFill>
                <a:latin typeface="Segoe UI"/>
              </a:rPr>
              <a:t>Real screenshot of demo/ served by the same container (device simulated in the browser).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607040" y="6473952"/>
            <a:ext cx="10149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8A8176"/>
                </a:solidFill>
                <a:latin typeface="Segoe UI"/>
              </a:rPr>
              <a:t>05 / 12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66928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spc="150">
                <a:solidFill>
                  <a:srgbClr val="8A8176"/>
                </a:solidFill>
                <a:latin typeface="Segoe UI"/>
              </a:rPr>
              <a:t>TIET  ·  TAPTRACE  ·  THEME 02 SMART GUIDED TROUBLESHOOTING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66928" y="2057400"/>
            <a:ext cx="5856549" cy="4334256"/>
          </a:xfrm>
          <a:prstGeom prst="roundRect">
            <a:avLst>
              <a:gd name="adj" fmla="val 3000"/>
            </a:avLst>
          </a:prstGeom>
          <a:solidFill>
            <a:srgbClr val="000000">
              <a:alpha val="26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704088" y="2148840"/>
            <a:ext cx="91440" cy="91440"/>
          </a:xfrm>
          <a:prstGeom prst="ellipse">
            <a:avLst/>
          </a:prstGeom>
          <a:solidFill>
            <a:srgbClr val="EE9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868680" y="2148840"/>
            <a:ext cx="91440" cy="91440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033271" y="2148840"/>
            <a:ext cx="91440" cy="91440"/>
          </a:xfrm>
          <a:prstGeom prst="ellipse">
            <a:avLst/>
          </a:prstGeom>
          <a:solidFill>
            <a:srgbClr val="93CD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1298448" y="2112264"/>
            <a:ext cx="2926080" cy="164592"/>
          </a:xfrm>
          <a:prstGeom prst="roundRect">
            <a:avLst>
              <a:gd name="adj" fmla="val 50000"/>
            </a:avLst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l"/>
            <a:r>
              <a:rPr sz="700" b="0" i="0">
                <a:solidFill>
                  <a:srgbClr val="A89F93"/>
                </a:solidFill>
                <a:latin typeface="Segoe UI"/>
              </a:rPr>
              <a:t>localhost:8000  ·  TapTrace console</a:t>
            </a:r>
          </a:p>
        </p:txBody>
      </p:sp>
      <p:pic>
        <p:nvPicPr>
          <p:cNvPr id="135" name="Picture 134" descr="cons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2331720"/>
            <a:ext cx="5819973" cy="4041648"/>
          </a:xfrm>
          <a:prstGeom prst="rect">
            <a:avLst/>
          </a:prstGeom>
        </p:spPr>
      </p:pic>
      <p:sp>
        <p:nvSpPr>
          <p:cNvPr id="136" name="Oval 135"/>
          <p:cNvSpPr/>
          <p:nvPr/>
        </p:nvSpPr>
        <p:spPr>
          <a:xfrm>
            <a:off x="528888" y="5338962"/>
            <a:ext cx="274320" cy="274320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0" i="0">
                <a:solidFill>
                  <a:srgbClr val="2A1A0B"/>
                </a:solidFill>
                <a:latin typeface="Segoe UI Semibold"/>
              </a:rPr>
              <a:t>1</a:t>
            </a:r>
          </a:p>
        </p:txBody>
      </p:sp>
      <p:sp>
        <p:nvSpPr>
          <p:cNvPr id="137" name="Oval 136"/>
          <p:cNvSpPr/>
          <p:nvPr/>
        </p:nvSpPr>
        <p:spPr>
          <a:xfrm>
            <a:off x="2084923" y="3757415"/>
            <a:ext cx="274320" cy="274320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0" i="0">
                <a:solidFill>
                  <a:srgbClr val="2A1A0B"/>
                </a:solidFill>
                <a:latin typeface="Segoe UI Semibold"/>
              </a:rPr>
              <a:t>2</a:t>
            </a:r>
          </a:p>
        </p:txBody>
      </p:sp>
      <p:sp>
        <p:nvSpPr>
          <p:cNvPr id="138" name="Oval 137"/>
          <p:cNvSpPr/>
          <p:nvPr/>
        </p:nvSpPr>
        <p:spPr>
          <a:xfrm>
            <a:off x="4385078" y="4579132"/>
            <a:ext cx="274320" cy="274320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0" i="0">
                <a:solidFill>
                  <a:srgbClr val="2A1A0B"/>
                </a:solidFill>
                <a:latin typeface="Segoe UI Semibold"/>
              </a:rPr>
              <a:t>3</a:t>
            </a:r>
          </a:p>
        </p:txBody>
      </p:sp>
      <p:sp>
        <p:nvSpPr>
          <p:cNvPr id="139" name="Oval 138"/>
          <p:cNvSpPr/>
          <p:nvPr/>
        </p:nvSpPr>
        <p:spPr>
          <a:xfrm>
            <a:off x="4385078" y="3750594"/>
            <a:ext cx="274320" cy="274320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0" i="0">
                <a:solidFill>
                  <a:srgbClr val="2A1A0B"/>
                </a:solidFill>
                <a:latin typeface="Segoe UI Semibold"/>
              </a:rPr>
              <a:t>4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697797" y="2057400"/>
            <a:ext cx="2381189" cy="1298448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6862389" y="2221992"/>
            <a:ext cx="310896" cy="310896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0" i="0">
                <a:solidFill>
                  <a:srgbClr val="2A1A0B"/>
                </a:solidFill>
                <a:latin typeface="Segoe UI Semibold"/>
              </a:rP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862389" y="2624328"/>
            <a:ext cx="207029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5EFE6"/>
                </a:solidFill>
                <a:latin typeface="Segoe UI Semibold"/>
              </a:rPr>
              <a:t>Provenance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9F93"/>
                </a:solidFill>
                <a:latin typeface="Segoe UI"/>
              </a:rPr>
              <a:t>every plan step is highlighted in its source SIIS sentence, with span ids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9243578" y="2057400"/>
            <a:ext cx="2381189" cy="1298448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9408170" y="2221992"/>
            <a:ext cx="310896" cy="310896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0" i="0">
                <a:solidFill>
                  <a:srgbClr val="2A1A0B"/>
                </a:solidFill>
                <a:latin typeface="Segoe UI Semibold"/>
              </a:rPr>
              <a:t>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408170" y="2624328"/>
            <a:ext cx="207029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5EFE6"/>
                </a:solidFill>
                <a:latin typeface="Segoe UI Semibold"/>
              </a:rPr>
              <a:t>Cache decision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9F93"/>
                </a:solidFill>
                <a:latin typeface="Segoe UI"/>
              </a:rPr>
              <a:t>exact or semantic hit with similarity ≥ per-entry τ at $0, or the guard that refused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697797" y="3502152"/>
            <a:ext cx="2381189" cy="1298448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6862389" y="3666744"/>
            <a:ext cx="310896" cy="310896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0" i="0">
                <a:solidFill>
                  <a:srgbClr val="2A1A0B"/>
                </a:solidFill>
                <a:latin typeface="Segoe UI Semibold"/>
              </a:rPr>
              <a:t>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862389" y="4069080"/>
            <a:ext cx="207029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5EFE6"/>
                </a:solidFill>
                <a:latin typeface="Segoe UI Semibold"/>
              </a:rPr>
              <a:t>One tap + probe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9F93"/>
                </a:solidFill>
                <a:latin typeface="Segoe UI"/>
              </a:rPr>
              <a:t>an auto step runs its deeplink; the validationDeeplink probe turns ✓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243578" y="3502152"/>
            <a:ext cx="2381189" cy="1298448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9408170" y="3666744"/>
            <a:ext cx="310896" cy="310896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0" i="0">
                <a:solidFill>
                  <a:srgbClr val="2A1A0B"/>
                </a:solidFill>
                <a:latin typeface="Segoe UI Semibold"/>
              </a:rPr>
              <a:t>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408170" y="4069080"/>
            <a:ext cx="207029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5EFE6"/>
                </a:solidFill>
                <a:latin typeface="Segoe UI Semibold"/>
              </a:rPr>
              <a:t>Conditional options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9F93"/>
                </a:solidFill>
                <a:latin typeface="Segoe UI"/>
              </a:rPr>
              <a:t>one screen, two step groups: ON with a screen protector, OFF without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697797" y="4946904"/>
            <a:ext cx="4926970" cy="1444752"/>
          </a:xfrm>
          <a:prstGeom prst="roundRect">
            <a:avLst>
              <a:gd name="adj" fmla="val 4000"/>
            </a:avLst>
          </a:prstGeom>
          <a:solidFill>
            <a:srgbClr val="000000">
              <a:alpha val="36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6880677" y="5074920"/>
            <a:ext cx="456121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20">
                <a:solidFill>
                  <a:srgbClr val="A89F93"/>
                </a:solidFill>
                <a:latin typeface="Segoe UI Semibold"/>
              </a:rPr>
              <a:t>WHAT THE PHONE RECEIVED (RESULTS.JSONL, LINE 19)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880677" y="5367528"/>
            <a:ext cx="456121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F2B66D"/>
                </a:solidFill>
                <a:latin typeface="Consolas"/>
              </a:rPr>
              <a:t>"actionName": "Adjust Touch Sensitivity",  "category": "auto",</a:t>
            </a:r>
          </a:p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E6DDD1"/>
                </a:solidFill>
                <a:latin typeface="Consolas"/>
              </a:rPr>
              <a:t>"deeplink": "voiceassist://masked/act/14eb42b895",  "originalType": "onURL",</a:t>
            </a:r>
          </a:p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F2B66D"/>
                </a:solidFill>
                <a:latin typeface="Consolas"/>
              </a:rPr>
              <a:t>"validationDeeplink": {"key": "Touch sensitivity",</a:t>
            </a:r>
          </a:p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E6DDD1"/>
                </a:solidFill>
                <a:latin typeface="Consolas"/>
              </a:rPr>
              <a:t>    "condition": "equal", "value": "True"}</a:t>
            </a:r>
          </a:p>
        </p:txBody>
      </p:sp>
      <p:pic>
        <p:nvPicPr>
          <p:cNvPr id="3" name="icon">
            <a:extLst>
              <a:ext uri="{FF2B5EF4-FFF2-40B4-BE49-F238E27FC236}">
                <a16:creationId xmlns:a16="http://schemas.microsoft.com/office/drawing/2014/main" id="{BE4CA2F7-3D5E-C033-7719-EED4076CA39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58362" y="2240280"/>
            <a:ext cx="237744" cy="237744"/>
          </a:xfrm>
          <a:prstGeom prst="rect">
            <a:avLst/>
          </a:prstGeom>
        </p:spPr>
      </p:pic>
      <p:pic>
        <p:nvPicPr>
          <p:cNvPr id="5" name="icon">
            <a:extLst>
              <a:ext uri="{FF2B5EF4-FFF2-40B4-BE49-F238E27FC236}">
                <a16:creationId xmlns:a16="http://schemas.microsoft.com/office/drawing/2014/main" id="{A0013A77-0336-312E-4A0E-8D155AA1880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04143" y="2240280"/>
            <a:ext cx="237744" cy="237744"/>
          </a:xfrm>
          <a:prstGeom prst="rect">
            <a:avLst/>
          </a:prstGeom>
        </p:spPr>
      </p:pic>
      <p:pic>
        <p:nvPicPr>
          <p:cNvPr id="7" name="icon">
            <a:extLst>
              <a:ext uri="{FF2B5EF4-FFF2-40B4-BE49-F238E27FC236}">
                <a16:creationId xmlns:a16="http://schemas.microsoft.com/office/drawing/2014/main" id="{C946763D-0AB2-DEF6-25DF-7AB936981EC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58362" y="3685032"/>
            <a:ext cx="237744" cy="237744"/>
          </a:xfrm>
          <a:prstGeom prst="rect">
            <a:avLst/>
          </a:prstGeom>
        </p:spPr>
      </p:pic>
      <p:pic>
        <p:nvPicPr>
          <p:cNvPr id="9" name="icon">
            <a:extLst>
              <a:ext uri="{FF2B5EF4-FFF2-40B4-BE49-F238E27FC236}">
                <a16:creationId xmlns:a16="http://schemas.microsoft.com/office/drawing/2014/main" id="{521635D4-9B84-AD68-438D-84CB4B1E485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04143" y="3685032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Picture 124" descr="bg_sl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26" name="Oval 125"/>
          <p:cNvSpPr/>
          <p:nvPr/>
        </p:nvSpPr>
        <p:spPr>
          <a:xfrm>
            <a:off x="566928" y="310896"/>
            <a:ext cx="237744" cy="237744"/>
          </a:xfrm>
          <a:prstGeom prst="ellipse">
            <a:avLst/>
          </a:prstGeom>
          <a:noFill/>
          <a:ln w="19050">
            <a:solidFill>
              <a:srgbClr val="F2B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638251" y="382219"/>
            <a:ext cx="95097" cy="95097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96112" y="2743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5EFE6"/>
                </a:solidFill>
                <a:latin typeface="Segoe UI Semibold"/>
              </a:rPr>
              <a:t>TapTrace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048256" y="329184"/>
            <a:ext cx="10972" cy="20116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21284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spc="250">
                <a:solidFill>
                  <a:srgbClr val="A89F93"/>
                </a:solidFill>
                <a:latin typeface="Segoe UI"/>
              </a:rPr>
              <a:t>05  |  TOOLS AND TECH STACK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223760" y="274320"/>
            <a:ext cx="439826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 spc="200">
                <a:solidFill>
                  <a:srgbClr val="A89F93"/>
                </a:solidFill>
                <a:latin typeface="Segoe UI"/>
              </a:rPr>
              <a:t>SAMSUNG PRISM  ·  GENAI HACKATHON 3.0  ·  THEME 02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66928" y="822960"/>
            <a:ext cx="81838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0" i="0">
                <a:solidFill>
                  <a:srgbClr val="F5EFE6"/>
                </a:solidFill>
                <a:latin typeface="Segoe UI Semibold"/>
              </a:rPr>
              <a:t>Small, </a:t>
            </a:r>
            <a:r>
              <a:rPr sz="2700" b="0" i="0">
                <a:solidFill>
                  <a:srgbClr val="F2B66D"/>
                </a:solidFill>
                <a:latin typeface="Segoe UI Semibold"/>
              </a:rPr>
              <a:t>CPU-only</a:t>
            </a:r>
            <a:r>
              <a:rPr sz="2700" b="0" i="0">
                <a:solidFill>
                  <a:srgbClr val="F5EFE6"/>
                </a:solidFill>
                <a:latin typeface="Segoe UI Semibold"/>
              </a:rPr>
              <a:t> and reproducible - one container, no GPU, and it runs even without an API key.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006840" y="896112"/>
            <a:ext cx="261518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D9D2C7"/>
                </a:solidFill>
                <a:latin typeface="Segoe UI"/>
              </a:rPr>
              <a:t>Every dependency is pinned in requirements.txt; the INT8 embedder and pre-warmed cache ship in the image.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607040" y="6473952"/>
            <a:ext cx="10149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8A8176"/>
                </a:solidFill>
                <a:latin typeface="Segoe UI"/>
              </a:rPr>
              <a:t>06 / 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6928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spc="150">
                <a:solidFill>
                  <a:srgbClr val="8A8176"/>
                </a:solidFill>
                <a:latin typeface="Segoe UI"/>
              </a:rPr>
              <a:t>TIET  ·  TAPTRACE  ·  THEME 02 SMART GUIDED TROUBLESHOOTING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66928" y="2103120"/>
            <a:ext cx="2468880" cy="292608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749808" y="22402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20">
                <a:solidFill>
                  <a:srgbClr val="A89F93"/>
                </a:solidFill>
                <a:latin typeface="Segoe UI Semibold"/>
              </a:rPr>
              <a:t>SERVING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49808" y="2606040"/>
            <a:ext cx="1005840" cy="1005840"/>
          </a:xfrm>
          <a:prstGeom prst="roundRect">
            <a:avLst>
              <a:gd name="adj" fmla="val 10000"/>
            </a:avLst>
          </a:prstGeom>
          <a:solidFill>
            <a:srgbClr val="FFFFFF">
              <a:alpha val="9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749808" y="3227832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3A322B"/>
                </a:solidFill>
                <a:latin typeface="Segoe UI"/>
              </a:rPr>
              <a:t>FastAPI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892808" y="2606040"/>
            <a:ext cx="1005840" cy="1005840"/>
          </a:xfrm>
          <a:prstGeom prst="roundRect">
            <a:avLst>
              <a:gd name="adj" fmla="val 10000"/>
            </a:avLst>
          </a:prstGeom>
          <a:solidFill>
            <a:srgbClr val="FFFFFF">
              <a:alpha val="9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892808" y="3227832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3A322B"/>
                </a:solidFill>
                <a:latin typeface="Segoe UI"/>
              </a:rPr>
              <a:t>Uvicorn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49808" y="3776472"/>
            <a:ext cx="1005840" cy="1005840"/>
          </a:xfrm>
          <a:prstGeom prst="roundRect">
            <a:avLst>
              <a:gd name="adj" fmla="val 10000"/>
            </a:avLst>
          </a:prstGeom>
          <a:solidFill>
            <a:srgbClr val="FFFFFF">
              <a:alpha val="9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49808" y="4398264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3A322B"/>
                </a:solidFill>
                <a:latin typeface="Segoe UI"/>
              </a:rPr>
              <a:t>Pydantic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892808" y="3776472"/>
            <a:ext cx="1005840" cy="1005840"/>
          </a:xfrm>
          <a:prstGeom prst="roundRect">
            <a:avLst>
              <a:gd name="adj" fmla="val 10000"/>
            </a:avLst>
          </a:prstGeom>
          <a:solidFill>
            <a:srgbClr val="FFFFFF">
              <a:alpha val="9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892808" y="4398264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3A322B"/>
                </a:solidFill>
                <a:latin typeface="Segoe UI"/>
              </a:rPr>
              <a:t>ORJSON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154680" y="2103120"/>
            <a:ext cx="2468880" cy="292608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3337560" y="22402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20">
                <a:solidFill>
                  <a:srgbClr val="A89F93"/>
                </a:solidFill>
                <a:latin typeface="Segoe UI Semibold"/>
              </a:rPr>
              <a:t>INTELLIGENCE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337560" y="2606040"/>
            <a:ext cx="1005840" cy="1005840"/>
          </a:xfrm>
          <a:prstGeom prst="roundRect">
            <a:avLst>
              <a:gd name="adj" fmla="val 10000"/>
            </a:avLst>
          </a:prstGeom>
          <a:solidFill>
            <a:srgbClr val="FFFFFF">
              <a:alpha val="9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337560" y="3227832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3A322B"/>
                </a:solidFill>
                <a:latin typeface="Segoe UI"/>
              </a:rPr>
              <a:t>gpt-oss-120b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480560" y="2606040"/>
            <a:ext cx="1005840" cy="1005840"/>
          </a:xfrm>
          <a:prstGeom prst="roundRect">
            <a:avLst>
              <a:gd name="adj" fmla="val 10000"/>
            </a:avLst>
          </a:prstGeom>
          <a:solidFill>
            <a:srgbClr val="FFFFFF">
              <a:alpha val="9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4480560" y="3227832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3A322B"/>
                </a:solidFill>
                <a:latin typeface="Segoe UI"/>
              </a:rPr>
              <a:t>Groq API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337560" y="3776472"/>
            <a:ext cx="1005840" cy="1005840"/>
          </a:xfrm>
          <a:prstGeom prst="roundRect">
            <a:avLst>
              <a:gd name="adj" fmla="val 10000"/>
            </a:avLst>
          </a:prstGeom>
          <a:solidFill>
            <a:srgbClr val="FFFFFF">
              <a:alpha val="9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3337560" y="4398264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3A322B"/>
                </a:solidFill>
                <a:latin typeface="Segoe UI"/>
              </a:rPr>
              <a:t>MiniLM-L6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480560" y="3776472"/>
            <a:ext cx="1005840" cy="1005840"/>
          </a:xfrm>
          <a:prstGeom prst="roundRect">
            <a:avLst>
              <a:gd name="adj" fmla="val 10000"/>
            </a:avLst>
          </a:prstGeom>
          <a:solidFill>
            <a:srgbClr val="FFFFFF">
              <a:alpha val="9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4480560" y="4398264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3A322B"/>
                </a:solidFill>
                <a:latin typeface="Segoe UI"/>
              </a:rPr>
              <a:t>ONNX Runtime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742432" y="2103120"/>
            <a:ext cx="2468880" cy="292608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5925312" y="22402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20">
                <a:solidFill>
                  <a:srgbClr val="A89F93"/>
                </a:solidFill>
                <a:latin typeface="Segoe UI Semibold"/>
              </a:rPr>
              <a:t>DATA &amp; QUALITY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925312" y="2606040"/>
            <a:ext cx="1005840" cy="1005840"/>
          </a:xfrm>
          <a:prstGeom prst="roundRect">
            <a:avLst>
              <a:gd name="adj" fmla="val 10000"/>
            </a:avLst>
          </a:prstGeom>
          <a:solidFill>
            <a:srgbClr val="FFFFFF">
              <a:alpha val="9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5925312" y="3227832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3A322B"/>
                </a:solidFill>
                <a:latin typeface="Segoe UI"/>
              </a:rPr>
              <a:t>Python 3.12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068312" y="2606040"/>
            <a:ext cx="1005840" cy="1005840"/>
          </a:xfrm>
          <a:prstGeom prst="roundRect">
            <a:avLst>
              <a:gd name="adj" fmla="val 10000"/>
            </a:avLst>
          </a:prstGeom>
          <a:solidFill>
            <a:srgbClr val="FFFFFF">
              <a:alpha val="9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7068312" y="3227832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3A322B"/>
                </a:solidFill>
                <a:latin typeface="Segoe UI"/>
              </a:rPr>
              <a:t>NumPy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5925312" y="3776472"/>
            <a:ext cx="1005840" cy="1005840"/>
          </a:xfrm>
          <a:prstGeom prst="roundRect">
            <a:avLst>
              <a:gd name="adj" fmla="val 10000"/>
            </a:avLst>
          </a:prstGeom>
          <a:solidFill>
            <a:srgbClr val="FFFFFF">
              <a:alpha val="9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5925312" y="4398264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3A322B"/>
                </a:solidFill>
                <a:latin typeface="Segoe UI"/>
              </a:rPr>
              <a:t>SQLite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7068312" y="3776472"/>
            <a:ext cx="1005840" cy="1005840"/>
          </a:xfrm>
          <a:prstGeom prst="roundRect">
            <a:avLst>
              <a:gd name="adj" fmla="val 10000"/>
            </a:avLst>
          </a:prstGeom>
          <a:solidFill>
            <a:srgbClr val="FFFFFF">
              <a:alpha val="9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7068312" y="4398264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3A322B"/>
                </a:solidFill>
                <a:latin typeface="Segoe UI"/>
              </a:rPr>
              <a:t>pytest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566928" y="5193792"/>
            <a:ext cx="7653527" cy="1188720"/>
          </a:xfrm>
          <a:prstGeom prst="roundRect">
            <a:avLst>
              <a:gd name="adj" fmla="val 4000"/>
            </a:avLst>
          </a:prstGeom>
          <a:solidFill>
            <a:srgbClr val="000000">
              <a:alpha val="36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768096" y="530352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93CDB9"/>
                </a:solidFill>
                <a:latin typeface="Consolas"/>
              </a:rPr>
              <a:t>taptrace/  catalog.py · siis.py · facets.py · resolver.py · plan.py · cache.py · engine.py · api.py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EDE5DA"/>
                </a:solidFill>
                <a:latin typeface="Consolas"/>
              </a:rPr>
              <a:t>scripts/   build_results · evaluate · stress_test · audit_report · build_deck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EDE5DA"/>
                </a:solidFill>
                <a:latin typeface="Consolas"/>
              </a:rPr>
              <a:t>eval/      gold · mapping_benchmark · heldout + test paraphrases · hard_negatives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EDE5DA"/>
                </a:solidFill>
                <a:latin typeface="Consolas"/>
              </a:rPr>
              <a:t>Dockerfile · docker-compose.yml · results.jsonl · metrics.md · tests/ (28 gates)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8430768" y="2148839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9015984" y="2103120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5EFE6"/>
                </a:solidFill>
                <a:latin typeface="Segoe UI Semibold"/>
              </a:rPr>
              <a:t>23 MB</a:t>
            </a:r>
          </a:p>
          <a:p>
            <a:pPr algn="l"/>
            <a:r>
              <a:rPr sz="900" b="0" i="0">
                <a:solidFill>
                  <a:srgbClr val="A89F93"/>
                </a:solidFill>
                <a:latin typeface="Segoe UI"/>
              </a:rPr>
              <a:t>INT8 ONNX embedder, 0.97 cosine vs FP32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8430768" y="30175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9015984" y="2971800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5EFE6"/>
                </a:solidFill>
                <a:latin typeface="Segoe UI Semibold"/>
              </a:rPr>
              <a:t>1.6 s</a:t>
            </a:r>
          </a:p>
          <a:p>
            <a:pPr algn="l"/>
            <a:r>
              <a:rPr sz="900" b="0" i="0">
                <a:solidFill>
                  <a:srgbClr val="A89F93"/>
                </a:solidFill>
                <a:latin typeface="Segoe UI"/>
              </a:rPr>
              <a:t>container cold start to healthy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8430768" y="3886199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9015984" y="3840479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5EFE6"/>
                </a:solidFill>
                <a:latin typeface="Segoe UI Semibold"/>
              </a:rPr>
              <a:t>495 req/s</a:t>
            </a:r>
          </a:p>
          <a:p>
            <a:pPr algn="l"/>
            <a:r>
              <a:rPr sz="900" b="0" i="0">
                <a:solidFill>
                  <a:srgbClr val="A89F93"/>
                </a:solidFill>
                <a:latin typeface="Segoe UI"/>
              </a:rPr>
              <a:t>16 concurrent clients, 0 errors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8430768" y="4754879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9015984" y="4709159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5EFE6"/>
                </a:solidFill>
                <a:latin typeface="Segoe UI Semibold"/>
              </a:rPr>
              <a:t>28 gates</a:t>
            </a:r>
          </a:p>
          <a:p>
            <a:pPr algn="l"/>
            <a:r>
              <a:rPr sz="900" b="0" i="0">
                <a:solidFill>
                  <a:srgbClr val="A89F93"/>
                </a:solidFill>
                <a:latin typeface="Segoe UI"/>
              </a:rPr>
              <a:t>pytest: contract, traps, gate, cache, API, unseen domains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8430768" y="5623559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9015984" y="5577840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5EFE6"/>
                </a:solidFill>
                <a:latin typeface="Segoe UI Semibold"/>
              </a:rPr>
              <a:t>0 keys</a:t>
            </a:r>
          </a:p>
          <a:p>
            <a:pPr algn="l"/>
            <a:r>
              <a:rPr sz="900" b="0" i="0">
                <a:solidFill>
                  <a:srgbClr val="A89F93"/>
                </a:solidFill>
                <a:latin typeface="Segoe UI"/>
              </a:rPr>
              <a:t>needed to run: deterministic path + cache</a:t>
            </a:r>
          </a:p>
        </p:txBody>
      </p:sp>
      <p:pic>
        <p:nvPicPr>
          <p:cNvPr id="3" name="icon">
            <a:extLst>
              <a:ext uri="{FF2B5EF4-FFF2-40B4-BE49-F238E27FC236}">
                <a16:creationId xmlns:a16="http://schemas.microsoft.com/office/drawing/2014/main" id="{88AFF23C-C2CC-27F6-876E-9A480995E7A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2734056"/>
            <a:ext cx="402336" cy="402336"/>
          </a:xfrm>
          <a:prstGeom prst="rect">
            <a:avLst/>
          </a:prstGeom>
        </p:spPr>
      </p:pic>
      <p:pic>
        <p:nvPicPr>
          <p:cNvPr id="5" name="icon">
            <a:extLst>
              <a:ext uri="{FF2B5EF4-FFF2-40B4-BE49-F238E27FC236}">
                <a16:creationId xmlns:a16="http://schemas.microsoft.com/office/drawing/2014/main" id="{3004A3F8-5BED-EA12-6E54-B7DB5AF5EBD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4560" y="2734056"/>
            <a:ext cx="402336" cy="402336"/>
          </a:xfrm>
          <a:prstGeom prst="rect">
            <a:avLst/>
          </a:prstGeom>
        </p:spPr>
      </p:pic>
      <p:pic>
        <p:nvPicPr>
          <p:cNvPr id="7" name="icon">
            <a:extLst>
              <a:ext uri="{FF2B5EF4-FFF2-40B4-BE49-F238E27FC236}">
                <a16:creationId xmlns:a16="http://schemas.microsoft.com/office/drawing/2014/main" id="{7BCE1176-C6B0-B645-9662-197D1A15ABC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3904487"/>
            <a:ext cx="402336" cy="402336"/>
          </a:xfrm>
          <a:prstGeom prst="rect">
            <a:avLst/>
          </a:prstGeom>
        </p:spPr>
      </p:pic>
      <p:pic>
        <p:nvPicPr>
          <p:cNvPr id="9" name="icon">
            <a:extLst>
              <a:ext uri="{FF2B5EF4-FFF2-40B4-BE49-F238E27FC236}">
                <a16:creationId xmlns:a16="http://schemas.microsoft.com/office/drawing/2014/main" id="{300BA48C-5810-912D-CDFA-1F89B8DC04E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94560" y="3904487"/>
            <a:ext cx="402336" cy="402336"/>
          </a:xfrm>
          <a:prstGeom prst="rect">
            <a:avLst/>
          </a:prstGeom>
        </p:spPr>
      </p:pic>
      <p:pic>
        <p:nvPicPr>
          <p:cNvPr id="11" name="icon">
            <a:extLst>
              <a:ext uri="{FF2B5EF4-FFF2-40B4-BE49-F238E27FC236}">
                <a16:creationId xmlns:a16="http://schemas.microsoft.com/office/drawing/2014/main" id="{C3DFAEBF-C647-105F-C736-F668BBC7080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39312" y="2734056"/>
            <a:ext cx="402336" cy="402336"/>
          </a:xfrm>
          <a:prstGeom prst="rect">
            <a:avLst/>
          </a:prstGeom>
        </p:spPr>
      </p:pic>
      <p:pic>
        <p:nvPicPr>
          <p:cNvPr id="13" name="icon">
            <a:extLst>
              <a:ext uri="{FF2B5EF4-FFF2-40B4-BE49-F238E27FC236}">
                <a16:creationId xmlns:a16="http://schemas.microsoft.com/office/drawing/2014/main" id="{104A716C-1E95-70E1-0D30-90E4C9F8825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82312" y="2734056"/>
            <a:ext cx="402336" cy="402336"/>
          </a:xfrm>
          <a:prstGeom prst="rect">
            <a:avLst/>
          </a:prstGeom>
        </p:spPr>
      </p:pic>
      <p:pic>
        <p:nvPicPr>
          <p:cNvPr id="15" name="icon">
            <a:extLst>
              <a:ext uri="{FF2B5EF4-FFF2-40B4-BE49-F238E27FC236}">
                <a16:creationId xmlns:a16="http://schemas.microsoft.com/office/drawing/2014/main" id="{3A1470F5-9037-F93C-D134-9503E49EE31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39312" y="3904487"/>
            <a:ext cx="402336" cy="402336"/>
          </a:xfrm>
          <a:prstGeom prst="rect">
            <a:avLst/>
          </a:prstGeom>
        </p:spPr>
      </p:pic>
      <p:pic>
        <p:nvPicPr>
          <p:cNvPr id="17" name="icon">
            <a:extLst>
              <a:ext uri="{FF2B5EF4-FFF2-40B4-BE49-F238E27FC236}">
                <a16:creationId xmlns:a16="http://schemas.microsoft.com/office/drawing/2014/main" id="{1F89C164-066C-2180-6E5D-18772C1124C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82312" y="3904487"/>
            <a:ext cx="402336" cy="402336"/>
          </a:xfrm>
          <a:prstGeom prst="rect">
            <a:avLst/>
          </a:prstGeom>
        </p:spPr>
      </p:pic>
      <p:pic>
        <p:nvPicPr>
          <p:cNvPr id="19" name="icon">
            <a:extLst>
              <a:ext uri="{FF2B5EF4-FFF2-40B4-BE49-F238E27FC236}">
                <a16:creationId xmlns:a16="http://schemas.microsoft.com/office/drawing/2014/main" id="{D73230AA-CF12-9427-7055-4D87AD76D80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27064" y="2734056"/>
            <a:ext cx="402336" cy="402336"/>
          </a:xfrm>
          <a:prstGeom prst="rect">
            <a:avLst/>
          </a:prstGeom>
        </p:spPr>
      </p:pic>
      <p:pic>
        <p:nvPicPr>
          <p:cNvPr id="21" name="icon">
            <a:extLst>
              <a:ext uri="{FF2B5EF4-FFF2-40B4-BE49-F238E27FC236}">
                <a16:creationId xmlns:a16="http://schemas.microsoft.com/office/drawing/2014/main" id="{EB4DBB4B-7CA8-4EA7-D9A3-26245E5E1F3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70064" y="2734056"/>
            <a:ext cx="402336" cy="402336"/>
          </a:xfrm>
          <a:prstGeom prst="rect">
            <a:avLst/>
          </a:prstGeom>
        </p:spPr>
      </p:pic>
      <p:pic>
        <p:nvPicPr>
          <p:cNvPr id="23" name="icon">
            <a:extLst>
              <a:ext uri="{FF2B5EF4-FFF2-40B4-BE49-F238E27FC236}">
                <a16:creationId xmlns:a16="http://schemas.microsoft.com/office/drawing/2014/main" id="{4DC4D87F-556A-3C43-4216-45F5A1CC954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27064" y="3904487"/>
            <a:ext cx="402336" cy="402336"/>
          </a:xfrm>
          <a:prstGeom prst="rect">
            <a:avLst/>
          </a:prstGeom>
        </p:spPr>
      </p:pic>
      <p:pic>
        <p:nvPicPr>
          <p:cNvPr id="25" name="icon">
            <a:extLst>
              <a:ext uri="{FF2B5EF4-FFF2-40B4-BE49-F238E27FC236}">
                <a16:creationId xmlns:a16="http://schemas.microsoft.com/office/drawing/2014/main" id="{817EB020-7C98-BADC-D0B5-A36BC14D4F0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370064" y="3904487"/>
            <a:ext cx="402336" cy="402336"/>
          </a:xfrm>
          <a:prstGeom prst="rect">
            <a:avLst/>
          </a:prstGeom>
        </p:spPr>
      </p:pic>
      <p:pic>
        <p:nvPicPr>
          <p:cNvPr id="27" name="icon">
            <a:extLst>
              <a:ext uri="{FF2B5EF4-FFF2-40B4-BE49-F238E27FC236}">
                <a16:creationId xmlns:a16="http://schemas.microsoft.com/office/drawing/2014/main" id="{1F6B0ED3-F4BF-9F7A-4E54-89C0873A51D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89520" y="5349240"/>
            <a:ext cx="457200" cy="457200"/>
          </a:xfrm>
          <a:prstGeom prst="rect">
            <a:avLst/>
          </a:prstGeom>
        </p:spPr>
      </p:pic>
      <p:pic>
        <p:nvPicPr>
          <p:cNvPr id="29" name="icon">
            <a:extLst>
              <a:ext uri="{FF2B5EF4-FFF2-40B4-BE49-F238E27FC236}">
                <a16:creationId xmlns:a16="http://schemas.microsoft.com/office/drawing/2014/main" id="{AD2AD53F-E3C0-3733-2757-5131D6102A2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40496" y="2258568"/>
            <a:ext cx="237744" cy="237744"/>
          </a:xfrm>
          <a:prstGeom prst="rect">
            <a:avLst/>
          </a:prstGeom>
        </p:spPr>
      </p:pic>
      <p:pic>
        <p:nvPicPr>
          <p:cNvPr id="31" name="icon">
            <a:extLst>
              <a:ext uri="{FF2B5EF4-FFF2-40B4-BE49-F238E27FC236}">
                <a16:creationId xmlns:a16="http://schemas.microsoft.com/office/drawing/2014/main" id="{8A63A465-CD3E-CD72-0B2C-190C60A5084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40496" y="3127248"/>
            <a:ext cx="237744" cy="237744"/>
          </a:xfrm>
          <a:prstGeom prst="rect">
            <a:avLst/>
          </a:prstGeom>
        </p:spPr>
      </p:pic>
      <p:pic>
        <p:nvPicPr>
          <p:cNvPr id="33" name="icon">
            <a:extLst>
              <a:ext uri="{FF2B5EF4-FFF2-40B4-BE49-F238E27FC236}">
                <a16:creationId xmlns:a16="http://schemas.microsoft.com/office/drawing/2014/main" id="{4FC19BDD-426B-C207-43F5-9169FCCE806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40496" y="3995927"/>
            <a:ext cx="237744" cy="237744"/>
          </a:xfrm>
          <a:prstGeom prst="rect">
            <a:avLst/>
          </a:prstGeom>
        </p:spPr>
      </p:pic>
      <p:pic>
        <p:nvPicPr>
          <p:cNvPr id="35" name="icon">
            <a:extLst>
              <a:ext uri="{FF2B5EF4-FFF2-40B4-BE49-F238E27FC236}">
                <a16:creationId xmlns:a16="http://schemas.microsoft.com/office/drawing/2014/main" id="{AF92A600-5C74-53D9-52D0-FB0D7422D6F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40496" y="4864607"/>
            <a:ext cx="237744" cy="237744"/>
          </a:xfrm>
          <a:prstGeom prst="rect">
            <a:avLst/>
          </a:prstGeom>
        </p:spPr>
      </p:pic>
      <p:pic>
        <p:nvPicPr>
          <p:cNvPr id="37" name="icon">
            <a:extLst>
              <a:ext uri="{FF2B5EF4-FFF2-40B4-BE49-F238E27FC236}">
                <a16:creationId xmlns:a16="http://schemas.microsoft.com/office/drawing/2014/main" id="{743F9AAA-4F22-B968-E52B-8B6ED88C425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40496" y="57332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30" descr="bg_sl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2" name="Oval 131"/>
          <p:cNvSpPr/>
          <p:nvPr/>
        </p:nvSpPr>
        <p:spPr>
          <a:xfrm>
            <a:off x="566928" y="310896"/>
            <a:ext cx="237744" cy="237744"/>
          </a:xfrm>
          <a:prstGeom prst="ellipse">
            <a:avLst/>
          </a:prstGeom>
          <a:noFill/>
          <a:ln w="19050">
            <a:solidFill>
              <a:srgbClr val="F2B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638251" y="382219"/>
            <a:ext cx="95097" cy="95097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96112" y="2743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5EFE6"/>
                </a:solidFill>
                <a:latin typeface="Segoe UI Semibold"/>
              </a:rPr>
              <a:t>TapTrace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048256" y="329184"/>
            <a:ext cx="10972" cy="20116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21284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spc="250">
                <a:solidFill>
                  <a:srgbClr val="A89F93"/>
                </a:solidFill>
                <a:latin typeface="Segoe UI"/>
              </a:rPr>
              <a:t>06  |  IMPACT &amp; USE CASE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223760" y="274320"/>
            <a:ext cx="439826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 spc="200">
                <a:solidFill>
                  <a:srgbClr val="A89F93"/>
                </a:solidFill>
                <a:latin typeface="Segoe UI"/>
              </a:rPr>
              <a:t>SAMSUNG PRISM  ·  GENAI HACKATHON 3.0  ·  THEME 02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66928" y="822960"/>
            <a:ext cx="81838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0" i="0">
                <a:solidFill>
                  <a:srgbClr val="F5EFE6"/>
                </a:solidFill>
                <a:latin typeface="Segoe UI Semibold"/>
              </a:rPr>
              <a:t>From ~15 minutes of manual triage to </a:t>
            </a:r>
            <a:r>
              <a:rPr sz="2700" b="0" i="0">
                <a:solidFill>
                  <a:srgbClr val="F2B66D"/>
                </a:solidFill>
                <a:latin typeface="Segoe UI Semibold"/>
              </a:rPr>
              <a:t>~1 seconds</a:t>
            </a:r>
            <a:r>
              <a:rPr sz="2700" b="0" i="0">
                <a:solidFill>
                  <a:srgbClr val="F5EFE6"/>
                </a:solidFill>
                <a:latin typeface="Segoe UI Semibold"/>
              </a:rPr>
              <a:t> - and $0 for every repeat complaint.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006840" y="896112"/>
            <a:ext cx="261518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D9D2C7"/>
                </a:solidFill>
                <a:latin typeface="Segoe UI"/>
              </a:rPr>
              <a:t>About 674× faster on a new complaint; a cache hit is served in 2 ms.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607040" y="6473952"/>
            <a:ext cx="10149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8A8176"/>
                </a:solidFill>
                <a:latin typeface="Segoe UI"/>
              </a:rPr>
              <a:t>07 / 12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spc="150">
                <a:solidFill>
                  <a:srgbClr val="8A8176"/>
                </a:solidFill>
                <a:latin typeface="Segoe UI"/>
              </a:rPr>
              <a:t>TIET  ·  TAPTRACE  ·  THEME 02 SMART GUIDED TROUBLESHOOTING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66928" y="210312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95528" y="22402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20">
                <a:solidFill>
                  <a:srgbClr val="A89F93"/>
                </a:solidFill>
                <a:latin typeface="Segoe UI Semibold"/>
              </a:rPr>
              <a:t>TIME TO AN ACTIONABLE PLAN (TO SCALE)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95528" y="26517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D9D2C7"/>
                </a:solidFill>
                <a:latin typeface="Segoe UI"/>
              </a:rPr>
              <a:t>Manual triage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121408" y="2724912"/>
            <a:ext cx="3291840" cy="219456"/>
          </a:xfrm>
          <a:prstGeom prst="rect">
            <a:avLst/>
          </a:prstGeom>
          <a:solidFill>
            <a:srgbClr val="6B6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486400" y="26517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D9D2C7"/>
                </a:solidFill>
                <a:latin typeface="Segoe UI Semibold"/>
              </a:rPr>
              <a:t>≈ 15 min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95528" y="32004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D9D2C7"/>
                </a:solidFill>
                <a:latin typeface="Segoe UI"/>
              </a:rPr>
              <a:t>TapTrace, new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121408" y="3273552"/>
            <a:ext cx="45720" cy="219456"/>
          </a:xfrm>
          <a:prstGeom prst="rect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2240279" y="32004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F2B66D"/>
                </a:solidFill>
                <a:latin typeface="Segoe UI Semibold"/>
              </a:rPr>
              <a:t>1.3 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95528" y="374903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D9D2C7"/>
                </a:solidFill>
                <a:latin typeface="Segoe UI"/>
              </a:rPr>
              <a:t>TapTrace, repeat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121408" y="3822191"/>
            <a:ext cx="45720" cy="219456"/>
          </a:xfrm>
          <a:prstGeom prst="rect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240279" y="3749039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F2B66D"/>
                </a:solidFill>
                <a:latin typeface="Segoe UI Semibold"/>
              </a:rPr>
              <a:t>2 ms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95528" y="411480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A8176"/>
                </a:solidFill>
                <a:latin typeface="Segoe UI"/>
              </a:rPr>
              <a:t>New-complaint time is the measured cold-path P50; repeat time is the measured cache-hit P50.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281928" y="2103120"/>
            <a:ext cx="5340096" cy="2331720"/>
          </a:xfrm>
          <a:prstGeom prst="roundRect">
            <a:avLst>
              <a:gd name="adj" fmla="val 6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492240" y="224028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20">
                <a:solidFill>
                  <a:srgbClr val="F2B66D"/>
                </a:solidFill>
                <a:latin typeface="Segoe UI Semibold"/>
              </a:rPr>
              <a:t>AT PRODUCTION SCALE: 10,000 SCENARIOS (BROCHURE TARGET)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492240" y="26060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D9D2C7"/>
                </a:solidFill>
                <a:latin typeface="Segoe UI"/>
              </a:rPr>
              <a:t>Manual triage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229600" y="260604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5EFE6"/>
                </a:solidFill>
                <a:latin typeface="Segoe UI Semibold"/>
              </a:rPr>
              <a:t>2,500 agent-hours</a:t>
            </a:r>
          </a:p>
          <a:p>
            <a:pPr algn="l"/>
            <a:r>
              <a:rPr sz="800" b="0" i="0">
                <a:solidFill>
                  <a:srgbClr val="A89F93"/>
                </a:solidFill>
                <a:latin typeface="Segoe UI"/>
              </a:rPr>
              <a:t>at 15 min each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492240" y="3017520"/>
            <a:ext cx="4937760" cy="10972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6492240" y="303580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D9D2C7"/>
                </a:solidFill>
                <a:latin typeface="Segoe UI"/>
              </a:rPr>
              <a:t>TapTrace first pass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29600" y="3035808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5EFE6"/>
                </a:solidFill>
                <a:latin typeface="Segoe UI Semibold"/>
              </a:rPr>
              <a:t>≈ $1.30 LLM cost</a:t>
            </a:r>
          </a:p>
          <a:p>
            <a:pPr algn="l"/>
            <a:r>
              <a:rPr sz="800" b="0" i="0">
                <a:solidFill>
                  <a:srgbClr val="A89F93"/>
                </a:solidFill>
                <a:latin typeface="Segoe UI"/>
              </a:rPr>
              <a:t>3.7 h sequential; parallelisable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492240" y="3447288"/>
            <a:ext cx="4937760" cy="10972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492240" y="346557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D9D2C7"/>
                </a:solidFill>
                <a:latin typeface="Segoe UI"/>
              </a:rPr>
              <a:t>Every repeat after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229600" y="3465576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5EFE6"/>
                </a:solidFill>
                <a:latin typeface="Segoe UI Semibold"/>
              </a:rPr>
              <a:t>$0  ·  milliseconds</a:t>
            </a:r>
          </a:p>
          <a:p>
            <a:pPr algn="l"/>
            <a:r>
              <a:rPr sz="800" b="0" i="0">
                <a:solidFill>
                  <a:srgbClr val="A89F93"/>
                </a:solidFill>
                <a:latin typeface="Segoe UI"/>
              </a:rPr>
              <a:t>served from the contrastive cache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492240" y="3877056"/>
            <a:ext cx="4937760" cy="10972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6492240" y="3895344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D9D2C7"/>
                </a:solidFill>
                <a:latin typeface="Segoe UI"/>
              </a:rPr>
              <a:t>Mapping reuse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229600" y="3895344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5EFE6"/>
                </a:solidFill>
                <a:latin typeface="Segoe UI Semibold"/>
              </a:rPr>
              <a:t>shared step-path memo</a:t>
            </a:r>
          </a:p>
          <a:p>
            <a:pPr algn="l"/>
            <a:r>
              <a:rPr sz="800" b="0" i="0">
                <a:solidFill>
                  <a:srgbClr val="A89F93"/>
                </a:solidFill>
                <a:latin typeface="Segoe UI"/>
              </a:rPr>
              <a:t>screens resolved once, reused everywhere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566928" y="461772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ounded Rectangle 167"/>
          <p:cNvSpPr/>
          <p:nvPr/>
        </p:nvSpPr>
        <p:spPr>
          <a:xfrm>
            <a:off x="749808" y="47548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344168" y="47548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5EFE6"/>
                </a:solidFill>
                <a:latin typeface="Segoe UI Semibold"/>
              </a:rPr>
              <a:t>Customer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49808" y="532180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8A8176"/>
                </a:solidFill>
                <a:latin typeface="Segoe UI Semibold"/>
              </a:rPr>
              <a:t>BEFORE  </a:t>
            </a:r>
            <a:r>
              <a:rPr sz="950" b="0" i="0">
                <a:solidFill>
                  <a:srgbClr val="A89F93"/>
                </a:solidFill>
                <a:latin typeface="Segoe UI"/>
              </a:rPr>
              <a:t>Reads text steps, then hunts nested menus.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49808" y="576072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F2B66D"/>
                </a:solidFill>
                <a:latin typeface="Segoe UI Semibold"/>
              </a:rPr>
              <a:t>AFTER  </a:t>
            </a:r>
            <a:r>
              <a:rPr sz="950" b="0" i="0">
                <a:solidFill>
                  <a:srgbClr val="F5EFE6"/>
                </a:solidFill>
                <a:latin typeface="Segoe UI"/>
              </a:rPr>
              <a:t>Taps once: the exact screen and toggle state opens; a probe confirms the fix.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4288536" y="461772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ounded Rectangle 173"/>
          <p:cNvSpPr/>
          <p:nvPr/>
        </p:nvSpPr>
        <p:spPr>
          <a:xfrm>
            <a:off x="4471416" y="47548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5065776" y="47548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5EFE6"/>
                </a:solidFill>
                <a:latin typeface="Segoe UI Semibold"/>
              </a:rPr>
              <a:t>Support agent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471416" y="532180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8A8176"/>
                </a:solidFill>
                <a:latin typeface="Segoe UI Semibold"/>
              </a:rPr>
              <a:t>BEFORE  </a:t>
            </a:r>
            <a:r>
              <a:rPr sz="950" b="0" i="0">
                <a:solidFill>
                  <a:srgbClr val="A89F93"/>
                </a:solidFill>
                <a:latin typeface="Segoe UI"/>
              </a:rPr>
              <a:t>Reads, selects and orders steps by hand.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471416" y="576072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F2B66D"/>
                </a:solidFill>
                <a:latin typeface="Segoe UI Semibold"/>
              </a:rPr>
              <a:t>AFTER  </a:t>
            </a:r>
            <a:r>
              <a:rPr sz="950" b="0" i="0">
                <a:solidFill>
                  <a:srgbClr val="F5EFE6"/>
                </a:solidFill>
                <a:latin typeface="Segoe UI"/>
              </a:rPr>
              <a:t>Gets an ordered plan with every step highlighted in its source article.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8010144" y="461772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ounded Rectangle 179"/>
          <p:cNvSpPr/>
          <p:nvPr/>
        </p:nvSpPr>
        <p:spPr>
          <a:xfrm>
            <a:off x="8193023" y="47548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8787384" y="47548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5EFE6"/>
                </a:solidFill>
                <a:latin typeface="Segoe UI Semibold"/>
              </a:rPr>
              <a:t>Operations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193023" y="532180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8A8176"/>
                </a:solidFill>
                <a:latin typeface="Segoe UI Semibold"/>
              </a:rPr>
              <a:t>BEFORE  </a:t>
            </a:r>
            <a:r>
              <a:rPr sz="950" b="0" i="0">
                <a:solidFill>
                  <a:srgbClr val="A89F93"/>
                </a:solidFill>
                <a:latin typeface="Segoe UI"/>
              </a:rPr>
              <a:t>Wrong articles turn into wrong advice.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193023" y="576072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F2B66D"/>
                </a:solidFill>
                <a:latin typeface="Segoe UI Semibold"/>
              </a:rPr>
              <a:t>AFTER  </a:t>
            </a:r>
            <a:r>
              <a:rPr sz="950" b="0" i="0">
                <a:solidFill>
                  <a:srgbClr val="F5EFE6"/>
                </a:solidFill>
                <a:latin typeface="Segoe UI"/>
              </a:rPr>
              <a:t>Wrong-document tickets return no_match; ≈$0.0001 per new scenario.</a:t>
            </a:r>
          </a:p>
        </p:txBody>
      </p:sp>
      <p:pic>
        <p:nvPicPr>
          <p:cNvPr id="3" name="icon">
            <a:extLst>
              <a:ext uri="{FF2B5EF4-FFF2-40B4-BE49-F238E27FC236}">
                <a16:creationId xmlns:a16="http://schemas.microsoft.com/office/drawing/2014/main" id="{B3065546-ED99-7464-F489-BB56460B24F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9536" y="4864608"/>
            <a:ext cx="237744" cy="237744"/>
          </a:xfrm>
          <a:prstGeom prst="rect">
            <a:avLst/>
          </a:prstGeom>
        </p:spPr>
      </p:pic>
      <p:pic>
        <p:nvPicPr>
          <p:cNvPr id="5" name="icon">
            <a:extLst>
              <a:ext uri="{FF2B5EF4-FFF2-40B4-BE49-F238E27FC236}">
                <a16:creationId xmlns:a16="http://schemas.microsoft.com/office/drawing/2014/main" id="{4E2D734F-7770-C018-960C-5E26D44C7DA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1144" y="4864608"/>
            <a:ext cx="237744" cy="237744"/>
          </a:xfrm>
          <a:prstGeom prst="rect">
            <a:avLst/>
          </a:prstGeom>
        </p:spPr>
      </p:pic>
      <p:pic>
        <p:nvPicPr>
          <p:cNvPr id="7" name="icon">
            <a:extLst>
              <a:ext uri="{FF2B5EF4-FFF2-40B4-BE49-F238E27FC236}">
                <a16:creationId xmlns:a16="http://schemas.microsoft.com/office/drawing/2014/main" id="{E5952237-6767-2227-9B53-95A02713AE1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2751" y="486460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36" descr="bg_sl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8" name="Oval 137"/>
          <p:cNvSpPr/>
          <p:nvPr/>
        </p:nvSpPr>
        <p:spPr>
          <a:xfrm>
            <a:off x="566928" y="310896"/>
            <a:ext cx="237744" cy="237744"/>
          </a:xfrm>
          <a:prstGeom prst="ellipse">
            <a:avLst/>
          </a:prstGeom>
          <a:noFill/>
          <a:ln w="19050">
            <a:solidFill>
              <a:srgbClr val="F2B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638251" y="382219"/>
            <a:ext cx="95097" cy="95097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896112" y="2743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5EFE6"/>
                </a:solidFill>
                <a:latin typeface="Segoe UI Semibold"/>
              </a:rPr>
              <a:t>TapTrace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048256" y="329184"/>
            <a:ext cx="10972" cy="20116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221284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spc="250">
                <a:solidFill>
                  <a:srgbClr val="A89F93"/>
                </a:solidFill>
                <a:latin typeface="Segoe UI"/>
              </a:rPr>
              <a:t>07  |  INNOVATION HIGHLIGHTS, RESULTS AND LIMITATIONS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223760" y="274320"/>
            <a:ext cx="439826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 spc="200">
                <a:solidFill>
                  <a:srgbClr val="A89F93"/>
                </a:solidFill>
                <a:latin typeface="Segoe UI"/>
              </a:rPr>
              <a:t>SAMSUNG PRISM  ·  GENAI HACKATHON 3.0  ·  THEME 02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66928" y="822960"/>
            <a:ext cx="81838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0" i="0">
                <a:solidFill>
                  <a:srgbClr val="F2B66D"/>
                </a:solidFill>
                <a:latin typeface="Segoe UI Semibold"/>
              </a:rPr>
              <a:t>Every target</a:t>
            </a:r>
            <a:r>
              <a:rPr sz="2700" b="0" i="0">
                <a:solidFill>
                  <a:srgbClr val="F5EFE6"/>
                </a:solidFill>
                <a:latin typeface="Segoe UI Semibold"/>
              </a:rPr>
              <a:t> in the brief is met - measured on the provided data and a frozen test set.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006840" y="896112"/>
            <a:ext cx="261518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D9D2C7"/>
                </a:solidFill>
                <a:latin typeface="Segoe UI"/>
              </a:rPr>
              <a:t>All numbers are produced by scripts/evaluate.py and artifacts/stress.json; nothing is typed by hand.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607040" y="6473952"/>
            <a:ext cx="10149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8A8176"/>
                </a:solidFill>
                <a:latin typeface="Segoe UI"/>
              </a:rPr>
              <a:t>08 / 12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66928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spc="150">
                <a:solidFill>
                  <a:srgbClr val="8A8176"/>
                </a:solidFill>
                <a:latin typeface="Segoe UI"/>
              </a:rPr>
              <a:t>TIET  ·  TAPTRACE  ·  THEME 02 SMART GUIDED TROUBLESHOOTING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566928" y="2103120"/>
            <a:ext cx="1764792" cy="1234440"/>
          </a:xfrm>
          <a:prstGeom prst="roundRect">
            <a:avLst>
              <a:gd name="adj" fmla="val 6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31520" y="254203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F5EFE6"/>
                </a:solidFill>
                <a:latin typeface="Segoe UI Semibold"/>
              </a:rPr>
              <a:t>100%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31520" y="2926080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D9D2C7"/>
                </a:solidFill>
                <a:latin typeface="Segoe UI Semibold"/>
              </a:rPr>
              <a:t>schema-valid</a:t>
            </a:r>
          </a:p>
          <a:p>
            <a:pPr algn="l"/>
            <a:r>
              <a:rPr sz="800" b="0" i="0">
                <a:solidFill>
                  <a:srgbClr val="A89F93"/>
                </a:solidFill>
                <a:latin typeface="Segoe UI"/>
              </a:rPr>
              <a:t>target ≥ 99%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427732" y="2103120"/>
            <a:ext cx="1764792" cy="1234440"/>
          </a:xfrm>
          <a:prstGeom prst="roundRect">
            <a:avLst>
              <a:gd name="adj" fmla="val 6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2592324" y="254203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F5EFE6"/>
                </a:solidFill>
                <a:latin typeface="Segoe UI Semibold"/>
              </a:rPr>
              <a:t>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592324" y="2926080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D9D2C7"/>
                </a:solidFill>
                <a:latin typeface="Segoe UI Semibold"/>
              </a:rPr>
              <a:t>URL leaks</a:t>
            </a:r>
          </a:p>
          <a:p>
            <a:pPr algn="l"/>
            <a:r>
              <a:rPr sz="800" b="0" i="0">
                <a:solidFill>
                  <a:srgbClr val="A89F93"/>
                </a:solidFill>
                <a:latin typeface="Segoe UI"/>
              </a:rPr>
              <a:t>target 0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288536" y="2103120"/>
            <a:ext cx="1764792" cy="1234440"/>
          </a:xfrm>
          <a:prstGeom prst="roundRect">
            <a:avLst>
              <a:gd name="adj" fmla="val 6000"/>
            </a:avLst>
          </a:prstGeom>
          <a:solidFill>
            <a:srgbClr val="9DBFE3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4453128" y="254203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F5EFE6"/>
                </a:solidFill>
                <a:latin typeface="Segoe UI Semibold"/>
              </a:rPr>
              <a:t>3.00/3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453128" y="2926080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D9D2C7"/>
                </a:solidFill>
                <a:latin typeface="Segoe UI Semibold"/>
              </a:rPr>
              <a:t>step accuracy</a:t>
            </a:r>
          </a:p>
          <a:p>
            <a:pPr algn="l"/>
            <a:r>
              <a:rPr sz="800" b="0" i="0">
                <a:solidFill>
                  <a:srgbClr val="A89F93"/>
                </a:solidFill>
                <a:latin typeface="Segoe UI"/>
              </a:rPr>
              <a:t>vs hand-annotated gold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149340" y="2103120"/>
            <a:ext cx="1764792" cy="1234440"/>
          </a:xfrm>
          <a:prstGeom prst="roundRect">
            <a:avLst>
              <a:gd name="adj" fmla="val 6000"/>
            </a:avLst>
          </a:prstGeom>
          <a:solidFill>
            <a:srgbClr val="93CDB9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313932" y="254203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F5EFE6"/>
                </a:solidFill>
                <a:latin typeface="Segoe UI Semibold"/>
              </a:rPr>
              <a:t>100%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313932" y="2926080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D9D2C7"/>
                </a:solidFill>
                <a:latin typeface="Segoe UI Semibold"/>
              </a:rPr>
              <a:t>exact deeplinks</a:t>
            </a:r>
          </a:p>
          <a:p>
            <a:pPr algn="l"/>
            <a:r>
              <a:rPr sz="800" b="0" i="0">
                <a:solidFill>
                  <a:srgbClr val="A89F93"/>
                </a:solidFill>
                <a:latin typeface="Segoe UI"/>
              </a:rPr>
              <a:t>37 cases, 5 domains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8010144" y="2103120"/>
            <a:ext cx="1764792" cy="1234440"/>
          </a:xfrm>
          <a:prstGeom prst="roundRect">
            <a:avLst>
              <a:gd name="adj" fmla="val 6000"/>
            </a:avLst>
          </a:prstGeom>
          <a:solidFill>
            <a:srgbClr val="EE9A7E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8174736" y="254203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F5EFE6"/>
                </a:solidFill>
                <a:latin typeface="Segoe UI Semibold"/>
              </a:rPr>
              <a:t>80%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174736" y="2926080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D9D2C7"/>
                </a:solidFill>
                <a:latin typeface="Segoe UI Semibold"/>
              </a:rPr>
              <a:t>paraphrase hits</a:t>
            </a:r>
          </a:p>
          <a:p>
            <a:pPr algn="l"/>
            <a:r>
              <a:rPr sz="800" b="0" i="0">
                <a:solidFill>
                  <a:srgbClr val="A89F93"/>
                </a:solidFill>
                <a:latin typeface="Segoe UI"/>
              </a:rPr>
              <a:t>frozen test, target ≥ 80%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9870948" y="2103120"/>
            <a:ext cx="1764792" cy="1234440"/>
          </a:xfrm>
          <a:prstGeom prst="roundRect">
            <a:avLst>
              <a:gd name="adj" fmla="val 6000"/>
            </a:avLst>
          </a:prstGeom>
          <a:solidFill>
            <a:srgbClr val="C9C1B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035540" y="254203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F5EFE6"/>
                </a:solidFill>
                <a:latin typeface="Segoe UI Semibold"/>
              </a:rPr>
              <a:t>3.8 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035540" y="2926080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D9D2C7"/>
                </a:solidFill>
                <a:latin typeface="Segoe UI Semibold"/>
              </a:rPr>
              <a:t>cold-path P95</a:t>
            </a:r>
          </a:p>
          <a:p>
            <a:pPr algn="l"/>
            <a:r>
              <a:rPr sz="800" b="0" i="0">
                <a:solidFill>
                  <a:srgbClr val="A89F93"/>
                </a:solidFill>
                <a:latin typeface="Segoe UI"/>
              </a:rPr>
              <a:t>target ≤ 8 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66928" y="35661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20">
                <a:solidFill>
                  <a:srgbClr val="F2B66D"/>
                </a:solidFill>
                <a:latin typeface="Segoe UI Semibold"/>
              </a:rPr>
              <a:t>INNOVATION HIGHLIGHTS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32688" y="388620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Evidence-locked steps  </a:t>
            </a:r>
            <a:r>
              <a:rPr sz="950" b="0" i="0">
                <a:solidFill>
                  <a:srgbClr val="A89F93"/>
                </a:solidFill>
                <a:latin typeface="Segoe UI"/>
              </a:rPr>
              <a:t>the LLM can never author a step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32688" y="4306824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Compiled catalog  </a:t>
            </a:r>
            <a:r>
              <a:rPr sz="950" b="0" i="0">
                <a:solidFill>
                  <a:srgbClr val="A89F93"/>
                </a:solidFill>
                <a:latin typeface="Segoe UI"/>
              </a:rPr>
              <a:t>397 screens × on / off / open / set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32688" y="472744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Relevance Gate  </a:t>
            </a:r>
            <a:r>
              <a:rPr sz="950" b="0" i="0">
                <a:solidFill>
                  <a:srgbClr val="A89F93"/>
                </a:solidFill>
                <a:latin typeface="Segoe UI"/>
              </a:rPr>
              <a:t>honest no_match on wrong articles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32688" y="5148072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Contrastive cache  </a:t>
            </a:r>
            <a:r>
              <a:rPr sz="950" b="0" i="0">
                <a:solidFill>
                  <a:srgbClr val="A89F93"/>
                </a:solidFill>
                <a:latin typeface="Segoe UI"/>
              </a:rPr>
              <a:t>per-entry τ + symbolic facet guard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932688" y="5568696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Conditional polarity  </a:t>
            </a:r>
            <a:r>
              <a:rPr sz="950" b="0" i="0">
                <a:solidFill>
                  <a:srgbClr val="A89F93"/>
                </a:solidFill>
                <a:latin typeface="Segoe UI"/>
              </a:rPr>
              <a:t>one screen, two step groups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32688" y="598932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Closed loop  </a:t>
            </a:r>
            <a:r>
              <a:rPr sz="950" b="0" i="0">
                <a:solidFill>
                  <a:srgbClr val="A89F93"/>
                </a:solidFill>
                <a:latin typeface="Segoe UI"/>
              </a:rPr>
              <a:t>verbatim validation probes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4069080" y="3566160"/>
            <a:ext cx="4023360" cy="278892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4251960" y="3675887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20">
                <a:solidFill>
                  <a:srgbClr val="A89F93"/>
                </a:solidFill>
                <a:latin typeface="Segoe UI Semibold"/>
              </a:rPr>
              <a:t>EXACT DEEPLINKS · SAME 37 INPUTS</a:t>
            </a:r>
          </a:p>
        </p:txBody>
      </p:sp>
      <p:graphicFrame>
        <p:nvGraphicFramePr>
          <p:cNvPr id="187" name="Chart 186"/>
          <p:cNvGraphicFramePr>
            <a:graphicFrameLocks noGrp="1"/>
          </p:cNvGraphicFramePr>
          <p:nvPr/>
        </p:nvGraphicFramePr>
        <p:xfrm>
          <a:off x="4160520" y="3931920"/>
          <a:ext cx="38404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8" name="Rounded Rectangle 187"/>
          <p:cNvSpPr/>
          <p:nvPr/>
        </p:nvSpPr>
        <p:spPr>
          <a:xfrm>
            <a:off x="8275320" y="3566160"/>
            <a:ext cx="3346704" cy="2788920"/>
          </a:xfrm>
          <a:prstGeom prst="roundRect">
            <a:avLst>
              <a:gd name="adj" fmla="val 6000"/>
            </a:avLst>
          </a:prstGeom>
          <a:solidFill>
            <a:srgbClr val="000000">
              <a:alpha val="26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8485632" y="3675887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20">
                <a:solidFill>
                  <a:srgbClr val="EE9A7E"/>
                </a:solidFill>
                <a:latin typeface="Segoe UI Semibold"/>
              </a:rPr>
              <a:t>LIMITATIONS (HONEST)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759952" y="4005072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9D2C7"/>
                </a:solidFill>
                <a:latin typeface="Segoe UI"/>
              </a:rPr>
              <a:t>Free-tier LLM: ~3 new scenarios per minute; overflow degrades to deterministic wording, never fails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759952" y="4581144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9D2C7"/>
                </a:solidFill>
                <a:latin typeface="Segoe UI"/>
              </a:rPr>
              <a:t>22% of unseen rewordings still miss or mis-hit (frozen test)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8759952" y="515721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9D2C7"/>
                </a:solidFill>
                <a:latin typeface="Segoe UI"/>
              </a:rPr>
              <a:t>Facet lexicons cover six domains; new vocabulary relies on embeddings alone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759952" y="573328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9D2C7"/>
                </a:solidFill>
                <a:latin typeface="Segoe UI"/>
              </a:rPr>
              <a:t>Validation probes shown on a simulated device</a:t>
            </a:r>
          </a:p>
        </p:txBody>
      </p:sp>
      <p:pic>
        <p:nvPicPr>
          <p:cNvPr id="3" name="icon">
            <a:extLst>
              <a:ext uri="{FF2B5EF4-FFF2-40B4-BE49-F238E27FC236}">
                <a16:creationId xmlns:a16="http://schemas.microsoft.com/office/drawing/2014/main" id="{8DF3A256-43F2-FDE1-ECF4-76ECCAAE2AA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520" y="2240280"/>
            <a:ext cx="274320" cy="274320"/>
          </a:xfrm>
          <a:prstGeom prst="rect">
            <a:avLst/>
          </a:prstGeom>
        </p:spPr>
      </p:pic>
      <p:pic>
        <p:nvPicPr>
          <p:cNvPr id="5" name="icon">
            <a:extLst>
              <a:ext uri="{FF2B5EF4-FFF2-40B4-BE49-F238E27FC236}">
                <a16:creationId xmlns:a16="http://schemas.microsoft.com/office/drawing/2014/main" id="{D8787ACD-92F1-BEBC-39AC-4B8D1A7C886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2324" y="2240280"/>
            <a:ext cx="274320" cy="274320"/>
          </a:xfrm>
          <a:prstGeom prst="rect">
            <a:avLst/>
          </a:prstGeom>
        </p:spPr>
      </p:pic>
      <p:pic>
        <p:nvPicPr>
          <p:cNvPr id="7" name="icon">
            <a:extLst>
              <a:ext uri="{FF2B5EF4-FFF2-40B4-BE49-F238E27FC236}">
                <a16:creationId xmlns:a16="http://schemas.microsoft.com/office/drawing/2014/main" id="{D12B81AC-7084-C87C-197C-A85A3DE515B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53128" y="2240280"/>
            <a:ext cx="274320" cy="274320"/>
          </a:xfrm>
          <a:prstGeom prst="rect">
            <a:avLst/>
          </a:prstGeom>
        </p:spPr>
      </p:pic>
      <p:pic>
        <p:nvPicPr>
          <p:cNvPr id="9" name="icon">
            <a:extLst>
              <a:ext uri="{FF2B5EF4-FFF2-40B4-BE49-F238E27FC236}">
                <a16:creationId xmlns:a16="http://schemas.microsoft.com/office/drawing/2014/main" id="{1C8B663E-4B99-A874-B40E-BD25E0B2510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13932" y="2240280"/>
            <a:ext cx="274320" cy="274320"/>
          </a:xfrm>
          <a:prstGeom prst="rect">
            <a:avLst/>
          </a:prstGeom>
        </p:spPr>
      </p:pic>
      <p:pic>
        <p:nvPicPr>
          <p:cNvPr id="11" name="icon">
            <a:extLst>
              <a:ext uri="{FF2B5EF4-FFF2-40B4-BE49-F238E27FC236}">
                <a16:creationId xmlns:a16="http://schemas.microsoft.com/office/drawing/2014/main" id="{4B031D47-719E-DA1E-3460-7D1ED19A943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74736" y="2240280"/>
            <a:ext cx="274320" cy="274320"/>
          </a:xfrm>
          <a:prstGeom prst="rect">
            <a:avLst/>
          </a:prstGeom>
        </p:spPr>
      </p:pic>
      <p:pic>
        <p:nvPicPr>
          <p:cNvPr id="13" name="icon">
            <a:extLst>
              <a:ext uri="{FF2B5EF4-FFF2-40B4-BE49-F238E27FC236}">
                <a16:creationId xmlns:a16="http://schemas.microsoft.com/office/drawing/2014/main" id="{F4B51F29-4F0B-DA59-8481-BF2B6167B00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35540" y="2240280"/>
            <a:ext cx="274320" cy="274320"/>
          </a:xfrm>
          <a:prstGeom prst="rect">
            <a:avLst/>
          </a:prstGeom>
        </p:spPr>
      </p:pic>
      <p:pic>
        <p:nvPicPr>
          <p:cNvPr id="15" name="icon">
            <a:extLst>
              <a:ext uri="{FF2B5EF4-FFF2-40B4-BE49-F238E27FC236}">
                <a16:creationId xmlns:a16="http://schemas.microsoft.com/office/drawing/2014/main" id="{92BF77CC-1223-EE07-5B4A-64B1267AB55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6928" y="3941063"/>
            <a:ext cx="237744" cy="237744"/>
          </a:xfrm>
          <a:prstGeom prst="rect">
            <a:avLst/>
          </a:prstGeom>
        </p:spPr>
      </p:pic>
      <p:pic>
        <p:nvPicPr>
          <p:cNvPr id="17" name="icon">
            <a:extLst>
              <a:ext uri="{FF2B5EF4-FFF2-40B4-BE49-F238E27FC236}">
                <a16:creationId xmlns:a16="http://schemas.microsoft.com/office/drawing/2014/main" id="{5D739879-2352-3921-1F28-8A035D08697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6928" y="4361688"/>
            <a:ext cx="237744" cy="237744"/>
          </a:xfrm>
          <a:prstGeom prst="rect">
            <a:avLst/>
          </a:prstGeom>
        </p:spPr>
      </p:pic>
      <p:pic>
        <p:nvPicPr>
          <p:cNvPr id="19" name="icon">
            <a:extLst>
              <a:ext uri="{FF2B5EF4-FFF2-40B4-BE49-F238E27FC236}">
                <a16:creationId xmlns:a16="http://schemas.microsoft.com/office/drawing/2014/main" id="{CC3B802F-067C-27D6-587F-6B04326CE68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6928" y="4782312"/>
            <a:ext cx="237744" cy="237744"/>
          </a:xfrm>
          <a:prstGeom prst="rect">
            <a:avLst/>
          </a:prstGeom>
        </p:spPr>
      </p:pic>
      <p:pic>
        <p:nvPicPr>
          <p:cNvPr id="21" name="icon">
            <a:extLst>
              <a:ext uri="{FF2B5EF4-FFF2-40B4-BE49-F238E27FC236}">
                <a16:creationId xmlns:a16="http://schemas.microsoft.com/office/drawing/2014/main" id="{782C8426-519F-28BE-9EC4-9CDFB4031F7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6928" y="5202936"/>
            <a:ext cx="237744" cy="237744"/>
          </a:xfrm>
          <a:prstGeom prst="rect">
            <a:avLst/>
          </a:prstGeom>
        </p:spPr>
      </p:pic>
      <p:pic>
        <p:nvPicPr>
          <p:cNvPr id="23" name="icon">
            <a:extLst>
              <a:ext uri="{FF2B5EF4-FFF2-40B4-BE49-F238E27FC236}">
                <a16:creationId xmlns:a16="http://schemas.microsoft.com/office/drawing/2014/main" id="{35DF6E1C-6F49-47E8-C55A-DF2E987414F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6928" y="5623559"/>
            <a:ext cx="237744" cy="237744"/>
          </a:xfrm>
          <a:prstGeom prst="rect">
            <a:avLst/>
          </a:prstGeom>
        </p:spPr>
      </p:pic>
      <p:pic>
        <p:nvPicPr>
          <p:cNvPr id="25" name="icon">
            <a:extLst>
              <a:ext uri="{FF2B5EF4-FFF2-40B4-BE49-F238E27FC236}">
                <a16:creationId xmlns:a16="http://schemas.microsoft.com/office/drawing/2014/main" id="{54243EE1-E197-73E7-956B-6E3F7B91028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928" y="6044184"/>
            <a:ext cx="237744" cy="237744"/>
          </a:xfrm>
          <a:prstGeom prst="rect">
            <a:avLst/>
          </a:prstGeom>
        </p:spPr>
      </p:pic>
      <p:pic>
        <p:nvPicPr>
          <p:cNvPr id="27" name="icon">
            <a:extLst>
              <a:ext uri="{FF2B5EF4-FFF2-40B4-BE49-F238E27FC236}">
                <a16:creationId xmlns:a16="http://schemas.microsoft.com/office/drawing/2014/main" id="{BEACA531-BAE2-A09F-EA7C-3E1A1E2E0E5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85632" y="4032504"/>
            <a:ext cx="182880" cy="182880"/>
          </a:xfrm>
          <a:prstGeom prst="rect">
            <a:avLst/>
          </a:prstGeom>
        </p:spPr>
      </p:pic>
      <p:pic>
        <p:nvPicPr>
          <p:cNvPr id="29" name="icon">
            <a:extLst>
              <a:ext uri="{FF2B5EF4-FFF2-40B4-BE49-F238E27FC236}">
                <a16:creationId xmlns:a16="http://schemas.microsoft.com/office/drawing/2014/main" id="{4555051C-8448-B375-FF62-C363768B2AD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85632" y="4608576"/>
            <a:ext cx="182880" cy="182880"/>
          </a:xfrm>
          <a:prstGeom prst="rect">
            <a:avLst/>
          </a:prstGeom>
        </p:spPr>
      </p:pic>
      <p:pic>
        <p:nvPicPr>
          <p:cNvPr id="31" name="icon">
            <a:extLst>
              <a:ext uri="{FF2B5EF4-FFF2-40B4-BE49-F238E27FC236}">
                <a16:creationId xmlns:a16="http://schemas.microsoft.com/office/drawing/2014/main" id="{F4E36235-86B3-E87A-D5BA-E815094DC86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85632" y="5184648"/>
            <a:ext cx="182880" cy="182880"/>
          </a:xfrm>
          <a:prstGeom prst="rect">
            <a:avLst/>
          </a:prstGeom>
        </p:spPr>
      </p:pic>
      <p:pic>
        <p:nvPicPr>
          <p:cNvPr id="33" name="icon">
            <a:extLst>
              <a:ext uri="{FF2B5EF4-FFF2-40B4-BE49-F238E27FC236}">
                <a16:creationId xmlns:a16="http://schemas.microsoft.com/office/drawing/2014/main" id="{20352CF5-8145-9DE6-C21F-B540A19B151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85632" y="5760720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142" descr="bg_sl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44" name="Oval 143"/>
          <p:cNvSpPr/>
          <p:nvPr/>
        </p:nvSpPr>
        <p:spPr>
          <a:xfrm>
            <a:off x="566928" y="310896"/>
            <a:ext cx="237744" cy="237744"/>
          </a:xfrm>
          <a:prstGeom prst="ellipse">
            <a:avLst/>
          </a:prstGeom>
          <a:noFill/>
          <a:ln w="19050">
            <a:solidFill>
              <a:srgbClr val="F2B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638251" y="382219"/>
            <a:ext cx="95097" cy="95097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896112" y="2743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5EFE6"/>
                </a:solidFill>
                <a:latin typeface="Segoe UI Semibold"/>
              </a:rPr>
              <a:t>TapTrace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048256" y="329184"/>
            <a:ext cx="10972" cy="20116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221284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spc="250">
                <a:solidFill>
                  <a:srgbClr val="A89F93"/>
                </a:solidFill>
                <a:latin typeface="Segoe UI"/>
              </a:rPr>
              <a:t>08  |  WHAT'S NEXT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223760" y="274320"/>
            <a:ext cx="439826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 spc="200">
                <a:solidFill>
                  <a:srgbClr val="A89F93"/>
                </a:solidFill>
                <a:latin typeface="Segoe UI"/>
              </a:rPr>
              <a:t>SAMSUNG PRISM  ·  GENAI HACKATHON 3.0  ·  THEME 02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66928" y="822960"/>
            <a:ext cx="81838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0" i="0">
                <a:solidFill>
                  <a:srgbClr val="F5EFE6"/>
                </a:solidFill>
                <a:latin typeface="Segoe UI Semibold"/>
              </a:rPr>
              <a:t>From hackathon engine to Galaxy support worklet - every next step </a:t>
            </a:r>
            <a:r>
              <a:rPr sz="2700" b="0" i="0">
                <a:solidFill>
                  <a:srgbClr val="F2B66D"/>
                </a:solidFill>
                <a:latin typeface="Segoe UI Semibold"/>
              </a:rPr>
              <a:t>reuses what is built</a:t>
            </a:r>
            <a:r>
              <a:rPr sz="2700" b="0" i="0">
                <a:solidFill>
                  <a:srgbClr val="F5EFE6"/>
                </a:solidFill>
                <a:latin typeface="Segoe UI Semibold"/>
              </a:rPr>
              <a:t>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006840" y="896112"/>
            <a:ext cx="261518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D9D2C7"/>
                </a:solidFill>
                <a:latin typeface="Segoe UI"/>
              </a:rPr>
              <a:t>Each phase extends an existing component rather than adding a new system.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607040" y="6473952"/>
            <a:ext cx="10149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8A8176"/>
                </a:solidFill>
                <a:latin typeface="Segoe UI"/>
              </a:rPr>
              <a:t>09 / 12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66928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spc="150">
                <a:solidFill>
                  <a:srgbClr val="8A8176"/>
                </a:solidFill>
                <a:latin typeface="Segoe UI"/>
              </a:rPr>
              <a:t>TIET  ·  TAPTRACE  ·  THEME 02 SMART GUIDED TROUBLESHOOTING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49808" y="2487168"/>
            <a:ext cx="10689336" cy="22860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435607" y="2377440"/>
            <a:ext cx="237744" cy="237744"/>
          </a:xfrm>
          <a:prstGeom prst="ellipse">
            <a:avLst/>
          </a:prstGeom>
          <a:solidFill>
            <a:srgbClr val="F2B66D"/>
          </a:solidFill>
          <a:ln w="22225">
            <a:solidFill>
              <a:srgbClr val="F2B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566928" y="20574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spc="200">
                <a:solidFill>
                  <a:srgbClr val="F2B66D"/>
                </a:solidFill>
                <a:latin typeface="Segoe UI Semibold"/>
              </a:rPr>
              <a:t>NOW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66928" y="2788920"/>
            <a:ext cx="2121408" cy="3017520"/>
          </a:xfrm>
          <a:prstGeom prst="roundRect">
            <a:avLst>
              <a:gd name="adj" fmla="val 6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749808" y="29443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2B66D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749808" y="3566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F5EFE6"/>
                </a:solidFill>
                <a:latin typeface="Segoe UI Semibold"/>
              </a:rPr>
              <a:t>TapTrace v1</a:t>
            </a:r>
          </a:p>
        </p:txBody>
      </p:sp>
      <p:sp>
        <p:nvSpPr>
          <p:cNvPr id="161" name="Oval 160"/>
          <p:cNvSpPr/>
          <p:nvPr/>
        </p:nvSpPr>
        <p:spPr>
          <a:xfrm>
            <a:off x="768096" y="4178808"/>
            <a:ext cx="64008" cy="64008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914400" y="406908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9D2C7"/>
                </a:solidFill>
                <a:latin typeface="Segoe UI"/>
              </a:rPr>
              <a:t>REST API + cache + gate</a:t>
            </a:r>
          </a:p>
        </p:txBody>
      </p:sp>
      <p:sp>
        <p:nvSpPr>
          <p:cNvPr id="163" name="Oval 162"/>
          <p:cNvSpPr/>
          <p:nvPr/>
        </p:nvSpPr>
        <p:spPr>
          <a:xfrm>
            <a:off x="768096" y="4681728"/>
            <a:ext cx="64008" cy="64008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914400" y="457200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9D2C7"/>
                </a:solidFill>
                <a:latin typeface="Segoe UI"/>
              </a:rPr>
              <a:t>37/37 deeplink benchmark</a:t>
            </a:r>
          </a:p>
        </p:txBody>
      </p:sp>
      <p:sp>
        <p:nvSpPr>
          <p:cNvPr id="165" name="Oval 164"/>
          <p:cNvSpPr/>
          <p:nvPr/>
        </p:nvSpPr>
        <p:spPr>
          <a:xfrm>
            <a:off x="768096" y="5184648"/>
            <a:ext cx="64008" cy="64008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914400" y="507492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9D2C7"/>
                </a:solidFill>
                <a:latin typeface="Segoe UI"/>
              </a:rPr>
              <a:t>metrics.md, Docker</a:t>
            </a:r>
          </a:p>
        </p:txBody>
      </p:sp>
      <p:sp>
        <p:nvSpPr>
          <p:cNvPr id="167" name="Oval 166"/>
          <p:cNvSpPr/>
          <p:nvPr/>
        </p:nvSpPr>
        <p:spPr>
          <a:xfrm>
            <a:off x="3666744" y="2377440"/>
            <a:ext cx="237744" cy="237744"/>
          </a:xfrm>
          <a:prstGeom prst="ellipse">
            <a:avLst/>
          </a:prstGeom>
          <a:solidFill>
            <a:srgbClr val="241A13"/>
          </a:solidFill>
          <a:ln w="22225">
            <a:solidFill>
              <a:srgbClr val="9DB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2798064" y="20574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spc="200">
                <a:solidFill>
                  <a:srgbClr val="9DBFE3"/>
                </a:solidFill>
                <a:latin typeface="Segoe UI Semibold"/>
              </a:rPr>
              <a:t>NEXT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2798064" y="2788920"/>
            <a:ext cx="2121408" cy="3017520"/>
          </a:xfrm>
          <a:prstGeom prst="roundRect">
            <a:avLst>
              <a:gd name="adj" fmla="val 6000"/>
            </a:avLst>
          </a:prstGeom>
          <a:solidFill>
            <a:srgbClr val="9DBFE3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ounded Rectangle 169"/>
          <p:cNvSpPr/>
          <p:nvPr/>
        </p:nvSpPr>
        <p:spPr>
          <a:xfrm>
            <a:off x="2980944" y="29443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9DBFE3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2980944" y="3566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F5EFE6"/>
                </a:solidFill>
                <a:latin typeface="Segoe UI Semibold"/>
              </a:rPr>
              <a:t>Learn from probes</a:t>
            </a:r>
          </a:p>
        </p:txBody>
      </p:sp>
      <p:sp>
        <p:nvSpPr>
          <p:cNvPr id="173" name="Oval 172"/>
          <p:cNvSpPr/>
          <p:nvPr/>
        </p:nvSpPr>
        <p:spPr>
          <a:xfrm>
            <a:off x="2999232" y="4178808"/>
            <a:ext cx="64008" cy="64008"/>
          </a:xfrm>
          <a:prstGeom prst="ellipse">
            <a:avLst/>
          </a:prstGeom>
          <a:solidFill>
            <a:srgbClr val="9DB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3145536" y="406908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9D2C7"/>
                </a:solidFill>
                <a:latin typeface="Segoe UI"/>
              </a:rPr>
              <a:t>validation results as labels</a:t>
            </a:r>
          </a:p>
        </p:txBody>
      </p:sp>
      <p:sp>
        <p:nvSpPr>
          <p:cNvPr id="175" name="Oval 174"/>
          <p:cNvSpPr/>
          <p:nvPr/>
        </p:nvSpPr>
        <p:spPr>
          <a:xfrm>
            <a:off x="2999232" y="4681728"/>
            <a:ext cx="64008" cy="64008"/>
          </a:xfrm>
          <a:prstGeom prst="ellipse">
            <a:avLst/>
          </a:prstGeom>
          <a:solidFill>
            <a:srgbClr val="9DB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3145536" y="457200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9D2C7"/>
                </a:solidFill>
                <a:latin typeface="Segoe UI"/>
              </a:rPr>
              <a:t>rank actions by fix rate</a:t>
            </a:r>
          </a:p>
        </p:txBody>
      </p:sp>
      <p:sp>
        <p:nvSpPr>
          <p:cNvPr id="177" name="Oval 176"/>
          <p:cNvSpPr/>
          <p:nvPr/>
        </p:nvSpPr>
        <p:spPr>
          <a:xfrm>
            <a:off x="2999232" y="5184648"/>
            <a:ext cx="64008" cy="64008"/>
          </a:xfrm>
          <a:prstGeom prst="ellipse">
            <a:avLst/>
          </a:prstGeom>
          <a:solidFill>
            <a:srgbClr val="9DB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3145536" y="507492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9D2C7"/>
                </a:solidFill>
                <a:latin typeface="Segoe UI"/>
              </a:rPr>
              <a:t>per-model feedback</a:t>
            </a:r>
          </a:p>
        </p:txBody>
      </p:sp>
      <p:sp>
        <p:nvSpPr>
          <p:cNvPr id="179" name="Oval 178"/>
          <p:cNvSpPr/>
          <p:nvPr/>
        </p:nvSpPr>
        <p:spPr>
          <a:xfrm>
            <a:off x="5897880" y="2377440"/>
            <a:ext cx="237744" cy="237744"/>
          </a:xfrm>
          <a:prstGeom prst="ellipse">
            <a:avLst/>
          </a:prstGeom>
          <a:solidFill>
            <a:srgbClr val="241A13"/>
          </a:solidFill>
          <a:ln w="22225">
            <a:solidFill>
              <a:srgbClr val="93CD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5029200" y="20574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spc="200">
                <a:solidFill>
                  <a:srgbClr val="93CDB9"/>
                </a:solidFill>
                <a:latin typeface="Segoe UI Semibold"/>
              </a:rPr>
              <a:t>THEN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5029200" y="2788920"/>
            <a:ext cx="2121408" cy="3017520"/>
          </a:xfrm>
          <a:prstGeom prst="roundRect">
            <a:avLst>
              <a:gd name="adj" fmla="val 6000"/>
            </a:avLst>
          </a:prstGeom>
          <a:solidFill>
            <a:srgbClr val="93CDB9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ounded Rectangle 181"/>
          <p:cNvSpPr/>
          <p:nvPr/>
        </p:nvSpPr>
        <p:spPr>
          <a:xfrm>
            <a:off x="5212080" y="29443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93CDB9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5212080" y="3566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F5EFE6"/>
                </a:solidFill>
                <a:latin typeface="Segoe UI Semibold"/>
              </a:rPr>
              <a:t>Live SIIS retrieval</a:t>
            </a:r>
          </a:p>
        </p:txBody>
      </p:sp>
      <p:sp>
        <p:nvSpPr>
          <p:cNvPr id="185" name="Oval 184"/>
          <p:cNvSpPr/>
          <p:nvPr/>
        </p:nvSpPr>
        <p:spPr>
          <a:xfrm>
            <a:off x="5230368" y="4178808"/>
            <a:ext cx="64008" cy="64008"/>
          </a:xfrm>
          <a:prstGeom prst="ellipse">
            <a:avLst/>
          </a:prstGeom>
          <a:solidFill>
            <a:srgbClr val="93CD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5376672" y="406908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9D2C7"/>
                </a:solidFill>
                <a:latin typeface="Segoe UI"/>
              </a:rPr>
              <a:t>hybrid search over the store</a:t>
            </a:r>
          </a:p>
        </p:txBody>
      </p:sp>
      <p:sp>
        <p:nvSpPr>
          <p:cNvPr id="187" name="Oval 186"/>
          <p:cNvSpPr/>
          <p:nvPr/>
        </p:nvSpPr>
        <p:spPr>
          <a:xfrm>
            <a:off x="5230368" y="4681728"/>
            <a:ext cx="64008" cy="64008"/>
          </a:xfrm>
          <a:prstGeom prst="ellipse">
            <a:avLst/>
          </a:prstGeom>
          <a:solidFill>
            <a:srgbClr val="93CD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5376672" y="457200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9D2C7"/>
                </a:solidFill>
                <a:latin typeface="Segoe UI"/>
              </a:rPr>
              <a:t>gate already scores fit</a:t>
            </a:r>
          </a:p>
        </p:txBody>
      </p:sp>
      <p:sp>
        <p:nvSpPr>
          <p:cNvPr id="189" name="Oval 188"/>
          <p:cNvSpPr/>
          <p:nvPr/>
        </p:nvSpPr>
        <p:spPr>
          <a:xfrm>
            <a:off x="5230368" y="5184648"/>
            <a:ext cx="64008" cy="64008"/>
          </a:xfrm>
          <a:prstGeom prst="ellipse">
            <a:avLst/>
          </a:prstGeom>
          <a:solidFill>
            <a:srgbClr val="93CD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5376672" y="507492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9D2C7"/>
                </a:solidFill>
                <a:latin typeface="Segoe UI"/>
              </a:rPr>
              <a:t>multi-document goals</a:t>
            </a:r>
          </a:p>
        </p:txBody>
      </p:sp>
      <p:sp>
        <p:nvSpPr>
          <p:cNvPr id="191" name="Oval 190"/>
          <p:cNvSpPr/>
          <p:nvPr/>
        </p:nvSpPr>
        <p:spPr>
          <a:xfrm>
            <a:off x="8129016" y="2377440"/>
            <a:ext cx="237744" cy="237744"/>
          </a:xfrm>
          <a:prstGeom prst="ellipse">
            <a:avLst/>
          </a:prstGeom>
          <a:solidFill>
            <a:srgbClr val="241A13"/>
          </a:solidFill>
          <a:ln w="22225">
            <a:solidFill>
              <a:srgbClr val="EE9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7260336" y="20574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spc="200">
                <a:solidFill>
                  <a:srgbClr val="EE9A7E"/>
                </a:solidFill>
                <a:latin typeface="Segoe UI Semibold"/>
              </a:rPr>
              <a:t>LATER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7260336" y="2788920"/>
            <a:ext cx="2121408" cy="3017520"/>
          </a:xfrm>
          <a:prstGeom prst="roundRect">
            <a:avLst>
              <a:gd name="adj" fmla="val 6000"/>
            </a:avLst>
          </a:prstGeom>
          <a:solidFill>
            <a:srgbClr val="EE9A7E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ounded Rectangle 193"/>
          <p:cNvSpPr/>
          <p:nvPr/>
        </p:nvSpPr>
        <p:spPr>
          <a:xfrm>
            <a:off x="7443216" y="29443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E9A7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7443216" y="3566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F5EFE6"/>
                </a:solidFill>
                <a:latin typeface="Segoe UI Semibold"/>
              </a:rPr>
              <a:t>Multilingual</a:t>
            </a:r>
          </a:p>
        </p:txBody>
      </p:sp>
      <p:sp>
        <p:nvSpPr>
          <p:cNvPr id="197" name="Oval 196"/>
          <p:cNvSpPr/>
          <p:nvPr/>
        </p:nvSpPr>
        <p:spPr>
          <a:xfrm>
            <a:off x="7461504" y="4178808"/>
            <a:ext cx="64008" cy="64008"/>
          </a:xfrm>
          <a:prstGeom prst="ellipse">
            <a:avLst/>
          </a:prstGeom>
          <a:solidFill>
            <a:srgbClr val="EE9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7607808" y="406908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9D2C7"/>
                </a:solidFill>
                <a:latin typeface="Segoe UI"/>
              </a:rPr>
              <a:t>Hindi / Hinglish complaints</a:t>
            </a:r>
          </a:p>
        </p:txBody>
      </p:sp>
      <p:sp>
        <p:nvSpPr>
          <p:cNvPr id="199" name="Oval 198"/>
          <p:cNvSpPr/>
          <p:nvPr/>
        </p:nvSpPr>
        <p:spPr>
          <a:xfrm>
            <a:off x="7461504" y="4681728"/>
            <a:ext cx="64008" cy="64008"/>
          </a:xfrm>
          <a:prstGeom prst="ellipse">
            <a:avLst/>
          </a:prstGeom>
          <a:solidFill>
            <a:srgbClr val="EE9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7607808" y="457200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9D2C7"/>
                </a:solidFill>
                <a:latin typeface="Segoe UI"/>
              </a:rPr>
              <a:t>multilingual embedder</a:t>
            </a:r>
          </a:p>
        </p:txBody>
      </p:sp>
      <p:sp>
        <p:nvSpPr>
          <p:cNvPr id="201" name="Oval 200"/>
          <p:cNvSpPr/>
          <p:nvPr/>
        </p:nvSpPr>
        <p:spPr>
          <a:xfrm>
            <a:off x="7461504" y="5184648"/>
            <a:ext cx="64008" cy="64008"/>
          </a:xfrm>
          <a:prstGeom prst="ellipse">
            <a:avLst/>
          </a:prstGeom>
          <a:solidFill>
            <a:srgbClr val="EE9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7607808" y="507492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9D2C7"/>
                </a:solidFill>
                <a:latin typeface="Segoe UI"/>
              </a:rPr>
              <a:t>lexicons are data</a:t>
            </a:r>
          </a:p>
        </p:txBody>
      </p:sp>
      <p:sp>
        <p:nvSpPr>
          <p:cNvPr id="203" name="Oval 202"/>
          <p:cNvSpPr/>
          <p:nvPr/>
        </p:nvSpPr>
        <p:spPr>
          <a:xfrm>
            <a:off x="10360151" y="2377440"/>
            <a:ext cx="237744" cy="237744"/>
          </a:xfrm>
          <a:prstGeom prst="ellipse">
            <a:avLst/>
          </a:prstGeom>
          <a:solidFill>
            <a:srgbClr val="241A13"/>
          </a:solidFill>
          <a:ln w="22225">
            <a:solidFill>
              <a:srgbClr val="C9C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9491472" y="20574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spc="200">
                <a:solidFill>
                  <a:srgbClr val="C9C1B6"/>
                </a:solidFill>
                <a:latin typeface="Segoe UI Semibold"/>
              </a:rPr>
              <a:t>WORKLET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9491472" y="2788920"/>
            <a:ext cx="2121408" cy="3017520"/>
          </a:xfrm>
          <a:prstGeom prst="roundRect">
            <a:avLst>
              <a:gd name="adj" fmla="val 6000"/>
            </a:avLst>
          </a:prstGeom>
          <a:solidFill>
            <a:srgbClr val="C9C1B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ounded Rectangle 205"/>
          <p:cNvSpPr/>
          <p:nvPr/>
        </p:nvSpPr>
        <p:spPr>
          <a:xfrm>
            <a:off x="9674351" y="29443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C9C1B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9674351" y="3566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F5EFE6"/>
                </a:solidFill>
                <a:latin typeface="Segoe UI Semibold"/>
              </a:rPr>
              <a:t>On-device</a:t>
            </a:r>
          </a:p>
        </p:txBody>
      </p:sp>
      <p:sp>
        <p:nvSpPr>
          <p:cNvPr id="209" name="Oval 208"/>
          <p:cNvSpPr/>
          <p:nvPr/>
        </p:nvSpPr>
        <p:spPr>
          <a:xfrm>
            <a:off x="9692640" y="4178808"/>
            <a:ext cx="64008" cy="64008"/>
          </a:xfrm>
          <a:prstGeom prst="ellipse">
            <a:avLst/>
          </a:prstGeom>
          <a:solidFill>
            <a:srgbClr val="C9C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9838944" y="406908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9D2C7"/>
                </a:solidFill>
                <a:latin typeface="Segoe UI"/>
              </a:rPr>
              <a:t>~30 MB ONNX + ontology + cache</a:t>
            </a:r>
          </a:p>
        </p:txBody>
      </p:sp>
      <p:sp>
        <p:nvSpPr>
          <p:cNvPr id="211" name="Oval 210"/>
          <p:cNvSpPr/>
          <p:nvPr/>
        </p:nvSpPr>
        <p:spPr>
          <a:xfrm>
            <a:off x="9692640" y="4681728"/>
            <a:ext cx="64008" cy="64008"/>
          </a:xfrm>
          <a:prstGeom prst="ellipse">
            <a:avLst/>
          </a:prstGeom>
          <a:solidFill>
            <a:srgbClr val="C9C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9838944" y="457200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9D2C7"/>
                </a:solidFill>
                <a:latin typeface="Segoe UI"/>
              </a:rPr>
              <a:t>voice in, confirmed taps out</a:t>
            </a:r>
          </a:p>
        </p:txBody>
      </p:sp>
      <p:sp>
        <p:nvSpPr>
          <p:cNvPr id="213" name="Oval 212"/>
          <p:cNvSpPr/>
          <p:nvPr/>
        </p:nvSpPr>
        <p:spPr>
          <a:xfrm>
            <a:off x="9692640" y="5184648"/>
            <a:ext cx="64008" cy="64008"/>
          </a:xfrm>
          <a:prstGeom prst="ellipse">
            <a:avLst/>
          </a:prstGeom>
          <a:solidFill>
            <a:srgbClr val="C9C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9838944" y="507492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9D2C7"/>
                </a:solidFill>
                <a:latin typeface="Segoe UI"/>
              </a:rPr>
              <a:t>offline Galaxy support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566928" y="5943600"/>
            <a:ext cx="11055096" cy="438912"/>
          </a:xfrm>
          <a:prstGeom prst="roundRect">
            <a:avLst>
              <a:gd name="adj" fmla="val 20000"/>
            </a:avLst>
          </a:prstGeom>
          <a:solidFill>
            <a:srgbClr val="000000">
              <a:alpha val="36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841247" y="5943600"/>
            <a:ext cx="1050645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2B66D"/>
                </a:solidFill>
                <a:latin typeface="Segoe UI Semibold"/>
              </a:rPr>
              <a:t>Why it can become a worklet:  </a:t>
            </a:r>
            <a:r>
              <a:rPr sz="1050" b="0" i="0">
                <a:solidFill>
                  <a:srgbClr val="EDE5DA"/>
                </a:solidFill>
                <a:latin typeface="Segoe UI"/>
              </a:rPr>
              <a:t>the data audit, relevance gate and compiled ontology transfer to any catalog, and every decision is traceable for review.</a:t>
            </a:r>
          </a:p>
        </p:txBody>
      </p:sp>
      <p:pic>
        <p:nvPicPr>
          <p:cNvPr id="3" name="icon">
            <a:extLst>
              <a:ext uri="{FF2B5EF4-FFF2-40B4-BE49-F238E27FC236}">
                <a16:creationId xmlns:a16="http://schemas.microsoft.com/office/drawing/2014/main" id="{E4E30C2D-BD9F-1B29-45D4-BD1F5D64285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925" y="3058485"/>
            <a:ext cx="247253" cy="247253"/>
          </a:xfrm>
          <a:prstGeom prst="rect">
            <a:avLst/>
          </a:prstGeom>
        </p:spPr>
      </p:pic>
      <p:pic>
        <p:nvPicPr>
          <p:cNvPr id="5" name="icon">
            <a:extLst>
              <a:ext uri="{FF2B5EF4-FFF2-40B4-BE49-F238E27FC236}">
                <a16:creationId xmlns:a16="http://schemas.microsoft.com/office/drawing/2014/main" id="{64EC730B-E7A5-FEB4-6A8E-AF5E0A2B71F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95061" y="3058485"/>
            <a:ext cx="247253" cy="247253"/>
          </a:xfrm>
          <a:prstGeom prst="rect">
            <a:avLst/>
          </a:prstGeom>
        </p:spPr>
      </p:pic>
      <p:pic>
        <p:nvPicPr>
          <p:cNvPr id="7" name="icon">
            <a:extLst>
              <a:ext uri="{FF2B5EF4-FFF2-40B4-BE49-F238E27FC236}">
                <a16:creationId xmlns:a16="http://schemas.microsoft.com/office/drawing/2014/main" id="{E5DCBA78-8BE0-447E-4F86-B0C8FDB3D42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26197" y="3058485"/>
            <a:ext cx="247253" cy="247253"/>
          </a:xfrm>
          <a:prstGeom prst="rect">
            <a:avLst/>
          </a:prstGeom>
        </p:spPr>
      </p:pic>
      <p:pic>
        <p:nvPicPr>
          <p:cNvPr id="9" name="icon">
            <a:extLst>
              <a:ext uri="{FF2B5EF4-FFF2-40B4-BE49-F238E27FC236}">
                <a16:creationId xmlns:a16="http://schemas.microsoft.com/office/drawing/2014/main" id="{B86E45DB-B2D9-5C90-0656-4B18CE1C8B1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57333" y="3058485"/>
            <a:ext cx="247253" cy="247253"/>
          </a:xfrm>
          <a:prstGeom prst="rect">
            <a:avLst/>
          </a:prstGeom>
        </p:spPr>
      </p:pic>
      <p:pic>
        <p:nvPicPr>
          <p:cNvPr id="11" name="icon">
            <a:extLst>
              <a:ext uri="{FF2B5EF4-FFF2-40B4-BE49-F238E27FC236}">
                <a16:creationId xmlns:a16="http://schemas.microsoft.com/office/drawing/2014/main" id="{49B52A28-F01F-3C92-2B54-9A379B29635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88469" y="3058485"/>
            <a:ext cx="247253" cy="2472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icture 148" descr="bg_sl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50" name="Oval 149"/>
          <p:cNvSpPr/>
          <p:nvPr/>
        </p:nvSpPr>
        <p:spPr>
          <a:xfrm>
            <a:off x="566928" y="310896"/>
            <a:ext cx="237744" cy="237744"/>
          </a:xfrm>
          <a:prstGeom prst="ellipse">
            <a:avLst/>
          </a:prstGeom>
          <a:noFill/>
          <a:ln w="19050">
            <a:solidFill>
              <a:srgbClr val="F2B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638251" y="382219"/>
            <a:ext cx="95097" cy="95097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896112" y="2743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5EFE6"/>
                </a:solidFill>
                <a:latin typeface="Segoe UI Semibold"/>
              </a:rPr>
              <a:t>TapTrace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048256" y="329184"/>
            <a:ext cx="10972" cy="20116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221284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spc="250">
                <a:solidFill>
                  <a:srgbClr val="A89F93"/>
                </a:solidFill>
                <a:latin typeface="Segoe UI"/>
              </a:rPr>
              <a:t>09  |  BROWNIE POINTS (DIFFERENTIATION)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223760" y="274320"/>
            <a:ext cx="439826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 spc="200">
                <a:solidFill>
                  <a:srgbClr val="A89F93"/>
                </a:solidFill>
                <a:latin typeface="Segoe UI"/>
              </a:rPr>
              <a:t>SAMSUNG PRISM  ·  GENAI HACKATHON 3.0  ·  THEME 02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66928" y="822960"/>
            <a:ext cx="81838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0" i="0">
                <a:solidFill>
                  <a:srgbClr val="F5EFE6"/>
                </a:solidFill>
                <a:latin typeface="Segoe UI Semibold"/>
              </a:rPr>
              <a:t>Where TapTrace differs from a typical pipeline - </a:t>
            </a:r>
            <a:r>
              <a:rPr sz="2700" b="0" i="0">
                <a:solidFill>
                  <a:srgbClr val="F2B66D"/>
                </a:solidFill>
                <a:latin typeface="Segoe UI Semibold"/>
              </a:rPr>
              <a:t>with the evidence</a:t>
            </a:r>
            <a:r>
              <a:rPr sz="2700" b="0" i="0">
                <a:solidFill>
                  <a:srgbClr val="F5EFE6"/>
                </a:solidFill>
                <a:latin typeface="Segoe UI Semibold"/>
              </a:rPr>
              <a:t> for each.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006840" y="896112"/>
            <a:ext cx="261518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D9D2C7"/>
                </a:solidFill>
                <a:latin typeface="Segoe UI"/>
              </a:rPr>
              <a:t>Each row points at code, data or a measurement in the repository.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607040" y="6473952"/>
            <a:ext cx="10149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8A8176"/>
                </a:solidFill>
                <a:latin typeface="Segoe UI"/>
              </a:rPr>
              <a:t>10 / 12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6928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spc="150">
                <a:solidFill>
                  <a:srgbClr val="8A8176"/>
                </a:solidFill>
                <a:latin typeface="Segoe UI"/>
              </a:rPr>
              <a:t>TIET  ·  TAPTRACE  ·  THEME 02 SMART GUIDED TROUBLESHOOTING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66928" y="2103120"/>
            <a:ext cx="7589520" cy="425196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749808" y="221284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00">
                <a:solidFill>
                  <a:srgbClr val="A89F93"/>
                </a:solidFill>
                <a:latin typeface="Segoe UI Semibold"/>
              </a:rPr>
              <a:t>CAPABILITY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926080" y="22128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00">
                <a:solidFill>
                  <a:srgbClr val="A89F93"/>
                </a:solidFill>
                <a:latin typeface="Segoe UI Semibold"/>
              </a:rPr>
              <a:t>TYPICAL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709160" y="221284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00">
                <a:solidFill>
                  <a:srgbClr val="F2B66D"/>
                </a:solidFill>
                <a:latin typeface="Segoe UI Semibold"/>
              </a:rPr>
              <a:t>TAPTRACE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995160" y="221284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00">
                <a:solidFill>
                  <a:srgbClr val="A89F93"/>
                </a:solidFill>
                <a:latin typeface="Segoe UI Semibold"/>
              </a:rPr>
              <a:t>EVIDENCE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04088" y="2542032"/>
            <a:ext cx="7315200" cy="13716"/>
          </a:xfrm>
          <a:prstGeom prst="rect">
            <a:avLst/>
          </a:prstGeom>
          <a:solidFill>
            <a:srgbClr val="8A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749808" y="2615184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F5EFE6"/>
                </a:solidFill>
                <a:latin typeface="Segoe UI Semibold"/>
              </a:rPr>
              <a:t>Hallucinated steps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182112" y="2615184"/>
            <a:ext cx="14630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Segoe UI"/>
              </a:rPr>
              <a:t>possible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965192" y="2615184"/>
            <a:ext cx="19659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impossible by construction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995160" y="2615184"/>
            <a:ext cx="14630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A89F93"/>
                </a:solidFill>
                <a:latin typeface="Consolas"/>
              </a:rPr>
              <a:t>taptrace/siis.py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704088" y="3127248"/>
            <a:ext cx="7315200" cy="10972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749808" y="3145536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F5EFE6"/>
                </a:solidFill>
                <a:latin typeface="Segoe UI Semibold"/>
              </a:rPr>
              <a:t>Wrong-document article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182112" y="3145536"/>
            <a:ext cx="14630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Segoe UI"/>
              </a:rPr>
              <a:t>extracts anyway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965192" y="3145536"/>
            <a:ext cx="19659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no_match on 4/20, all as gold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995160" y="3145536"/>
            <a:ext cx="14630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A89F93"/>
                </a:solidFill>
                <a:latin typeface="Consolas"/>
              </a:rPr>
              <a:t>eval/gold.json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04088" y="3657600"/>
            <a:ext cx="7315200" cy="10972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749808" y="3675887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F5EFE6"/>
                </a:solidFill>
                <a:latin typeface="Segoe UI Semibold"/>
              </a:rPr>
              <a:t>On / off twin deeplinks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182112" y="3675887"/>
            <a:ext cx="14630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Segoe UI"/>
              </a:rPr>
              <a:t>coin flip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965192" y="3675887"/>
            <a:ext cx="19659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polarity picks the variant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995160" y="3675887"/>
            <a:ext cx="14630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A89F93"/>
                </a:solidFill>
                <a:latin typeface="Consolas"/>
              </a:rPr>
              <a:t>resolver.py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704088" y="4187952"/>
            <a:ext cx="7315200" cy="10972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749808" y="420624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F5EFE6"/>
                </a:solidFill>
                <a:latin typeface="Segoe UI Semibold"/>
              </a:rPr>
              <a:t>Near-miss reset screen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182112" y="4206240"/>
            <a:ext cx="14630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Segoe UI"/>
              </a:rPr>
              <a:t>DL-0022 (wrong)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965192" y="4206240"/>
            <a:ext cx="19659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abstains to dummy_positive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995160" y="4206240"/>
            <a:ext cx="14630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A89F93"/>
                </a:solidFill>
                <a:latin typeface="Consolas"/>
              </a:rPr>
              <a:t>M20 in benchmark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04088" y="4718304"/>
            <a:ext cx="7315200" cy="10972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749808" y="4736592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F5EFE6"/>
                </a:solidFill>
                <a:latin typeface="Segoe UI Semibold"/>
              </a:rPr>
              <a:t>Cache false hits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182112" y="4736592"/>
            <a:ext cx="14630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Segoe UI"/>
              </a:rPr>
              <a:t>32% (dev)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965192" y="4736592"/>
            <a:ext cx="19659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5% (dev)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995160" y="4736592"/>
            <a:ext cx="14630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A89F93"/>
                </a:solidFill>
                <a:latin typeface="Consolas"/>
              </a:rPr>
              <a:t>metrics.md §5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04088" y="5248656"/>
            <a:ext cx="7315200" cy="10972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749808" y="5266944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F5EFE6"/>
                </a:solidFill>
                <a:latin typeface="Segoe UI Semibold"/>
              </a:rPr>
              <a:t>validationDeeplink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182112" y="5266944"/>
            <a:ext cx="14630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Segoe UI"/>
              </a:rPr>
              <a:t>left null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965192" y="5266944"/>
            <a:ext cx="19659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verbatim probe + demo ✓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995160" y="5266944"/>
            <a:ext cx="14630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A89F93"/>
                </a:solidFill>
                <a:latin typeface="Consolas"/>
              </a:rPr>
              <a:t>results.jsonl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04088" y="5779008"/>
            <a:ext cx="7315200" cy="10972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749808" y="5797296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F5EFE6"/>
                </a:solidFill>
                <a:latin typeface="Segoe UI Semibold"/>
              </a:rPr>
              <a:t>Runs without API key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182112" y="5797296"/>
            <a:ext cx="14630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Segoe UI"/>
              </a:rPr>
              <a:t>no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965192" y="5797296"/>
            <a:ext cx="19659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F5EFE6"/>
                </a:solidFill>
                <a:latin typeface="Segoe UI Semibold"/>
              </a:rPr>
              <a:t>yes - deterministic + cache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6995160" y="5797296"/>
            <a:ext cx="14630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A89F93"/>
                </a:solidFill>
                <a:latin typeface="Consolas"/>
              </a:rPr>
              <a:t>TAPTRACE_OFFLINE=1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8321040" y="2103120"/>
            <a:ext cx="3300984" cy="4251960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8503920" y="221284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20">
                <a:solidFill>
                  <a:srgbClr val="A89F93"/>
                </a:solidFill>
                <a:latin typeface="Segoe UI Semibold"/>
              </a:rPr>
              <a:t>SEMANTIC CACHE · DEV SET</a:t>
            </a:r>
          </a:p>
        </p:txBody>
      </p:sp>
      <p:graphicFrame>
        <p:nvGraphicFramePr>
          <p:cNvPr id="216" name="Chart 215"/>
          <p:cNvGraphicFramePr>
            <a:graphicFrameLocks noGrp="1"/>
          </p:cNvGraphicFramePr>
          <p:nvPr/>
        </p:nvGraphicFramePr>
        <p:xfrm>
          <a:off x="8412480" y="2468880"/>
          <a:ext cx="31546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7" name="TextBox 216"/>
          <p:cNvSpPr txBox="1"/>
          <p:nvPr/>
        </p:nvSpPr>
        <p:spPr>
          <a:xfrm>
            <a:off x="8503920" y="557784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9F93"/>
                </a:solidFill>
                <a:latin typeface="Segoe UI"/>
              </a:rPr>
              <a:t>Frozen test (never tuned on): 80% hits, 77.5% correct, 6.7% false hits.</a:t>
            </a:r>
          </a:p>
        </p:txBody>
      </p:sp>
      <p:pic>
        <p:nvPicPr>
          <p:cNvPr id="3" name="icon">
            <a:extLst>
              <a:ext uri="{FF2B5EF4-FFF2-40B4-BE49-F238E27FC236}">
                <a16:creationId xmlns:a16="http://schemas.microsoft.com/office/drawing/2014/main" id="{6C4848D3-4CE9-70FA-EF5E-F1C26362AFF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6080" y="2761488"/>
            <a:ext cx="182880" cy="182880"/>
          </a:xfrm>
          <a:prstGeom prst="rect">
            <a:avLst/>
          </a:prstGeom>
        </p:spPr>
      </p:pic>
      <p:pic>
        <p:nvPicPr>
          <p:cNvPr id="5" name="icon">
            <a:extLst>
              <a:ext uri="{FF2B5EF4-FFF2-40B4-BE49-F238E27FC236}">
                <a16:creationId xmlns:a16="http://schemas.microsoft.com/office/drawing/2014/main" id="{9403191D-5207-DA9D-C96D-4D7CEDE34C0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9160" y="2761488"/>
            <a:ext cx="182880" cy="182880"/>
          </a:xfrm>
          <a:prstGeom prst="rect">
            <a:avLst/>
          </a:prstGeom>
        </p:spPr>
      </p:pic>
      <p:pic>
        <p:nvPicPr>
          <p:cNvPr id="7" name="icon">
            <a:extLst>
              <a:ext uri="{FF2B5EF4-FFF2-40B4-BE49-F238E27FC236}">
                <a16:creationId xmlns:a16="http://schemas.microsoft.com/office/drawing/2014/main" id="{BC9968B7-296C-8E58-B06A-E46F9FB54D4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6080" y="3291840"/>
            <a:ext cx="182880" cy="182880"/>
          </a:xfrm>
          <a:prstGeom prst="rect">
            <a:avLst/>
          </a:prstGeom>
        </p:spPr>
      </p:pic>
      <p:pic>
        <p:nvPicPr>
          <p:cNvPr id="9" name="icon">
            <a:extLst>
              <a:ext uri="{FF2B5EF4-FFF2-40B4-BE49-F238E27FC236}">
                <a16:creationId xmlns:a16="http://schemas.microsoft.com/office/drawing/2014/main" id="{7046AA02-63D7-B788-A86E-6CEAA4F52C2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9160" y="3291840"/>
            <a:ext cx="182880" cy="182880"/>
          </a:xfrm>
          <a:prstGeom prst="rect">
            <a:avLst/>
          </a:prstGeom>
        </p:spPr>
      </p:pic>
      <p:pic>
        <p:nvPicPr>
          <p:cNvPr id="11" name="icon">
            <a:extLst>
              <a:ext uri="{FF2B5EF4-FFF2-40B4-BE49-F238E27FC236}">
                <a16:creationId xmlns:a16="http://schemas.microsoft.com/office/drawing/2014/main" id="{4B6E05F8-0170-ED5D-C6D3-B0AC37F0824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6080" y="3822191"/>
            <a:ext cx="182880" cy="182880"/>
          </a:xfrm>
          <a:prstGeom prst="rect">
            <a:avLst/>
          </a:prstGeom>
        </p:spPr>
      </p:pic>
      <p:pic>
        <p:nvPicPr>
          <p:cNvPr id="13" name="icon">
            <a:extLst>
              <a:ext uri="{FF2B5EF4-FFF2-40B4-BE49-F238E27FC236}">
                <a16:creationId xmlns:a16="http://schemas.microsoft.com/office/drawing/2014/main" id="{A90CEC83-65B0-40E2-8884-0F32B6A53F0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9160" y="3822191"/>
            <a:ext cx="182880" cy="182880"/>
          </a:xfrm>
          <a:prstGeom prst="rect">
            <a:avLst/>
          </a:prstGeom>
        </p:spPr>
      </p:pic>
      <p:pic>
        <p:nvPicPr>
          <p:cNvPr id="15" name="icon">
            <a:extLst>
              <a:ext uri="{FF2B5EF4-FFF2-40B4-BE49-F238E27FC236}">
                <a16:creationId xmlns:a16="http://schemas.microsoft.com/office/drawing/2014/main" id="{0151355B-9C32-44EE-D28C-FA0F4627AE3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6080" y="4352544"/>
            <a:ext cx="182880" cy="182880"/>
          </a:xfrm>
          <a:prstGeom prst="rect">
            <a:avLst/>
          </a:prstGeom>
        </p:spPr>
      </p:pic>
      <p:pic>
        <p:nvPicPr>
          <p:cNvPr id="17" name="icon">
            <a:extLst>
              <a:ext uri="{FF2B5EF4-FFF2-40B4-BE49-F238E27FC236}">
                <a16:creationId xmlns:a16="http://schemas.microsoft.com/office/drawing/2014/main" id="{858D3648-1932-A0EE-D855-1A1BFE88333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9160" y="4352544"/>
            <a:ext cx="182880" cy="182880"/>
          </a:xfrm>
          <a:prstGeom prst="rect">
            <a:avLst/>
          </a:prstGeom>
        </p:spPr>
      </p:pic>
      <p:pic>
        <p:nvPicPr>
          <p:cNvPr id="19" name="icon">
            <a:extLst>
              <a:ext uri="{FF2B5EF4-FFF2-40B4-BE49-F238E27FC236}">
                <a16:creationId xmlns:a16="http://schemas.microsoft.com/office/drawing/2014/main" id="{4932AE55-EC9E-F46C-AF93-E58B3583114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6080" y="4882896"/>
            <a:ext cx="182880" cy="182880"/>
          </a:xfrm>
          <a:prstGeom prst="rect">
            <a:avLst/>
          </a:prstGeom>
        </p:spPr>
      </p:pic>
      <p:pic>
        <p:nvPicPr>
          <p:cNvPr id="21" name="icon">
            <a:extLst>
              <a:ext uri="{FF2B5EF4-FFF2-40B4-BE49-F238E27FC236}">
                <a16:creationId xmlns:a16="http://schemas.microsoft.com/office/drawing/2014/main" id="{CAAAC6BF-824D-4E08-7C36-3BDE5D6DD1E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9160" y="4882896"/>
            <a:ext cx="182880" cy="182880"/>
          </a:xfrm>
          <a:prstGeom prst="rect">
            <a:avLst/>
          </a:prstGeom>
        </p:spPr>
      </p:pic>
      <p:pic>
        <p:nvPicPr>
          <p:cNvPr id="23" name="icon">
            <a:extLst>
              <a:ext uri="{FF2B5EF4-FFF2-40B4-BE49-F238E27FC236}">
                <a16:creationId xmlns:a16="http://schemas.microsoft.com/office/drawing/2014/main" id="{28D435CA-271A-39C6-6DD1-8E2E8B3A2A3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6080" y="5413248"/>
            <a:ext cx="182880" cy="182880"/>
          </a:xfrm>
          <a:prstGeom prst="rect">
            <a:avLst/>
          </a:prstGeom>
        </p:spPr>
      </p:pic>
      <p:pic>
        <p:nvPicPr>
          <p:cNvPr id="25" name="icon">
            <a:extLst>
              <a:ext uri="{FF2B5EF4-FFF2-40B4-BE49-F238E27FC236}">
                <a16:creationId xmlns:a16="http://schemas.microsoft.com/office/drawing/2014/main" id="{8B36EEE9-4F6B-389C-5AF6-A077ABA1DCA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9160" y="5413248"/>
            <a:ext cx="182880" cy="182880"/>
          </a:xfrm>
          <a:prstGeom prst="rect">
            <a:avLst/>
          </a:prstGeom>
        </p:spPr>
      </p:pic>
      <p:pic>
        <p:nvPicPr>
          <p:cNvPr id="27" name="icon">
            <a:extLst>
              <a:ext uri="{FF2B5EF4-FFF2-40B4-BE49-F238E27FC236}">
                <a16:creationId xmlns:a16="http://schemas.microsoft.com/office/drawing/2014/main" id="{64F8587A-14F3-6812-A53E-7A8DE6278DF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6080" y="5943600"/>
            <a:ext cx="182880" cy="182880"/>
          </a:xfrm>
          <a:prstGeom prst="rect">
            <a:avLst/>
          </a:prstGeom>
        </p:spPr>
      </p:pic>
      <p:pic>
        <p:nvPicPr>
          <p:cNvPr id="29" name="icon">
            <a:extLst>
              <a:ext uri="{FF2B5EF4-FFF2-40B4-BE49-F238E27FC236}">
                <a16:creationId xmlns:a16="http://schemas.microsoft.com/office/drawing/2014/main" id="{475CA777-CD55-0A65-CB7B-6364DA983CB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9160" y="5943600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icture 154" descr="bg_sl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56" name="Oval 155"/>
          <p:cNvSpPr/>
          <p:nvPr/>
        </p:nvSpPr>
        <p:spPr>
          <a:xfrm>
            <a:off x="566928" y="310896"/>
            <a:ext cx="237744" cy="237744"/>
          </a:xfrm>
          <a:prstGeom prst="ellipse">
            <a:avLst/>
          </a:prstGeom>
          <a:noFill/>
          <a:ln w="19050">
            <a:solidFill>
              <a:srgbClr val="F2B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638251" y="382219"/>
            <a:ext cx="95097" cy="95097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896112" y="2743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5EFE6"/>
                </a:solidFill>
                <a:latin typeface="Segoe UI Semibold"/>
              </a:rPr>
              <a:t>TapTrace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048256" y="329184"/>
            <a:ext cx="10972" cy="20116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221284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spc="250">
                <a:solidFill>
                  <a:srgbClr val="A89F93"/>
                </a:solidFill>
                <a:latin typeface="Segoe UI"/>
              </a:rPr>
              <a:t>10  |  CHECKLIST - UPDATED ON PUBLIC GITHUB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223760" y="274320"/>
            <a:ext cx="439826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 spc="200">
                <a:solidFill>
                  <a:srgbClr val="A89F93"/>
                </a:solidFill>
                <a:latin typeface="Segoe UI"/>
              </a:rPr>
              <a:t>SAMSUNG PRISM  ·  GENAI HACKATHON 3.0  ·  THEME 02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66928" y="822960"/>
            <a:ext cx="81838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700" b="0" i="0">
                <a:solidFill>
                  <a:srgbClr val="F5EFE6"/>
                </a:solidFill>
                <a:latin typeface="Segoe UI Semibold"/>
              </a:rPr>
              <a:t>Everything the submission guideline asks for is in the </a:t>
            </a:r>
            <a:r>
              <a:rPr sz="2700" b="0" i="0">
                <a:solidFill>
                  <a:srgbClr val="F2B66D"/>
                </a:solidFill>
                <a:latin typeface="Segoe UI Semibold"/>
              </a:rPr>
              <a:t>tagged commit</a:t>
            </a:r>
            <a:r>
              <a:rPr sz="2700" b="0" i="0">
                <a:solidFill>
                  <a:srgbClr val="F5EFE6"/>
                </a:solidFill>
                <a:latin typeface="Segoe UI Semibold"/>
              </a:rPr>
              <a:t>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006840" y="896112"/>
            <a:ext cx="261518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D9D2C7"/>
                </a:solidFill>
                <a:latin typeface="Segoe UI"/>
              </a:rPr>
              <a:t>Release tag PRISM_GENAI_HACKATHON_Y2026 marks the judged commit.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607040" y="6473952"/>
            <a:ext cx="10149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8A8176"/>
                </a:solidFill>
                <a:latin typeface="Segoe UI"/>
              </a:rPr>
              <a:t>11 / 12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66928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spc="150">
                <a:solidFill>
                  <a:srgbClr val="8A8176"/>
                </a:solidFill>
                <a:latin typeface="Segoe UI"/>
              </a:rPr>
              <a:t>TIET  ·  TAPTRACE  ·  THEME 02 SMART GUIDED TROUBLESHOOTING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66928" y="2103120"/>
            <a:ext cx="11055096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ounded Rectangle 166"/>
          <p:cNvSpPr/>
          <p:nvPr/>
        </p:nvSpPr>
        <p:spPr>
          <a:xfrm>
            <a:off x="694944" y="219456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1298448" y="2103120"/>
            <a:ext cx="6217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5EFE6"/>
                </a:solidFill>
                <a:latin typeface="Segoe UI Semibold"/>
              </a:rPr>
              <a:t>Working prototype code - public or shared GitHub repo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040880" y="2103120"/>
            <a:ext cx="3291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Segoe UI"/>
              </a:rPr>
              <a:t>github.com/Arnav020/Tap-Trace  ·  live: taptrace-abmd.onrender.com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0561320" y="224942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0" i="0">
                <a:solidFill>
                  <a:srgbClr val="F2B66D"/>
                </a:solidFill>
                <a:latin typeface="Segoe UI Semibold"/>
              </a:rPr>
              <a:t>YES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566928" y="2807208"/>
            <a:ext cx="11055096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ounded Rectangle 172"/>
          <p:cNvSpPr/>
          <p:nvPr/>
        </p:nvSpPr>
        <p:spPr>
          <a:xfrm>
            <a:off x="694944" y="289864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1298448" y="2807208"/>
            <a:ext cx="6217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5EFE6"/>
                </a:solidFill>
                <a:latin typeface="Segoe UI Semibold"/>
              </a:rPr>
              <a:t>README with reproducible setup: Docker, compose, venv, tests, evaluation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040880" y="2807208"/>
            <a:ext cx="3291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Segoe UI"/>
              </a:rPr>
              <a:t>README.md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10561320" y="295351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0" i="0">
                <a:solidFill>
                  <a:srgbClr val="F2B66D"/>
                </a:solidFill>
                <a:latin typeface="Segoe UI Semibold"/>
              </a:rPr>
              <a:t>YES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566928" y="3511296"/>
            <a:ext cx="11055096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ounded Rectangle 178"/>
          <p:cNvSpPr/>
          <p:nvPr/>
        </p:nvSpPr>
        <p:spPr>
          <a:xfrm>
            <a:off x="694944" y="360273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298448" y="3511296"/>
            <a:ext cx="6217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5EFE6"/>
                </a:solidFill>
                <a:latin typeface="Segoe UI Semibold"/>
              </a:rPr>
              <a:t>Demo video, max 5 minutes (YouTube or Drive)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040880" y="3511296"/>
            <a:ext cx="3291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Segoe UI"/>
              </a:rPr>
              <a:t>https://youtu.be/72Otbd-1QvM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0561320" y="36576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0" i="0">
                <a:solidFill>
                  <a:srgbClr val="F2B66D"/>
                </a:solidFill>
                <a:latin typeface="Segoe UI Semibold"/>
              </a:rPr>
              <a:t>YES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66928" y="4215383"/>
            <a:ext cx="11055096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ounded Rectangle 184"/>
          <p:cNvSpPr/>
          <p:nvPr/>
        </p:nvSpPr>
        <p:spPr>
          <a:xfrm>
            <a:off x="694944" y="4306823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1298448" y="4215383"/>
            <a:ext cx="6217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5EFE6"/>
                </a:solidFill>
                <a:latin typeface="Segoe UI Semibold"/>
              </a:rPr>
              <a:t>Presentation file named CollegeName_TeamName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040880" y="4215383"/>
            <a:ext cx="3291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Segoe UI"/>
              </a:rPr>
              <a:t>submission/TIET_TapTrace.pptx + .pdf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0561320" y="436168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0" i="0">
                <a:solidFill>
                  <a:srgbClr val="F2B66D"/>
                </a:solidFill>
                <a:latin typeface="Segoe UI Semibold"/>
              </a:rPr>
              <a:t>YES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566928" y="4919472"/>
            <a:ext cx="11055096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ounded Rectangle 190"/>
          <p:cNvSpPr/>
          <p:nvPr/>
        </p:nvSpPr>
        <p:spPr>
          <a:xfrm>
            <a:off x="694944" y="5010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1298448" y="4919472"/>
            <a:ext cx="6217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5EFE6"/>
                </a:solidFill>
                <a:latin typeface="Segoe UI Semibold"/>
              </a:rPr>
              <a:t>Release tag PRISM_GENAI_HACKATHON_Y2026 on the final commit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7040880" y="4919472"/>
            <a:ext cx="3291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Segoe UI"/>
              </a:rPr>
              <a:t>everything referenced is in the tagged commit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10561320" y="506577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0" i="0">
                <a:solidFill>
                  <a:srgbClr val="F2B66D"/>
                </a:solidFill>
                <a:latin typeface="Segoe UI Semibold"/>
              </a:rPr>
              <a:t>YES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566928" y="5623560"/>
            <a:ext cx="11055096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65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ounded Rectangle 196"/>
          <p:cNvSpPr/>
          <p:nvPr/>
        </p:nvSpPr>
        <p:spPr>
          <a:xfrm>
            <a:off x="694944" y="571500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1298448" y="5623560"/>
            <a:ext cx="6217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5EFE6"/>
                </a:solidFill>
                <a:latin typeface="Segoe UI Semibold"/>
              </a:rPr>
              <a:t>results.jsonl · metrics.md · AI disclosure form · docs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040880" y="5623560"/>
            <a:ext cx="3291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A89F93"/>
                </a:solidFill>
                <a:latin typeface="Segoe UI"/>
              </a:rPr>
              <a:t>repository root · submission/ · docs/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10561320" y="576986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2B66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0" i="0">
                <a:solidFill>
                  <a:srgbClr val="F2B66D"/>
                </a:solidFill>
                <a:latin typeface="Segoe UI Semibold"/>
              </a:rPr>
              <a:t>YES</a:t>
            </a:r>
          </a:p>
        </p:txBody>
      </p:sp>
      <p:pic>
        <p:nvPicPr>
          <p:cNvPr id="3" name="icon">
            <a:extLst>
              <a:ext uri="{FF2B5EF4-FFF2-40B4-BE49-F238E27FC236}">
                <a16:creationId xmlns:a16="http://schemas.microsoft.com/office/drawing/2014/main" id="{F50EC19B-BBAB-CC84-713C-B0AEEF75C3A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893" y="2295509"/>
            <a:ext cx="218724" cy="218724"/>
          </a:xfrm>
          <a:prstGeom prst="rect">
            <a:avLst/>
          </a:prstGeom>
        </p:spPr>
      </p:pic>
      <p:pic>
        <p:nvPicPr>
          <p:cNvPr id="5" name="icon">
            <a:extLst>
              <a:ext uri="{FF2B5EF4-FFF2-40B4-BE49-F238E27FC236}">
                <a16:creationId xmlns:a16="http://schemas.microsoft.com/office/drawing/2014/main" id="{59323775-8093-507E-C5C5-25BF5C57AEC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893" y="2999597"/>
            <a:ext cx="218724" cy="218724"/>
          </a:xfrm>
          <a:prstGeom prst="rect">
            <a:avLst/>
          </a:prstGeom>
        </p:spPr>
      </p:pic>
      <p:pic>
        <p:nvPicPr>
          <p:cNvPr id="7" name="icon">
            <a:extLst>
              <a:ext uri="{FF2B5EF4-FFF2-40B4-BE49-F238E27FC236}">
                <a16:creationId xmlns:a16="http://schemas.microsoft.com/office/drawing/2014/main" id="{78D9BB03-A8E5-72D5-E235-4BACB605354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893" y="3703685"/>
            <a:ext cx="218724" cy="218724"/>
          </a:xfrm>
          <a:prstGeom prst="rect">
            <a:avLst/>
          </a:prstGeom>
        </p:spPr>
      </p:pic>
      <p:pic>
        <p:nvPicPr>
          <p:cNvPr id="9" name="icon">
            <a:extLst>
              <a:ext uri="{FF2B5EF4-FFF2-40B4-BE49-F238E27FC236}">
                <a16:creationId xmlns:a16="http://schemas.microsoft.com/office/drawing/2014/main" id="{BCC65CEA-EC94-FA15-C76E-723C9E6629D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893" y="4407773"/>
            <a:ext cx="218724" cy="218724"/>
          </a:xfrm>
          <a:prstGeom prst="rect">
            <a:avLst/>
          </a:prstGeom>
        </p:spPr>
      </p:pic>
      <p:pic>
        <p:nvPicPr>
          <p:cNvPr id="11" name="icon">
            <a:extLst>
              <a:ext uri="{FF2B5EF4-FFF2-40B4-BE49-F238E27FC236}">
                <a16:creationId xmlns:a16="http://schemas.microsoft.com/office/drawing/2014/main" id="{28041DA7-DADA-B197-5E64-7AA53880FAF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5893" y="5111861"/>
            <a:ext cx="218724" cy="218724"/>
          </a:xfrm>
          <a:prstGeom prst="rect">
            <a:avLst/>
          </a:prstGeom>
        </p:spPr>
      </p:pic>
      <p:pic>
        <p:nvPicPr>
          <p:cNvPr id="13" name="icon">
            <a:extLst>
              <a:ext uri="{FF2B5EF4-FFF2-40B4-BE49-F238E27FC236}">
                <a16:creationId xmlns:a16="http://schemas.microsoft.com/office/drawing/2014/main" id="{287422F2-9532-B8C2-E5F6-4217A37B4E8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5893" y="5815949"/>
            <a:ext cx="218724" cy="2187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61" descr="her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63" name="Oval 162"/>
          <p:cNvSpPr/>
          <p:nvPr/>
        </p:nvSpPr>
        <p:spPr>
          <a:xfrm>
            <a:off x="685800" y="566928"/>
            <a:ext cx="310896" cy="310896"/>
          </a:xfrm>
          <a:prstGeom prst="ellipse">
            <a:avLst/>
          </a:prstGeom>
          <a:noFill/>
          <a:ln w="19050">
            <a:solidFill>
              <a:srgbClr val="F2B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779068" y="660196"/>
            <a:ext cx="124358" cy="124358"/>
          </a:xfrm>
          <a:prstGeom prst="ellipse">
            <a:avLst/>
          </a:prstGeom>
          <a:solidFill>
            <a:srgbClr val="F2B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97280" y="530352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 Semibold"/>
              </a:rPr>
              <a:t>TapTrace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85800" y="155448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  <a:latin typeface="Segoe UI Semibold"/>
              </a:rPr>
              <a:t>Thank you.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85800" y="2514600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E6DDD1"/>
                </a:solidFill>
                <a:latin typeface="Segoe UI"/>
              </a:rPr>
              <a:t>Grounded steps. Exact screens. Honest answers when the knowledge does not fit.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85800" y="37033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F2B66D"/>
                </a:solidFill>
                <a:latin typeface="Segoe UI Semibold"/>
              </a:rPr>
              <a:t>100%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85800" y="427939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FC6BA"/>
                </a:solidFill>
                <a:latin typeface="Segoe UI"/>
              </a:rPr>
              <a:t>exact deeplinks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286000" y="37033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 Semibold"/>
              </a:rPr>
              <a:t>80%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286000" y="427939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FC6BA"/>
                </a:solidFill>
                <a:latin typeface="Segoe UI"/>
              </a:rPr>
              <a:t>paraphrase cache hits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886200" y="37033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 Semibold"/>
              </a:rPr>
              <a:t>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886200" y="427939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FC6BA"/>
                </a:solidFill>
                <a:latin typeface="Segoe UI"/>
              </a:rPr>
              <a:t>URL leaks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486400" y="37033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 Semibold"/>
              </a:rPr>
              <a:t>4/20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486400" y="427939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FC6BA"/>
                </a:solidFill>
                <a:latin typeface="Segoe UI"/>
              </a:rPr>
              <a:t>wrong articles refused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85800" y="5806440"/>
            <a:ext cx="10835640" cy="9144"/>
          </a:xfrm>
          <a:prstGeom prst="rect">
            <a:avLst/>
          </a:prstGeom>
          <a:solidFill>
            <a:srgbClr val="5A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685800" y="5897880"/>
            <a:ext cx="10835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20">
                <a:solidFill>
                  <a:srgbClr val="CFC6BA"/>
                </a:solidFill>
                <a:latin typeface="Segoe UI"/>
              </a:rPr>
              <a:t>ARNAV JOSHI  ·  ajoshi4_be23@thapar.edu  ·  THAPAR INSTITUTE OF ENGINEERING &amp; TECHNOLOGY  ·  github.com/Arnav020/Tap-Trace  ·  LIVE taptrace-abmd.onrender.com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85800" y="6263640"/>
            <a:ext cx="10835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8A8176"/>
                </a:solidFill>
                <a:latin typeface="Segoe UI"/>
              </a:rPr>
              <a:t>Organised by the Language AI Team and the PRISM Team, Samsung R&amp;D Institute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2445</Words>
  <Application>Microsoft Office PowerPoint</Application>
  <PresentationFormat>Widescreen</PresentationFormat>
  <Paragraphs>414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Arnav Joshi</cp:lastModifiedBy>
  <cp:revision>1</cp:revision>
  <dcterms:created xsi:type="dcterms:W3CDTF">2026-09-07T12:01:01Z</dcterms:created>
  <dcterms:modified xsi:type="dcterms:W3CDTF">2026-10-20T23:57:49Z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